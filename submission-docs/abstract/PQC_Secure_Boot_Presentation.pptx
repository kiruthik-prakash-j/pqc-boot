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DCC947-97DF-42C7-84DF-9EE01259FE3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E61002-CAD0-428E-8CE0-6B8B0EA2D0B0}" type="slidenum">
              <a:rPr lang="en-IN" smtClean="0"/>
              <a:t>‹#›</a:t>
            </a:fld>
            <a:endParaRPr lang="en-IN"/>
          </a:p>
        </p:txBody>
      </p:sp>
    </p:spTree>
    <p:extLst>
      <p:ext uri="{BB962C8B-B14F-4D97-AF65-F5344CB8AC3E}">
        <p14:creationId xmlns:p14="http://schemas.microsoft.com/office/powerpoint/2010/main" val="3854817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Estimated Time: 1 min 00 sec | Cumulative: 1:00</a:t>
            </a:r>
          </a:p>
          <a:p>
            <a:endParaRPr lang="en-US"/>
          </a:p>
          <a:p>
            <a:r>
              <a:rPr lang="en-US"/>
              <a:t>Spoken Dialogue: Welcome to my M.Tech Dissertation Outline presentation for Course ESZG628T: Dissertation...</a:t>
            </a:r>
            <a:endParaRPr lang="en-IN"/>
          </a:p>
        </p:txBody>
      </p:sp>
      <p:sp>
        <p:nvSpPr>
          <p:cNvPr id="4" name="Slide Number Placeholder 3"/>
          <p:cNvSpPr>
            <a:spLocks noGrp="1"/>
          </p:cNvSpPr>
          <p:nvPr>
            <p:ph type="sldNum" sz="quarter" idx="5"/>
          </p:nvPr>
        </p:nvSpPr>
        <p:spPr/>
        <p:txBody>
          <a:bodyPr/>
          <a:lstStyle/>
          <a:p>
            <a:fld id="{0BE61002-CAD0-428E-8CE0-6B8B0EA2D0B0}" type="slidenum">
              <a:rPr lang="en-IN" smtClean="0"/>
              <a:t>1</a:t>
            </a:fld>
            <a:endParaRPr lang="en-IN"/>
          </a:p>
        </p:txBody>
      </p:sp>
    </p:spTree>
    <p:extLst>
      <p:ext uri="{BB962C8B-B14F-4D97-AF65-F5344CB8AC3E}">
        <p14:creationId xmlns:p14="http://schemas.microsoft.com/office/powerpoint/2010/main" val="77475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Estimated Time: 1 min 15 sec | Cumulative: 2:15</a:t>
            </a:r>
          </a:p>
          <a:p>
            <a:endParaRPr lang="en-US"/>
          </a:p>
          <a:p>
            <a:r>
              <a:rPr lang="en-US"/>
              <a:t>Spoken Dialogue: Section 1 defines the Broad Area of Work...</a:t>
            </a:r>
            <a:endParaRPr lang="en-IN"/>
          </a:p>
        </p:txBody>
      </p:sp>
      <p:sp>
        <p:nvSpPr>
          <p:cNvPr id="4" name="Slide Number Placeholder 3"/>
          <p:cNvSpPr>
            <a:spLocks noGrp="1"/>
          </p:cNvSpPr>
          <p:nvPr>
            <p:ph type="sldNum" sz="quarter" idx="5"/>
          </p:nvPr>
        </p:nvSpPr>
        <p:spPr/>
        <p:txBody>
          <a:bodyPr/>
          <a:lstStyle/>
          <a:p>
            <a:fld id="{0BE61002-CAD0-428E-8CE0-6B8B0EA2D0B0}" type="slidenum">
              <a:rPr lang="en-IN" smtClean="0"/>
              <a:t>2</a:t>
            </a:fld>
            <a:endParaRPr lang="en-IN"/>
          </a:p>
        </p:txBody>
      </p:sp>
    </p:spTree>
    <p:extLst>
      <p:ext uri="{BB962C8B-B14F-4D97-AF65-F5344CB8AC3E}">
        <p14:creationId xmlns:p14="http://schemas.microsoft.com/office/powerpoint/2010/main" val="683934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Estimated Time: 1 min 30 sec | Cumulative: 3:45</a:t>
            </a:r>
          </a:p>
          <a:p>
            <a:endParaRPr lang="en-US"/>
          </a:p>
          <a:p>
            <a:r>
              <a:rPr lang="en-US"/>
              <a:t>Spoken Dialogue: Section 2 details the background and threat landscape...</a:t>
            </a:r>
            <a:endParaRPr lang="en-IN"/>
          </a:p>
        </p:txBody>
      </p:sp>
      <p:sp>
        <p:nvSpPr>
          <p:cNvPr id="4" name="Slide Number Placeholder 3"/>
          <p:cNvSpPr>
            <a:spLocks noGrp="1"/>
          </p:cNvSpPr>
          <p:nvPr>
            <p:ph type="sldNum" sz="quarter" idx="5"/>
          </p:nvPr>
        </p:nvSpPr>
        <p:spPr/>
        <p:txBody>
          <a:bodyPr/>
          <a:lstStyle/>
          <a:p>
            <a:fld id="{0BE61002-CAD0-428E-8CE0-6B8B0EA2D0B0}" type="slidenum">
              <a:rPr lang="en-IN" smtClean="0"/>
              <a:t>3</a:t>
            </a:fld>
            <a:endParaRPr lang="en-IN"/>
          </a:p>
        </p:txBody>
      </p:sp>
    </p:spTree>
    <p:extLst>
      <p:ext uri="{BB962C8B-B14F-4D97-AF65-F5344CB8AC3E}">
        <p14:creationId xmlns:p14="http://schemas.microsoft.com/office/powerpoint/2010/main" val="2752736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Estimated Time: 1 min 30 sec | Cumulative: 5:15</a:t>
            </a:r>
          </a:p>
          <a:p>
            <a:endParaRPr lang="en-US"/>
          </a:p>
          <a:p>
            <a:r>
              <a:rPr lang="en-US"/>
              <a:t>Spoken Dialogue: Continuing with Section 2, integrating post-quantum signatures...</a:t>
            </a:r>
            <a:endParaRPr lang="en-IN"/>
          </a:p>
        </p:txBody>
      </p:sp>
      <p:sp>
        <p:nvSpPr>
          <p:cNvPr id="4" name="Slide Number Placeholder 3"/>
          <p:cNvSpPr>
            <a:spLocks noGrp="1"/>
          </p:cNvSpPr>
          <p:nvPr>
            <p:ph type="sldNum" sz="quarter" idx="5"/>
          </p:nvPr>
        </p:nvSpPr>
        <p:spPr/>
        <p:txBody>
          <a:bodyPr/>
          <a:lstStyle/>
          <a:p>
            <a:fld id="{0BE61002-CAD0-428E-8CE0-6B8B0EA2D0B0}" type="slidenum">
              <a:rPr lang="en-IN" smtClean="0"/>
              <a:t>4</a:t>
            </a:fld>
            <a:endParaRPr lang="en-IN"/>
          </a:p>
        </p:txBody>
      </p:sp>
    </p:spTree>
    <p:extLst>
      <p:ext uri="{BB962C8B-B14F-4D97-AF65-F5344CB8AC3E}">
        <p14:creationId xmlns:p14="http://schemas.microsoft.com/office/powerpoint/2010/main" val="2996473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Estimated Time: 1 min 30 sec | Cumulative: 6:45</a:t>
            </a:r>
          </a:p>
          <a:p>
            <a:endParaRPr lang="en-IN"/>
          </a:p>
          <a:p>
            <a:r>
              <a:rPr lang="en-IN"/>
              <a:t>Spoken Dialogue: Section 3 articulates the core Objectives...</a:t>
            </a:r>
          </a:p>
        </p:txBody>
      </p:sp>
      <p:sp>
        <p:nvSpPr>
          <p:cNvPr id="4" name="Slide Number Placeholder 3"/>
          <p:cNvSpPr>
            <a:spLocks noGrp="1"/>
          </p:cNvSpPr>
          <p:nvPr>
            <p:ph type="sldNum" sz="quarter" idx="5"/>
          </p:nvPr>
        </p:nvSpPr>
        <p:spPr/>
        <p:txBody>
          <a:bodyPr/>
          <a:lstStyle/>
          <a:p>
            <a:fld id="{0BE61002-CAD0-428E-8CE0-6B8B0EA2D0B0}" type="slidenum">
              <a:rPr lang="en-IN" smtClean="0"/>
              <a:t>5</a:t>
            </a:fld>
            <a:endParaRPr lang="en-IN"/>
          </a:p>
        </p:txBody>
      </p:sp>
    </p:spTree>
    <p:extLst>
      <p:ext uri="{BB962C8B-B14F-4D97-AF65-F5344CB8AC3E}">
        <p14:creationId xmlns:p14="http://schemas.microsoft.com/office/powerpoint/2010/main" val="794200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Estimated Time: 1 min 15 sec | Cumulative: 8:00</a:t>
            </a:r>
          </a:p>
          <a:p>
            <a:endParaRPr lang="en-US"/>
          </a:p>
          <a:p>
            <a:r>
              <a:rPr lang="en-US"/>
              <a:t>Spoken Dialogue: Section 4 establishes the formal Scope of Work...</a:t>
            </a:r>
            <a:endParaRPr lang="en-IN"/>
          </a:p>
        </p:txBody>
      </p:sp>
      <p:sp>
        <p:nvSpPr>
          <p:cNvPr id="4" name="Slide Number Placeholder 3"/>
          <p:cNvSpPr>
            <a:spLocks noGrp="1"/>
          </p:cNvSpPr>
          <p:nvPr>
            <p:ph type="sldNum" sz="quarter" idx="5"/>
          </p:nvPr>
        </p:nvSpPr>
        <p:spPr/>
        <p:txBody>
          <a:bodyPr/>
          <a:lstStyle/>
          <a:p>
            <a:fld id="{0BE61002-CAD0-428E-8CE0-6B8B0EA2D0B0}" type="slidenum">
              <a:rPr lang="en-IN" smtClean="0"/>
              <a:t>6</a:t>
            </a:fld>
            <a:endParaRPr lang="en-IN"/>
          </a:p>
        </p:txBody>
      </p:sp>
    </p:spTree>
    <p:extLst>
      <p:ext uri="{BB962C8B-B14F-4D97-AF65-F5344CB8AC3E}">
        <p14:creationId xmlns:p14="http://schemas.microsoft.com/office/powerpoint/2010/main" val="1528009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Estimated Time: 1 min 30 sec | Cumulative: 9:30</a:t>
            </a:r>
          </a:p>
          <a:p>
            <a:endParaRPr lang="en-US"/>
          </a:p>
          <a:p>
            <a:r>
              <a:rPr lang="en-US"/>
              <a:t>Spoken Dialogue: Continuing with Section 4, Phase 2 covers Multi-Target Integration...</a:t>
            </a:r>
            <a:endParaRPr lang="en-IN"/>
          </a:p>
        </p:txBody>
      </p:sp>
      <p:sp>
        <p:nvSpPr>
          <p:cNvPr id="4" name="Slide Number Placeholder 3"/>
          <p:cNvSpPr>
            <a:spLocks noGrp="1"/>
          </p:cNvSpPr>
          <p:nvPr>
            <p:ph type="sldNum" sz="quarter" idx="5"/>
          </p:nvPr>
        </p:nvSpPr>
        <p:spPr/>
        <p:txBody>
          <a:bodyPr/>
          <a:lstStyle/>
          <a:p>
            <a:fld id="{0BE61002-CAD0-428E-8CE0-6B8B0EA2D0B0}" type="slidenum">
              <a:rPr lang="en-IN" smtClean="0"/>
              <a:t>7</a:t>
            </a:fld>
            <a:endParaRPr lang="en-IN"/>
          </a:p>
        </p:txBody>
      </p:sp>
    </p:spTree>
    <p:extLst>
      <p:ext uri="{BB962C8B-B14F-4D97-AF65-F5344CB8AC3E}">
        <p14:creationId xmlns:p14="http://schemas.microsoft.com/office/powerpoint/2010/main" val="3263596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Estimated Time: 1 min 30 sec | Cumulative: 11:00</a:t>
            </a:r>
          </a:p>
          <a:p>
            <a:endParaRPr lang="en-US"/>
          </a:p>
          <a:p>
            <a:r>
              <a:rPr lang="en-US"/>
              <a:t>Spoken Dialogue: Continuing with Phase 2, Slide 8 presents our deep dive into MCUboot...</a:t>
            </a:r>
            <a:endParaRPr lang="en-IN"/>
          </a:p>
        </p:txBody>
      </p:sp>
      <p:sp>
        <p:nvSpPr>
          <p:cNvPr id="4" name="Slide Number Placeholder 3"/>
          <p:cNvSpPr>
            <a:spLocks noGrp="1"/>
          </p:cNvSpPr>
          <p:nvPr>
            <p:ph type="sldNum" sz="quarter" idx="5"/>
          </p:nvPr>
        </p:nvSpPr>
        <p:spPr/>
        <p:txBody>
          <a:bodyPr/>
          <a:lstStyle/>
          <a:p>
            <a:fld id="{0BE61002-CAD0-428E-8CE0-6B8B0EA2D0B0}" type="slidenum">
              <a:rPr lang="en-IN" smtClean="0"/>
              <a:t>8</a:t>
            </a:fld>
            <a:endParaRPr lang="en-IN"/>
          </a:p>
        </p:txBody>
      </p:sp>
    </p:spTree>
    <p:extLst>
      <p:ext uri="{BB962C8B-B14F-4D97-AF65-F5344CB8AC3E}">
        <p14:creationId xmlns:p14="http://schemas.microsoft.com/office/powerpoint/2010/main" val="3201507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Estimated Time: 1 min 15 sec | Cumulative: 12:15</a:t>
            </a:r>
          </a:p>
          <a:p>
            <a:endParaRPr lang="en-US"/>
          </a:p>
          <a:p>
            <a:r>
              <a:rPr lang="en-US"/>
              <a:t>Spoken Dialogue: Phase 3 of the Scope covers Validation and Security Benchmarking...</a:t>
            </a:r>
            <a:endParaRPr lang="en-IN"/>
          </a:p>
        </p:txBody>
      </p:sp>
      <p:sp>
        <p:nvSpPr>
          <p:cNvPr id="4" name="Slide Number Placeholder 3"/>
          <p:cNvSpPr>
            <a:spLocks noGrp="1"/>
          </p:cNvSpPr>
          <p:nvPr>
            <p:ph type="sldNum" sz="quarter" idx="5"/>
          </p:nvPr>
        </p:nvSpPr>
        <p:spPr/>
        <p:txBody>
          <a:bodyPr/>
          <a:lstStyle/>
          <a:p>
            <a:fld id="{0BE61002-CAD0-428E-8CE0-6B8B0EA2D0B0}" type="slidenum">
              <a:rPr lang="en-IN" smtClean="0"/>
              <a:t>9</a:t>
            </a:fld>
            <a:endParaRPr lang="en-IN"/>
          </a:p>
        </p:txBody>
      </p:sp>
    </p:spTree>
    <p:extLst>
      <p:ext uri="{BB962C8B-B14F-4D97-AF65-F5344CB8AC3E}">
        <p14:creationId xmlns:p14="http://schemas.microsoft.com/office/powerpoint/2010/main" val="3508050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Estimated Time: 1 min 15 sec | Cumulative: 13:30
Spoken Dialogue:
'Section 5 outlines our official Plan of Work and milestone timeline across the second semester of academic year 2025-2026.
As shown in our enlarged chronological roadmap, the project executes across five structured phases:
Phase 1, from 25 July to 8 August: We completed the literature review across NIST FIPS 204, FIPS 205, and RFC 8554, established zero-malloc and static-SRAM constraint models under 4 KB, and formalized our Dissertation Outline.
Phase 2, from 9 August to 31 October: We execute core Design and Development, implementing the zero-malloc C99 verification library for ML-DSA-44, SPHINCS+, and LMS, integrating hooks into MCUboot, U-Boot FIT, and UEFI SecurityPkg, and extending host signing tools.
Phase 3, from 1 November to 19 November: We conduct Software Testing, launching automated Python test suites in QEMU across ARM Cortex-M4, 64-bit RISC-V, and Cortex-A57 targets, profiling stack usage in GDB, and verifying 100% tamper rejection under bit-flip fault injection.
Phase 4, from 20 November to 30 November: We submit the draft dissertation for formal evaluation by Supervisor Mr. Deepak Kumar and Additional Examiner Ms. Divyasree Chilukoti at Qualcomm.
Phase 5, from 1 December to 8 December: We incorporate final feedback, finalize the dissertation report, and complete our oral defense examination.'</a:t>
            </a:r>
            <a:endParaRPr lang="en-IN"/>
          </a:p>
        </p:txBody>
      </p:sp>
      <p:sp>
        <p:nvSpPr>
          <p:cNvPr id="4" name="Slide Number Placeholder 3"/>
          <p:cNvSpPr>
            <a:spLocks noGrp="1"/>
          </p:cNvSpPr>
          <p:nvPr>
            <p:ph type="sldNum" sz="quarter" idx="5"/>
          </p:nvPr>
        </p:nvSpPr>
        <p:spPr/>
        <p:txBody>
          <a:bodyPr/>
          <a:lstStyle/>
          <a:p>
            <a:fld id="{0BE61002-CAD0-428E-8CE0-6B8B0EA2D0B0}" type="slidenum">
              <a:rPr lang="en-IN" smtClean="0"/>
              <a:t>10</a:t>
            </a:fld>
            <a:endParaRPr lang="en-IN"/>
          </a:p>
        </p:txBody>
      </p:sp>
    </p:spTree>
    <p:extLst>
      <p:ext uri="{BB962C8B-B14F-4D97-AF65-F5344CB8AC3E}">
        <p14:creationId xmlns:p14="http://schemas.microsoft.com/office/powerpoint/2010/main" val="1616134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Estimated Time: 1 min 15 sec | Cumulative: 14:45
Spoken Dialogue:
'Section 6 establishes the authoritative literature references that ground our dissertation research.
On the left panel, we highlight the governing cryptographic standards and foundational mathematical theory:
First, NIST FIPS 204 published in August 2024, standardizing Module-Lattice Digital Signatures (ML-DSA).
Second, NIST FIPS 205, standardizing Stateless Hash-Based Digital Signatures (SLH-DSA / SPHINCS+).
Third, IETF RFC 8554 and RFC 8708 by McGrew, Curcio, Fluhrer, and Housley, establishing Leighton-Micali Signatures and their integration into Cryptographic Message Syntax.
Fourth, Peter Shorâ€™s seminal 1994 IEEE FOCS paper proving polynomial-time quantum attacks against integer factoring and discrete logarithms.
On the right panel, we cite the open-source cryptographic scheme submissions and production bootloader specifications:
Fifth, the SPHINCS+ submission specification by Bernstein, HÃ¼lsing, and co-authors.
Sixth, the official UEFI Specification Version 2.10 governing secure boot architectures.
Seventh, the MCUboot secure bootloader specification for 32-bit microcontrollers.
And eighth, the Das U-Boot Flattened Image Tree verification architecture by DENX Software Engineering.
These authoritative sources form the theoretical and architectural backbone of our zero-malloc implementation.'</a:t>
            </a:r>
          </a:p>
        </p:txBody>
      </p:sp>
      <p:sp>
        <p:nvSpPr>
          <p:cNvPr id="4" name="Slide Number Placeholder 3"/>
          <p:cNvSpPr>
            <a:spLocks noGrp="1"/>
          </p:cNvSpPr>
          <p:nvPr>
            <p:ph type="sldNum" sz="quarter" idx="5"/>
          </p:nvPr>
        </p:nvSpPr>
        <p:spPr/>
        <p:txBody>
          <a:bodyPr/>
          <a:lstStyle/>
          <a:p>
            <a:fld id="{0BE61002-CAD0-428E-8CE0-6B8B0EA2D0B0}" type="slidenum">
              <a:rPr lang="en-IN" smtClean="0"/>
              <a:t>11</a:t>
            </a:fld>
            <a:endParaRPr lang="en-IN"/>
          </a:p>
        </p:txBody>
      </p:sp>
    </p:spTree>
    <p:extLst>
      <p:ext uri="{BB962C8B-B14F-4D97-AF65-F5344CB8AC3E}">
        <p14:creationId xmlns:p14="http://schemas.microsoft.com/office/powerpoint/2010/main" val="1783595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Estimated Time: 1 min 30 sec | Cumulative: 16:15
Spoken Dialogue:
'Esteemed supervisor Mr. Deepak Kumar, additional examiner Ms. Divyasree Chilukoti, and respected faculty members of BITS Pilani:
This concludes my formal presentation of the dissertation outline for "POST-QUANTUM FIRMWARE AUTHENTICATION: DESIGN AND IMPLEMENTATION OF A QUANTUM-RESISTANT SECURE BOOT MECHANISM".
I express my deepest gratitude to my supervisor, Mr. Deepak Kumar, for his continued mentorship and technical guidance, to Ms. Divyasree Chilukoti for her constructive feedback, and to the faculty of the Work Integrated Learning Programmes Division at BITS Pilani for their academic support.
I am now eager to receive your questions, insights, and guidance to steer our development across the upcoming semester.
Thank you very much. The floor is now open for questions and discussion.'</a:t>
            </a:r>
            <a:endParaRPr lang="en-IN"/>
          </a:p>
        </p:txBody>
      </p:sp>
      <p:sp>
        <p:nvSpPr>
          <p:cNvPr id="4" name="Slide Number Placeholder 3"/>
          <p:cNvSpPr>
            <a:spLocks noGrp="1"/>
          </p:cNvSpPr>
          <p:nvPr>
            <p:ph type="sldNum" sz="quarter" idx="5"/>
          </p:nvPr>
        </p:nvSpPr>
        <p:spPr/>
        <p:txBody>
          <a:bodyPr/>
          <a:lstStyle/>
          <a:p>
            <a:fld id="{0BE61002-CAD0-428E-8CE0-6B8B0EA2D0B0}" type="slidenum">
              <a:rPr lang="en-IN" smtClean="0"/>
              <a:t>12</a:t>
            </a:fld>
            <a:endParaRPr lang="en-IN"/>
          </a:p>
        </p:txBody>
      </p:sp>
    </p:spTree>
    <p:extLst>
      <p:ext uri="{BB962C8B-B14F-4D97-AF65-F5344CB8AC3E}">
        <p14:creationId xmlns:p14="http://schemas.microsoft.com/office/powerpoint/2010/main" val="2742762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5A382-89F8-C708-2067-3D45F3FD3C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3711238-C888-A9A8-5833-C63C0F14D7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2803FC-D5B2-63B9-F1B9-75D861EC3B0D}"/>
              </a:ext>
            </a:extLst>
          </p:cNvPr>
          <p:cNvSpPr>
            <a:spLocks noGrp="1"/>
          </p:cNvSpPr>
          <p:nvPr>
            <p:ph type="dt" sz="half" idx="10"/>
          </p:nvPr>
        </p:nvSpPr>
        <p:spPr/>
        <p:txBody>
          <a:bodyPr/>
          <a:lstStyle/>
          <a:p>
            <a:fld id="{06A0FA26-B015-4F3F-B105-5AB29F6EE7D7}" type="datetimeFigureOut">
              <a:rPr lang="en-IN" smtClean="0"/>
              <a:t>08-09-2026</a:t>
            </a:fld>
            <a:endParaRPr lang="en-IN"/>
          </a:p>
        </p:txBody>
      </p:sp>
      <p:sp>
        <p:nvSpPr>
          <p:cNvPr id="5" name="Footer Placeholder 4">
            <a:extLst>
              <a:ext uri="{FF2B5EF4-FFF2-40B4-BE49-F238E27FC236}">
                <a16:creationId xmlns:a16="http://schemas.microsoft.com/office/drawing/2014/main" id="{493951D8-B3E3-AA5E-F808-010208B192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4E603B-1B5E-435D-63AB-0C2785B01C9C}"/>
              </a:ext>
            </a:extLst>
          </p:cNvPr>
          <p:cNvSpPr>
            <a:spLocks noGrp="1"/>
          </p:cNvSpPr>
          <p:nvPr>
            <p:ph type="sldNum" sz="quarter" idx="12"/>
          </p:nvPr>
        </p:nvSpPr>
        <p:spPr/>
        <p:txBody>
          <a:bodyPr/>
          <a:lstStyle/>
          <a:p>
            <a:fld id="{6735450B-2BEB-4279-A93B-84DC5E748B16}" type="slidenum">
              <a:rPr lang="en-IN" smtClean="0"/>
              <a:t>‹#›</a:t>
            </a:fld>
            <a:endParaRPr lang="en-IN"/>
          </a:p>
        </p:txBody>
      </p:sp>
    </p:spTree>
    <p:extLst>
      <p:ext uri="{BB962C8B-B14F-4D97-AF65-F5344CB8AC3E}">
        <p14:creationId xmlns:p14="http://schemas.microsoft.com/office/powerpoint/2010/main" val="36679151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595B-ED1E-2815-C66E-8EBE5A1221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2EDFAE-2514-9D97-6D1C-D4B06A4C7C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049BC7-1C78-9620-47FE-C4882790B054}"/>
              </a:ext>
            </a:extLst>
          </p:cNvPr>
          <p:cNvSpPr>
            <a:spLocks noGrp="1"/>
          </p:cNvSpPr>
          <p:nvPr>
            <p:ph type="dt" sz="half" idx="10"/>
          </p:nvPr>
        </p:nvSpPr>
        <p:spPr/>
        <p:txBody>
          <a:bodyPr/>
          <a:lstStyle/>
          <a:p>
            <a:fld id="{06A0FA26-B015-4F3F-B105-5AB29F6EE7D7}" type="datetimeFigureOut">
              <a:rPr lang="en-IN" smtClean="0"/>
              <a:t>08-09-2026</a:t>
            </a:fld>
            <a:endParaRPr lang="en-IN"/>
          </a:p>
        </p:txBody>
      </p:sp>
      <p:sp>
        <p:nvSpPr>
          <p:cNvPr id="5" name="Footer Placeholder 4">
            <a:extLst>
              <a:ext uri="{FF2B5EF4-FFF2-40B4-BE49-F238E27FC236}">
                <a16:creationId xmlns:a16="http://schemas.microsoft.com/office/drawing/2014/main" id="{816E4B2B-FBF3-07CE-CE00-6C6C8F38FF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CBD39E-8697-78C3-6112-0194B73DC7BF}"/>
              </a:ext>
            </a:extLst>
          </p:cNvPr>
          <p:cNvSpPr>
            <a:spLocks noGrp="1"/>
          </p:cNvSpPr>
          <p:nvPr>
            <p:ph type="sldNum" sz="quarter" idx="12"/>
          </p:nvPr>
        </p:nvSpPr>
        <p:spPr/>
        <p:txBody>
          <a:bodyPr/>
          <a:lstStyle/>
          <a:p>
            <a:fld id="{6735450B-2BEB-4279-A93B-84DC5E748B16}" type="slidenum">
              <a:rPr lang="en-IN" smtClean="0"/>
              <a:t>‹#›</a:t>
            </a:fld>
            <a:endParaRPr lang="en-IN"/>
          </a:p>
        </p:txBody>
      </p:sp>
    </p:spTree>
    <p:extLst>
      <p:ext uri="{BB962C8B-B14F-4D97-AF65-F5344CB8AC3E}">
        <p14:creationId xmlns:p14="http://schemas.microsoft.com/office/powerpoint/2010/main" val="2638408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28FAB-B76A-1FD9-24A9-64527CC998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1A6DB7D-DBC1-9ECE-AD57-5C759D8969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77CD20-4629-5247-69DC-609DC2F44A83}"/>
              </a:ext>
            </a:extLst>
          </p:cNvPr>
          <p:cNvSpPr>
            <a:spLocks noGrp="1"/>
          </p:cNvSpPr>
          <p:nvPr>
            <p:ph type="dt" sz="half" idx="10"/>
          </p:nvPr>
        </p:nvSpPr>
        <p:spPr/>
        <p:txBody>
          <a:bodyPr/>
          <a:lstStyle/>
          <a:p>
            <a:fld id="{06A0FA26-B015-4F3F-B105-5AB29F6EE7D7}" type="datetimeFigureOut">
              <a:rPr lang="en-IN" smtClean="0"/>
              <a:t>08-09-2026</a:t>
            </a:fld>
            <a:endParaRPr lang="en-IN"/>
          </a:p>
        </p:txBody>
      </p:sp>
      <p:sp>
        <p:nvSpPr>
          <p:cNvPr id="5" name="Footer Placeholder 4">
            <a:extLst>
              <a:ext uri="{FF2B5EF4-FFF2-40B4-BE49-F238E27FC236}">
                <a16:creationId xmlns:a16="http://schemas.microsoft.com/office/drawing/2014/main" id="{27E7DD4E-C008-CC6A-66D6-7C4756C37B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016D74-3DF2-0843-CF18-74E91FC140C9}"/>
              </a:ext>
            </a:extLst>
          </p:cNvPr>
          <p:cNvSpPr>
            <a:spLocks noGrp="1"/>
          </p:cNvSpPr>
          <p:nvPr>
            <p:ph type="sldNum" sz="quarter" idx="12"/>
          </p:nvPr>
        </p:nvSpPr>
        <p:spPr/>
        <p:txBody>
          <a:bodyPr/>
          <a:lstStyle/>
          <a:p>
            <a:fld id="{6735450B-2BEB-4279-A93B-84DC5E748B16}" type="slidenum">
              <a:rPr lang="en-IN" smtClean="0"/>
              <a:t>‹#›</a:t>
            </a:fld>
            <a:endParaRPr lang="en-IN"/>
          </a:p>
        </p:txBody>
      </p:sp>
    </p:spTree>
    <p:extLst>
      <p:ext uri="{BB962C8B-B14F-4D97-AF65-F5344CB8AC3E}">
        <p14:creationId xmlns:p14="http://schemas.microsoft.com/office/powerpoint/2010/main" val="1232073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453F4-770F-B841-BB43-6D3470C580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745E70-4B9F-F8D1-3039-80046D489C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AF764FA-BE04-152D-5282-39B34D2DCE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4DB87FF-BEAF-BAE5-628C-F5C527EA5F3D}"/>
              </a:ext>
            </a:extLst>
          </p:cNvPr>
          <p:cNvSpPr>
            <a:spLocks noGrp="1"/>
          </p:cNvSpPr>
          <p:nvPr>
            <p:ph type="dt" sz="half" idx="10"/>
          </p:nvPr>
        </p:nvSpPr>
        <p:spPr/>
        <p:txBody>
          <a:bodyPr/>
          <a:lstStyle/>
          <a:p>
            <a:fld id="{06A0FA26-B015-4F3F-B105-5AB29F6EE7D7}" type="datetimeFigureOut">
              <a:rPr lang="en-IN" smtClean="0"/>
              <a:t>08-09-2026</a:t>
            </a:fld>
            <a:endParaRPr lang="en-IN"/>
          </a:p>
        </p:txBody>
      </p:sp>
      <p:sp>
        <p:nvSpPr>
          <p:cNvPr id="6" name="Footer Placeholder 5">
            <a:extLst>
              <a:ext uri="{FF2B5EF4-FFF2-40B4-BE49-F238E27FC236}">
                <a16:creationId xmlns:a16="http://schemas.microsoft.com/office/drawing/2014/main" id="{E9C150C4-9F61-5A5C-3BD4-2C9F3CC953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E80C7F-459D-E6A7-66F8-1849987A77A6}"/>
              </a:ext>
            </a:extLst>
          </p:cNvPr>
          <p:cNvSpPr>
            <a:spLocks noGrp="1"/>
          </p:cNvSpPr>
          <p:nvPr>
            <p:ph type="sldNum" sz="quarter" idx="12"/>
          </p:nvPr>
        </p:nvSpPr>
        <p:spPr/>
        <p:txBody>
          <a:bodyPr/>
          <a:lstStyle/>
          <a:p>
            <a:fld id="{6735450B-2BEB-4279-A93B-84DC5E748B16}" type="slidenum">
              <a:rPr lang="en-IN" smtClean="0"/>
              <a:t>‹#›</a:t>
            </a:fld>
            <a:endParaRPr lang="en-IN"/>
          </a:p>
        </p:txBody>
      </p:sp>
    </p:spTree>
    <p:extLst>
      <p:ext uri="{BB962C8B-B14F-4D97-AF65-F5344CB8AC3E}">
        <p14:creationId xmlns:p14="http://schemas.microsoft.com/office/powerpoint/2010/main" val="2877345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F4B45-3942-A9D9-5675-FD5D99B3CF0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386D5D-A82C-47AD-E7B1-00A936B5E6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BF3E84-20F8-DBDE-8B61-FE9341FDAC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7B0883A-81B4-9137-944D-0FC40350CB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BAFAA2-E367-0E84-CA52-2632C0D9BA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0B7DFB-1FCC-FB9E-6D80-51183F3569E1}"/>
              </a:ext>
            </a:extLst>
          </p:cNvPr>
          <p:cNvSpPr>
            <a:spLocks noGrp="1"/>
          </p:cNvSpPr>
          <p:nvPr>
            <p:ph type="dt" sz="half" idx="10"/>
          </p:nvPr>
        </p:nvSpPr>
        <p:spPr/>
        <p:txBody>
          <a:bodyPr/>
          <a:lstStyle/>
          <a:p>
            <a:fld id="{06A0FA26-B015-4F3F-B105-5AB29F6EE7D7}" type="datetimeFigureOut">
              <a:rPr lang="en-IN" smtClean="0"/>
              <a:t>08-09-2026</a:t>
            </a:fld>
            <a:endParaRPr lang="en-IN"/>
          </a:p>
        </p:txBody>
      </p:sp>
      <p:sp>
        <p:nvSpPr>
          <p:cNvPr id="8" name="Footer Placeholder 7">
            <a:extLst>
              <a:ext uri="{FF2B5EF4-FFF2-40B4-BE49-F238E27FC236}">
                <a16:creationId xmlns:a16="http://schemas.microsoft.com/office/drawing/2014/main" id="{4FAFD9DC-D3E5-5F90-E6F6-CBD5EACDC36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BCEDBFD-9B3B-70C9-EFF6-6FBC65962176}"/>
              </a:ext>
            </a:extLst>
          </p:cNvPr>
          <p:cNvSpPr>
            <a:spLocks noGrp="1"/>
          </p:cNvSpPr>
          <p:nvPr>
            <p:ph type="sldNum" sz="quarter" idx="12"/>
          </p:nvPr>
        </p:nvSpPr>
        <p:spPr/>
        <p:txBody>
          <a:bodyPr/>
          <a:lstStyle/>
          <a:p>
            <a:fld id="{6735450B-2BEB-4279-A93B-84DC5E748B16}" type="slidenum">
              <a:rPr lang="en-IN" smtClean="0"/>
              <a:t>‹#›</a:t>
            </a:fld>
            <a:endParaRPr lang="en-IN"/>
          </a:p>
        </p:txBody>
      </p:sp>
    </p:spTree>
    <p:extLst>
      <p:ext uri="{BB962C8B-B14F-4D97-AF65-F5344CB8AC3E}">
        <p14:creationId xmlns:p14="http://schemas.microsoft.com/office/powerpoint/2010/main" val="858928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CF20D-945B-4C03-45B8-1CFA88B42D2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EAA13AE-EB81-7AE6-CAB5-BBD60BAF4FD1}"/>
              </a:ext>
            </a:extLst>
          </p:cNvPr>
          <p:cNvSpPr>
            <a:spLocks noGrp="1"/>
          </p:cNvSpPr>
          <p:nvPr>
            <p:ph type="dt" sz="half" idx="10"/>
          </p:nvPr>
        </p:nvSpPr>
        <p:spPr/>
        <p:txBody>
          <a:bodyPr/>
          <a:lstStyle/>
          <a:p>
            <a:fld id="{06A0FA26-B015-4F3F-B105-5AB29F6EE7D7}" type="datetimeFigureOut">
              <a:rPr lang="en-IN" smtClean="0"/>
              <a:t>08-09-2026</a:t>
            </a:fld>
            <a:endParaRPr lang="en-IN"/>
          </a:p>
        </p:txBody>
      </p:sp>
      <p:sp>
        <p:nvSpPr>
          <p:cNvPr id="4" name="Footer Placeholder 3">
            <a:extLst>
              <a:ext uri="{FF2B5EF4-FFF2-40B4-BE49-F238E27FC236}">
                <a16:creationId xmlns:a16="http://schemas.microsoft.com/office/drawing/2014/main" id="{F3399AD6-03AA-739E-1A59-1CA3439B5E2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63BB562-B98A-DCCD-7076-9E0936DBB05A}"/>
              </a:ext>
            </a:extLst>
          </p:cNvPr>
          <p:cNvSpPr>
            <a:spLocks noGrp="1"/>
          </p:cNvSpPr>
          <p:nvPr>
            <p:ph type="sldNum" sz="quarter" idx="12"/>
          </p:nvPr>
        </p:nvSpPr>
        <p:spPr/>
        <p:txBody>
          <a:bodyPr/>
          <a:lstStyle/>
          <a:p>
            <a:fld id="{6735450B-2BEB-4279-A93B-84DC5E748B16}" type="slidenum">
              <a:rPr lang="en-IN" smtClean="0"/>
              <a:t>‹#›</a:t>
            </a:fld>
            <a:endParaRPr lang="en-IN"/>
          </a:p>
        </p:txBody>
      </p:sp>
    </p:spTree>
    <p:extLst>
      <p:ext uri="{BB962C8B-B14F-4D97-AF65-F5344CB8AC3E}">
        <p14:creationId xmlns:p14="http://schemas.microsoft.com/office/powerpoint/2010/main" val="3899796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497C3F-A354-E759-EFDA-1743F6440D96}"/>
              </a:ext>
            </a:extLst>
          </p:cNvPr>
          <p:cNvSpPr>
            <a:spLocks noGrp="1"/>
          </p:cNvSpPr>
          <p:nvPr>
            <p:ph type="dt" sz="half" idx="10"/>
          </p:nvPr>
        </p:nvSpPr>
        <p:spPr/>
        <p:txBody>
          <a:bodyPr/>
          <a:lstStyle/>
          <a:p>
            <a:fld id="{06A0FA26-B015-4F3F-B105-5AB29F6EE7D7}" type="datetimeFigureOut">
              <a:rPr lang="en-IN" smtClean="0"/>
              <a:t>08-09-2026</a:t>
            </a:fld>
            <a:endParaRPr lang="en-IN"/>
          </a:p>
        </p:txBody>
      </p:sp>
      <p:sp>
        <p:nvSpPr>
          <p:cNvPr id="3" name="Footer Placeholder 2">
            <a:extLst>
              <a:ext uri="{FF2B5EF4-FFF2-40B4-BE49-F238E27FC236}">
                <a16:creationId xmlns:a16="http://schemas.microsoft.com/office/drawing/2014/main" id="{3F5152DD-F077-DA14-81BC-98011AC3AEE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FAF20E6-8CC9-99E3-516B-10F3B346B118}"/>
              </a:ext>
            </a:extLst>
          </p:cNvPr>
          <p:cNvSpPr>
            <a:spLocks noGrp="1"/>
          </p:cNvSpPr>
          <p:nvPr>
            <p:ph type="sldNum" sz="quarter" idx="12"/>
          </p:nvPr>
        </p:nvSpPr>
        <p:spPr/>
        <p:txBody>
          <a:bodyPr/>
          <a:lstStyle/>
          <a:p>
            <a:fld id="{6735450B-2BEB-4279-A93B-84DC5E748B16}" type="slidenum">
              <a:rPr lang="en-IN" smtClean="0"/>
              <a:t>‹#›</a:t>
            </a:fld>
            <a:endParaRPr lang="en-IN"/>
          </a:p>
        </p:txBody>
      </p:sp>
    </p:spTree>
    <p:extLst>
      <p:ext uri="{BB962C8B-B14F-4D97-AF65-F5344CB8AC3E}">
        <p14:creationId xmlns:p14="http://schemas.microsoft.com/office/powerpoint/2010/main" val="3944411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64374-84C4-459E-40B4-0D8E6F06BA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E4B2F96-BBFF-A331-6E03-47EDE7EE20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0A43A12-B756-970C-8486-DBC5A26D6A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4C460E-E169-290E-C9C1-9FF1F3DB9624}"/>
              </a:ext>
            </a:extLst>
          </p:cNvPr>
          <p:cNvSpPr>
            <a:spLocks noGrp="1"/>
          </p:cNvSpPr>
          <p:nvPr>
            <p:ph type="dt" sz="half" idx="10"/>
          </p:nvPr>
        </p:nvSpPr>
        <p:spPr/>
        <p:txBody>
          <a:bodyPr/>
          <a:lstStyle/>
          <a:p>
            <a:fld id="{06A0FA26-B015-4F3F-B105-5AB29F6EE7D7}" type="datetimeFigureOut">
              <a:rPr lang="en-IN" smtClean="0"/>
              <a:t>08-09-2026</a:t>
            </a:fld>
            <a:endParaRPr lang="en-IN"/>
          </a:p>
        </p:txBody>
      </p:sp>
      <p:sp>
        <p:nvSpPr>
          <p:cNvPr id="6" name="Footer Placeholder 5">
            <a:extLst>
              <a:ext uri="{FF2B5EF4-FFF2-40B4-BE49-F238E27FC236}">
                <a16:creationId xmlns:a16="http://schemas.microsoft.com/office/drawing/2014/main" id="{E31CC174-4C70-3B81-E1B0-D857294C72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5D68AF-75F4-804D-58A0-5533AE6001BF}"/>
              </a:ext>
            </a:extLst>
          </p:cNvPr>
          <p:cNvSpPr>
            <a:spLocks noGrp="1"/>
          </p:cNvSpPr>
          <p:nvPr>
            <p:ph type="sldNum" sz="quarter" idx="12"/>
          </p:nvPr>
        </p:nvSpPr>
        <p:spPr/>
        <p:txBody>
          <a:bodyPr/>
          <a:lstStyle/>
          <a:p>
            <a:fld id="{6735450B-2BEB-4279-A93B-84DC5E748B16}" type="slidenum">
              <a:rPr lang="en-IN" smtClean="0"/>
              <a:t>‹#›</a:t>
            </a:fld>
            <a:endParaRPr lang="en-IN"/>
          </a:p>
        </p:txBody>
      </p:sp>
    </p:spTree>
    <p:extLst>
      <p:ext uri="{BB962C8B-B14F-4D97-AF65-F5344CB8AC3E}">
        <p14:creationId xmlns:p14="http://schemas.microsoft.com/office/powerpoint/2010/main" val="2790016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DE91B-FA72-F4EC-72A4-D4D6B0C558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B99B891-E59A-8A24-2645-4A40279F62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6B963D8-050E-4374-154D-5007765D64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C58575-3741-2644-1B33-6B5E2B551760}"/>
              </a:ext>
            </a:extLst>
          </p:cNvPr>
          <p:cNvSpPr>
            <a:spLocks noGrp="1"/>
          </p:cNvSpPr>
          <p:nvPr>
            <p:ph type="dt" sz="half" idx="10"/>
          </p:nvPr>
        </p:nvSpPr>
        <p:spPr/>
        <p:txBody>
          <a:bodyPr/>
          <a:lstStyle/>
          <a:p>
            <a:fld id="{06A0FA26-B015-4F3F-B105-5AB29F6EE7D7}" type="datetimeFigureOut">
              <a:rPr lang="en-IN" smtClean="0"/>
              <a:t>08-09-2026</a:t>
            </a:fld>
            <a:endParaRPr lang="en-IN"/>
          </a:p>
        </p:txBody>
      </p:sp>
      <p:sp>
        <p:nvSpPr>
          <p:cNvPr id="6" name="Footer Placeholder 5">
            <a:extLst>
              <a:ext uri="{FF2B5EF4-FFF2-40B4-BE49-F238E27FC236}">
                <a16:creationId xmlns:a16="http://schemas.microsoft.com/office/drawing/2014/main" id="{96C7FCF9-CC09-7E40-94B6-8F7874B62A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7C5728-4C2A-2016-0CDF-A12C3AF229E2}"/>
              </a:ext>
            </a:extLst>
          </p:cNvPr>
          <p:cNvSpPr>
            <a:spLocks noGrp="1"/>
          </p:cNvSpPr>
          <p:nvPr>
            <p:ph type="sldNum" sz="quarter" idx="12"/>
          </p:nvPr>
        </p:nvSpPr>
        <p:spPr/>
        <p:txBody>
          <a:bodyPr/>
          <a:lstStyle/>
          <a:p>
            <a:fld id="{6735450B-2BEB-4279-A93B-84DC5E748B16}" type="slidenum">
              <a:rPr lang="en-IN" smtClean="0"/>
              <a:t>‹#›</a:t>
            </a:fld>
            <a:endParaRPr lang="en-IN"/>
          </a:p>
        </p:txBody>
      </p:sp>
    </p:spTree>
    <p:extLst>
      <p:ext uri="{BB962C8B-B14F-4D97-AF65-F5344CB8AC3E}">
        <p14:creationId xmlns:p14="http://schemas.microsoft.com/office/powerpoint/2010/main" val="3133340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2AE8F-4523-BA77-2B8A-1F7C263292A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B9715D-4EE0-8886-D3DC-F32E5C01CD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57D324-BC33-0A5F-FBB2-78FD995DD7CB}"/>
              </a:ext>
            </a:extLst>
          </p:cNvPr>
          <p:cNvSpPr>
            <a:spLocks noGrp="1"/>
          </p:cNvSpPr>
          <p:nvPr>
            <p:ph type="dt" sz="half" idx="10"/>
          </p:nvPr>
        </p:nvSpPr>
        <p:spPr/>
        <p:txBody>
          <a:bodyPr/>
          <a:lstStyle/>
          <a:p>
            <a:fld id="{06A0FA26-B015-4F3F-B105-5AB29F6EE7D7}" type="datetimeFigureOut">
              <a:rPr lang="en-IN" smtClean="0"/>
              <a:t>08-09-2026</a:t>
            </a:fld>
            <a:endParaRPr lang="en-IN"/>
          </a:p>
        </p:txBody>
      </p:sp>
      <p:sp>
        <p:nvSpPr>
          <p:cNvPr id="5" name="Footer Placeholder 4">
            <a:extLst>
              <a:ext uri="{FF2B5EF4-FFF2-40B4-BE49-F238E27FC236}">
                <a16:creationId xmlns:a16="http://schemas.microsoft.com/office/drawing/2014/main" id="{3B8123C1-9159-3A9F-4495-299F3A81EE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91BFD6-F387-FA34-A95A-D114C391A0DF}"/>
              </a:ext>
            </a:extLst>
          </p:cNvPr>
          <p:cNvSpPr>
            <a:spLocks noGrp="1"/>
          </p:cNvSpPr>
          <p:nvPr>
            <p:ph type="sldNum" sz="quarter" idx="12"/>
          </p:nvPr>
        </p:nvSpPr>
        <p:spPr/>
        <p:txBody>
          <a:bodyPr/>
          <a:lstStyle/>
          <a:p>
            <a:fld id="{6735450B-2BEB-4279-A93B-84DC5E748B16}" type="slidenum">
              <a:rPr lang="en-IN" smtClean="0"/>
              <a:t>‹#›</a:t>
            </a:fld>
            <a:endParaRPr lang="en-IN"/>
          </a:p>
        </p:txBody>
      </p:sp>
    </p:spTree>
    <p:extLst>
      <p:ext uri="{BB962C8B-B14F-4D97-AF65-F5344CB8AC3E}">
        <p14:creationId xmlns:p14="http://schemas.microsoft.com/office/powerpoint/2010/main" val="3621557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55595D-B56E-94C7-2506-D8EC6E0145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3472DE-F596-E05D-2E59-76B697D416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EE9E1B-FB61-30E4-5321-01D6272B520F}"/>
              </a:ext>
            </a:extLst>
          </p:cNvPr>
          <p:cNvSpPr>
            <a:spLocks noGrp="1"/>
          </p:cNvSpPr>
          <p:nvPr>
            <p:ph type="dt" sz="half" idx="10"/>
          </p:nvPr>
        </p:nvSpPr>
        <p:spPr/>
        <p:txBody>
          <a:bodyPr/>
          <a:lstStyle/>
          <a:p>
            <a:fld id="{06A0FA26-B015-4F3F-B105-5AB29F6EE7D7}" type="datetimeFigureOut">
              <a:rPr lang="en-IN" smtClean="0"/>
              <a:t>08-09-2026</a:t>
            </a:fld>
            <a:endParaRPr lang="en-IN"/>
          </a:p>
        </p:txBody>
      </p:sp>
      <p:sp>
        <p:nvSpPr>
          <p:cNvPr id="5" name="Footer Placeholder 4">
            <a:extLst>
              <a:ext uri="{FF2B5EF4-FFF2-40B4-BE49-F238E27FC236}">
                <a16:creationId xmlns:a16="http://schemas.microsoft.com/office/drawing/2014/main" id="{A05557AE-99B8-2F4D-FFEC-88C9F89B55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0A8C6B-D0C0-A550-766E-0AD6B1C0FB09}"/>
              </a:ext>
            </a:extLst>
          </p:cNvPr>
          <p:cNvSpPr>
            <a:spLocks noGrp="1"/>
          </p:cNvSpPr>
          <p:nvPr>
            <p:ph type="sldNum" sz="quarter" idx="12"/>
          </p:nvPr>
        </p:nvSpPr>
        <p:spPr/>
        <p:txBody>
          <a:bodyPr/>
          <a:lstStyle/>
          <a:p>
            <a:fld id="{6735450B-2BEB-4279-A93B-84DC5E748B16}" type="slidenum">
              <a:rPr lang="en-IN" smtClean="0"/>
              <a:t>‹#›</a:t>
            </a:fld>
            <a:endParaRPr lang="en-IN"/>
          </a:p>
        </p:txBody>
      </p:sp>
    </p:spTree>
    <p:extLst>
      <p:ext uri="{BB962C8B-B14F-4D97-AF65-F5344CB8AC3E}">
        <p14:creationId xmlns:p14="http://schemas.microsoft.com/office/powerpoint/2010/main" val="3719383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D82FE8-A500-D12F-79F1-6FAE49DFE1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7D197D-2EF0-619E-B6A3-F6BBF1781B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280F1B-57CB-A8AE-7042-9CF738726A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A0FA26-B015-4F3F-B105-5AB29F6EE7D7}" type="datetimeFigureOut">
              <a:rPr lang="en-IN" smtClean="0"/>
              <a:t>08-09-2026</a:t>
            </a:fld>
            <a:endParaRPr lang="en-IN"/>
          </a:p>
        </p:txBody>
      </p:sp>
      <p:sp>
        <p:nvSpPr>
          <p:cNvPr id="5" name="Footer Placeholder 4">
            <a:extLst>
              <a:ext uri="{FF2B5EF4-FFF2-40B4-BE49-F238E27FC236}">
                <a16:creationId xmlns:a16="http://schemas.microsoft.com/office/drawing/2014/main" id="{B68AE30A-3526-4934-7BBD-367E000A88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414FE78-F63B-DD08-2130-5E7CC81A27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35450B-2BEB-4279-A93B-84DC5E748B16}" type="slidenum">
              <a:rPr lang="en-IN" smtClean="0"/>
              <a:t>‹#›</a:t>
            </a:fld>
            <a:endParaRPr lang="en-IN"/>
          </a:p>
        </p:txBody>
      </p:sp>
    </p:spTree>
    <p:extLst>
      <p:ext uri="{BB962C8B-B14F-4D97-AF65-F5344CB8AC3E}">
        <p14:creationId xmlns:p14="http://schemas.microsoft.com/office/powerpoint/2010/main" val="2818152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951551F-E9FE-E08F-387E-203D244274DD}"/>
              </a:ext>
            </a:extLst>
          </p:cNvPr>
          <p:cNvSpPr/>
          <p:nvPr/>
        </p:nvSpPr>
        <p:spPr>
          <a:xfrm>
            <a:off x="635000" y="381000"/>
            <a:ext cx="10922000" cy="660400"/>
          </a:xfrm>
          <a:prstGeom prst="roundRect">
            <a:avLst/>
          </a:prstGeom>
          <a:solidFill>
            <a:srgbClr val="0F29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1C94498-2B3D-91A7-6BE0-4545A8BE5331}"/>
              </a:ext>
            </a:extLst>
          </p:cNvPr>
          <p:cNvSpPr txBox="1"/>
          <p:nvPr/>
        </p:nvSpPr>
        <p:spPr>
          <a:xfrm>
            <a:off x="762000" y="431800"/>
            <a:ext cx="10668000" cy="384721"/>
          </a:xfrm>
          <a:prstGeom prst="rect">
            <a:avLst/>
          </a:prstGeom>
          <a:noFill/>
        </p:spPr>
        <p:txBody>
          <a:bodyPr vert="horz" lIns="0" tIns="0" rtlCol="0">
            <a:spAutoFit/>
          </a:bodyPr>
          <a:lstStyle/>
          <a:p>
            <a:pPr algn="ctr"/>
            <a:r>
              <a:rPr lang="en-US" sz="1100" b="1">
                <a:solidFill>
                  <a:srgbClr val="93C5FD"/>
                </a:solidFill>
                <a:latin typeface="Calibri" panose="020F0502020204030204" pitchFamily="34" charset="0"/>
              </a:rPr>
              <a:t>BIRLA INSTITUTE OF TECHNOLOGY &amp; SCIENCE, PILANI</a:t>
            </a:r>
          </a:p>
          <a:p>
            <a:pPr algn="ctr"/>
            <a:r>
              <a:rPr lang="en-US" sz="1100" b="1">
                <a:solidFill>
                  <a:srgbClr val="93C5FD"/>
                </a:solidFill>
                <a:latin typeface="Calibri" panose="020F0502020204030204" pitchFamily="34" charset="0"/>
              </a:rPr>
              <a:t>WORK INTEGRATED LEARNING PROGRAMMES (WILP) DIVISION  -  COURSE NO. ESZG628T: DISSERTATION</a:t>
            </a:r>
            <a:endParaRPr lang="en-IN" sz="1100" b="1">
              <a:solidFill>
                <a:srgbClr val="93C5FD"/>
              </a:solidFill>
              <a:latin typeface="Calibri" panose="020F0502020204030204" pitchFamily="34" charset="0"/>
            </a:endParaRPr>
          </a:p>
        </p:txBody>
      </p:sp>
      <p:sp>
        <p:nvSpPr>
          <p:cNvPr id="4" name="Rectangle: Rounded Corners 3">
            <a:extLst>
              <a:ext uri="{FF2B5EF4-FFF2-40B4-BE49-F238E27FC236}">
                <a16:creationId xmlns:a16="http://schemas.microsoft.com/office/drawing/2014/main" id="{AF4F0E4D-147D-DE5F-5B6B-82B1406E1DC2}"/>
              </a:ext>
            </a:extLst>
          </p:cNvPr>
          <p:cNvSpPr/>
          <p:nvPr/>
        </p:nvSpPr>
        <p:spPr>
          <a:xfrm>
            <a:off x="635000" y="1168400"/>
            <a:ext cx="10922000" cy="177800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4E8B681-EDC6-4D23-F29D-1F07E423796A}"/>
              </a:ext>
            </a:extLst>
          </p:cNvPr>
          <p:cNvSpPr txBox="1"/>
          <p:nvPr/>
        </p:nvSpPr>
        <p:spPr>
          <a:xfrm>
            <a:off x="889000" y="1295400"/>
            <a:ext cx="10414000" cy="215444"/>
          </a:xfrm>
          <a:prstGeom prst="rect">
            <a:avLst/>
          </a:prstGeom>
          <a:noFill/>
        </p:spPr>
        <p:txBody>
          <a:bodyPr vert="horz" lIns="0" tIns="0" rtlCol="0">
            <a:spAutoFit/>
          </a:bodyPr>
          <a:lstStyle/>
          <a:p>
            <a:pPr algn="ctr"/>
            <a:r>
              <a:rPr lang="en-IN" sz="1100" b="1">
                <a:solidFill>
                  <a:srgbClr val="2563EB"/>
                </a:solidFill>
                <a:latin typeface="Calibri" panose="020F0502020204030204" pitchFamily="34" charset="0"/>
              </a:rPr>
              <a:t>DISSERTATION OUTLINE PRESENTATION</a:t>
            </a:r>
          </a:p>
        </p:txBody>
      </p:sp>
      <p:sp>
        <p:nvSpPr>
          <p:cNvPr id="6" name="TextBox 5">
            <a:extLst>
              <a:ext uri="{FF2B5EF4-FFF2-40B4-BE49-F238E27FC236}">
                <a16:creationId xmlns:a16="http://schemas.microsoft.com/office/drawing/2014/main" id="{24660D80-9C3F-5107-3B37-E108E3121E18}"/>
              </a:ext>
            </a:extLst>
          </p:cNvPr>
          <p:cNvSpPr txBox="1"/>
          <p:nvPr/>
        </p:nvSpPr>
        <p:spPr>
          <a:xfrm>
            <a:off x="889000" y="1600200"/>
            <a:ext cx="10414000" cy="723275"/>
          </a:xfrm>
          <a:prstGeom prst="rect">
            <a:avLst/>
          </a:prstGeom>
          <a:noFill/>
        </p:spPr>
        <p:txBody>
          <a:bodyPr vert="horz" wrap="square" lIns="0" tIns="0" rtlCol="0">
            <a:spAutoFit/>
          </a:bodyPr>
          <a:lstStyle/>
          <a:p>
            <a:pPr algn="ctr"/>
            <a:r>
              <a:rPr lang="en-US" sz="2200" b="1">
                <a:solidFill>
                  <a:srgbClr val="0F2942"/>
                </a:solidFill>
                <a:latin typeface="Calibri" panose="020F0502020204030204" pitchFamily="34" charset="0"/>
              </a:rPr>
              <a:t>POST-QUANTUM FIRMWARE AUTHENTICATION:</a:t>
            </a:r>
          </a:p>
          <a:p>
            <a:pPr algn="ctr"/>
            <a:r>
              <a:rPr lang="en-US" sz="2200" b="1">
                <a:solidFill>
                  <a:srgbClr val="0F2942"/>
                </a:solidFill>
                <a:latin typeface="Calibri" panose="020F0502020204030204" pitchFamily="34" charset="0"/>
              </a:rPr>
              <a:t>DESIGN AND IMPLEMENTATION OF A QUANTUM-RESISTANT SECURE BOOT MECHANISM</a:t>
            </a:r>
            <a:endParaRPr lang="en-IN" sz="2200" b="1">
              <a:solidFill>
                <a:srgbClr val="0F2942"/>
              </a:solidFill>
              <a:latin typeface="Calibri" panose="020F0502020204030204" pitchFamily="34" charset="0"/>
            </a:endParaRPr>
          </a:p>
        </p:txBody>
      </p:sp>
      <p:sp>
        <p:nvSpPr>
          <p:cNvPr id="7" name="Rectangle: Rounded Corners 6">
            <a:extLst>
              <a:ext uri="{FF2B5EF4-FFF2-40B4-BE49-F238E27FC236}">
                <a16:creationId xmlns:a16="http://schemas.microsoft.com/office/drawing/2014/main" id="{7E3E2EE4-7BFA-7BE7-E304-2FDBDC14A848}"/>
              </a:ext>
            </a:extLst>
          </p:cNvPr>
          <p:cNvSpPr/>
          <p:nvPr/>
        </p:nvSpPr>
        <p:spPr>
          <a:xfrm>
            <a:off x="635000" y="3073400"/>
            <a:ext cx="10922000" cy="146050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41FC6C6-EA1F-0B8C-CEE3-4FDB85CC4136}"/>
              </a:ext>
            </a:extLst>
          </p:cNvPr>
          <p:cNvSpPr txBox="1"/>
          <p:nvPr/>
        </p:nvSpPr>
        <p:spPr>
          <a:xfrm>
            <a:off x="889000" y="3175000"/>
            <a:ext cx="10414000" cy="784830"/>
          </a:xfrm>
          <a:prstGeom prst="rect">
            <a:avLst/>
          </a:prstGeom>
          <a:noFill/>
        </p:spPr>
        <p:txBody>
          <a:bodyPr vert="horz" lIns="0" tIns="0" rtlCol="0">
            <a:spAutoFit/>
          </a:bodyPr>
          <a:lstStyle/>
          <a:p>
            <a:pPr algn="ctr"/>
            <a:r>
              <a:rPr lang="en-IN" sz="1200">
                <a:solidFill>
                  <a:srgbClr val="1F2937"/>
                </a:solidFill>
                <a:latin typeface="Calibri" panose="020F0502020204030204" pitchFamily="34" charset="0"/>
              </a:rPr>
              <a:t>Student Name: Kiruthik Prakash J  |  BITS ID: 2024HT01586</a:t>
            </a:r>
          </a:p>
          <a:p>
            <a:pPr algn="ctr"/>
            <a:r>
              <a:rPr lang="en-IN" sz="1200">
                <a:solidFill>
                  <a:srgbClr val="1F2937"/>
                </a:solidFill>
                <a:latin typeface="Calibri" panose="020F0502020204030204" pitchFamily="34" charset="0"/>
              </a:rPr>
              <a:t>Degree Program: M.Tech in Embedded Systems  |  Research Area: Embedded Systems</a:t>
            </a:r>
          </a:p>
          <a:p>
            <a:pPr algn="ctr"/>
            <a:r>
              <a:rPr lang="en-IN" sz="1200">
                <a:solidFill>
                  <a:srgbClr val="1F2937"/>
                </a:solidFill>
                <a:latin typeface="Calibri" panose="020F0502020204030204" pitchFamily="34" charset="0"/>
              </a:rPr>
              <a:t>Employing Organization: Qualcomm India Private Limited, Hyderabad</a:t>
            </a:r>
          </a:p>
          <a:p>
            <a:pPr algn="ctr"/>
            <a:r>
              <a:rPr lang="en-IN" sz="1200">
                <a:solidFill>
                  <a:srgbClr val="1F2937"/>
                </a:solidFill>
                <a:latin typeface="Calibri" panose="020F0502020204030204" pitchFamily="34" charset="0"/>
              </a:rPr>
              <a:t>Email: 2024h01586@wilp.bits-pilani.ac.in  |  Academic Year: Second Semester 2025-2026 (August 2026)</a:t>
            </a:r>
          </a:p>
        </p:txBody>
      </p:sp>
      <p:sp>
        <p:nvSpPr>
          <p:cNvPr id="9" name="Rectangle: Rounded Corners 8">
            <a:extLst>
              <a:ext uri="{FF2B5EF4-FFF2-40B4-BE49-F238E27FC236}">
                <a16:creationId xmlns:a16="http://schemas.microsoft.com/office/drawing/2014/main" id="{BE37EA17-B2EA-30E9-1F73-104D92C3BD6B}"/>
              </a:ext>
            </a:extLst>
          </p:cNvPr>
          <p:cNvSpPr/>
          <p:nvPr/>
        </p:nvSpPr>
        <p:spPr>
          <a:xfrm>
            <a:off x="635000" y="4660900"/>
            <a:ext cx="5334000" cy="146050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F3EE4A00-B1B5-2C57-81FE-19F90E995FCA}"/>
              </a:ext>
            </a:extLst>
          </p:cNvPr>
          <p:cNvSpPr txBox="1"/>
          <p:nvPr/>
        </p:nvSpPr>
        <p:spPr>
          <a:xfrm>
            <a:off x="825500" y="4762500"/>
            <a:ext cx="4953000" cy="854080"/>
          </a:xfrm>
          <a:prstGeom prst="rect">
            <a:avLst/>
          </a:prstGeom>
          <a:noFill/>
        </p:spPr>
        <p:txBody>
          <a:bodyPr vert="horz" lIns="0" tIns="0" rtlCol="0">
            <a:spAutoFit/>
          </a:bodyPr>
          <a:lstStyle/>
          <a:p>
            <a:r>
              <a:rPr lang="en-IN" sz="1050">
                <a:solidFill>
                  <a:srgbClr val="1F2937"/>
                </a:solidFill>
                <a:latin typeface="Calibri" panose="020F0502020204030204" pitchFamily="34" charset="0"/>
              </a:rPr>
              <a:t>SUPERVISOR</a:t>
            </a:r>
          </a:p>
          <a:p>
            <a:r>
              <a:rPr lang="en-IN" sz="1050">
                <a:solidFill>
                  <a:srgbClr val="1F2937"/>
                </a:solidFill>
                <a:latin typeface="Calibri" panose="020F0502020204030204" pitchFamily="34" charset="0"/>
              </a:rPr>
              <a:t>Deepak Kumar (B.Tech ECE)</a:t>
            </a:r>
          </a:p>
          <a:p>
            <a:r>
              <a:rPr lang="en-IN" sz="1050">
                <a:solidFill>
                  <a:srgbClr val="1F2937"/>
                </a:solidFill>
                <a:latin typeface="Calibri" panose="020F0502020204030204" pitchFamily="34" charset="0"/>
              </a:rPr>
              <a:t>Senior Lead Software Engineer</a:t>
            </a:r>
          </a:p>
          <a:p>
            <a:r>
              <a:rPr lang="en-IN" sz="1050">
                <a:solidFill>
                  <a:srgbClr val="1F2937"/>
                </a:solidFill>
                <a:latin typeface="Calibri" panose="020F0502020204030204" pitchFamily="34" charset="0"/>
              </a:rPr>
              <a:t>Qualcomm India Private Limited, Hyderabad</a:t>
            </a:r>
          </a:p>
          <a:p>
            <a:r>
              <a:rPr lang="en-IN" sz="1050">
                <a:solidFill>
                  <a:srgbClr val="1F2937"/>
                </a:solidFill>
                <a:latin typeface="Calibri" panose="020F0502020204030204" pitchFamily="34" charset="0"/>
              </a:rPr>
              <a:t>Email: kudee@qti.qualcomm.com | Phone: +91 8223050025</a:t>
            </a:r>
          </a:p>
        </p:txBody>
      </p:sp>
      <p:sp>
        <p:nvSpPr>
          <p:cNvPr id="11" name="Rectangle: Rounded Corners 10">
            <a:extLst>
              <a:ext uri="{FF2B5EF4-FFF2-40B4-BE49-F238E27FC236}">
                <a16:creationId xmlns:a16="http://schemas.microsoft.com/office/drawing/2014/main" id="{E8A7CC29-9EEE-53B3-6881-CDDD1B0D602B}"/>
              </a:ext>
            </a:extLst>
          </p:cNvPr>
          <p:cNvSpPr/>
          <p:nvPr/>
        </p:nvSpPr>
        <p:spPr>
          <a:xfrm>
            <a:off x="6223000" y="4660900"/>
            <a:ext cx="5334000" cy="146050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B09A1A2E-4DF1-E66C-E7D6-831D43CC4DC9}"/>
              </a:ext>
            </a:extLst>
          </p:cNvPr>
          <p:cNvSpPr txBox="1"/>
          <p:nvPr/>
        </p:nvSpPr>
        <p:spPr>
          <a:xfrm>
            <a:off x="6413500" y="4762500"/>
            <a:ext cx="4953000" cy="854080"/>
          </a:xfrm>
          <a:prstGeom prst="rect">
            <a:avLst/>
          </a:prstGeom>
          <a:noFill/>
        </p:spPr>
        <p:txBody>
          <a:bodyPr vert="horz" lIns="0" tIns="0" rtlCol="0">
            <a:spAutoFit/>
          </a:bodyPr>
          <a:lstStyle/>
          <a:p>
            <a:r>
              <a:rPr lang="en-IN" sz="1050">
                <a:solidFill>
                  <a:srgbClr val="1F2937"/>
                </a:solidFill>
                <a:latin typeface="Calibri" panose="020F0502020204030204" pitchFamily="34" charset="0"/>
              </a:rPr>
              <a:t>ADDITIONAL EXAMINER</a:t>
            </a:r>
          </a:p>
          <a:p>
            <a:r>
              <a:rPr lang="en-IN" sz="1050">
                <a:solidFill>
                  <a:srgbClr val="1F2937"/>
                </a:solidFill>
                <a:latin typeface="Calibri" panose="020F0502020204030204" pitchFamily="34" charset="0"/>
              </a:rPr>
              <a:t>Divyasree Chilukoti (M.Tech - InfoSec)</a:t>
            </a:r>
          </a:p>
          <a:p>
            <a:r>
              <a:rPr lang="en-IN" sz="1050">
                <a:solidFill>
                  <a:srgbClr val="1F2937"/>
                </a:solidFill>
                <a:latin typeface="Calibri" panose="020F0502020204030204" pitchFamily="34" charset="0"/>
              </a:rPr>
              <a:t>Senior Engineer</a:t>
            </a:r>
          </a:p>
          <a:p>
            <a:r>
              <a:rPr lang="en-IN" sz="1050">
                <a:solidFill>
                  <a:srgbClr val="1F2937"/>
                </a:solidFill>
                <a:latin typeface="Calibri" panose="020F0502020204030204" pitchFamily="34" charset="0"/>
              </a:rPr>
              <a:t>Qualcomm India Private Limited, Hyderabad</a:t>
            </a:r>
          </a:p>
          <a:p>
            <a:r>
              <a:rPr lang="en-IN" sz="1050">
                <a:solidFill>
                  <a:srgbClr val="1F2937"/>
                </a:solidFill>
                <a:latin typeface="Calibri" panose="020F0502020204030204" pitchFamily="34" charset="0"/>
              </a:rPr>
              <a:t>Email: dchiluko@qti.qualcomm.com | Phone: +91 9398527351</a:t>
            </a:r>
          </a:p>
        </p:txBody>
      </p:sp>
      <p:sp>
        <p:nvSpPr>
          <p:cNvPr id="13" name="TextBox 12">
            <a:extLst>
              <a:ext uri="{FF2B5EF4-FFF2-40B4-BE49-F238E27FC236}">
                <a16:creationId xmlns:a16="http://schemas.microsoft.com/office/drawing/2014/main" id="{FD159681-A4F9-86CB-2A0F-B9529FDB65F6}"/>
              </a:ext>
            </a:extLst>
          </p:cNvPr>
          <p:cNvSpPr txBox="1"/>
          <p:nvPr/>
        </p:nvSpPr>
        <p:spPr>
          <a:xfrm>
            <a:off x="635000" y="6286500"/>
            <a:ext cx="10922000" cy="184666"/>
          </a:xfrm>
          <a:prstGeom prst="rect">
            <a:avLst/>
          </a:prstGeom>
          <a:noFill/>
        </p:spPr>
        <p:txBody>
          <a:bodyPr vert="horz" lIns="0" tIns="0" rtlCol="0">
            <a:spAutoFit/>
          </a:bodyPr>
          <a:lstStyle/>
          <a:p>
            <a:pPr algn="ctr"/>
            <a:r>
              <a:rPr lang="en-IN" sz="900">
                <a:solidFill>
                  <a:srgbClr val="6B7280"/>
                </a:solidFill>
                <a:latin typeface="Calibri" panose="020F0502020204030204" pitchFamily="34" charset="0"/>
              </a:rPr>
              <a:t>Birla Institute of Technology &amp; Science, Pilani (Vidya Vihar, Pilani, Rajasthan - 333031)  -  August 2026</a:t>
            </a:r>
          </a:p>
        </p:txBody>
      </p:sp>
    </p:spTree>
    <p:extLst>
      <p:ext uri="{BB962C8B-B14F-4D97-AF65-F5344CB8AC3E}">
        <p14:creationId xmlns:p14="http://schemas.microsoft.com/office/powerpoint/2010/main" val="4117789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4A4D0D8-5BB9-3706-FF56-84959AB373DA}"/>
              </a:ext>
            </a:extLst>
          </p:cNvPr>
          <p:cNvSpPr/>
          <p:nvPr/>
        </p:nvSpPr>
        <p:spPr>
          <a:xfrm>
            <a:off x="635000" y="254000"/>
            <a:ext cx="1905000" cy="228600"/>
          </a:xfrm>
          <a:prstGeom prst="roundRect">
            <a:avLst/>
          </a:prstGeom>
          <a:solidFill>
            <a:srgbClr val="EFF6FF"/>
          </a:solidFill>
          <a:ln w="1270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DA36FBC-7AB6-F867-C160-62EAD08A443E}"/>
              </a:ext>
            </a:extLst>
          </p:cNvPr>
          <p:cNvSpPr txBox="1"/>
          <p:nvPr/>
        </p:nvSpPr>
        <p:spPr>
          <a:xfrm>
            <a:off x="635000" y="254000"/>
            <a:ext cx="1905000" cy="184666"/>
          </a:xfrm>
          <a:prstGeom prst="rect">
            <a:avLst/>
          </a:prstGeom>
          <a:noFill/>
        </p:spPr>
        <p:txBody>
          <a:bodyPr vert="horz" lIns="0" tIns="0" rtlCol="0">
            <a:spAutoFit/>
          </a:bodyPr>
          <a:lstStyle/>
          <a:p>
            <a:pPr algn="ctr"/>
            <a:r>
              <a:rPr lang="en-US" sz="900" b="1">
                <a:solidFill>
                  <a:srgbClr val="2563EB"/>
                </a:solidFill>
                <a:latin typeface="Calibri" panose="020F0502020204030204" pitchFamily="34" charset="0"/>
              </a:rPr>
              <a:t>1. BROAD AREA OF WORK</a:t>
            </a:r>
            <a:endParaRPr lang="en-IN" sz="900" b="1">
              <a:solidFill>
                <a:srgbClr val="2563EB"/>
              </a:solidFill>
              <a:latin typeface="Calibri" panose="020F0502020204030204" pitchFamily="34" charset="0"/>
            </a:endParaRPr>
          </a:p>
        </p:txBody>
      </p:sp>
      <p:sp>
        <p:nvSpPr>
          <p:cNvPr id="4" name="TextBox 3">
            <a:extLst>
              <a:ext uri="{FF2B5EF4-FFF2-40B4-BE49-F238E27FC236}">
                <a16:creationId xmlns:a16="http://schemas.microsoft.com/office/drawing/2014/main" id="{64824AD9-3FF0-1DF1-83FB-5BA5378CF882}"/>
              </a:ext>
            </a:extLst>
          </p:cNvPr>
          <p:cNvSpPr txBox="1"/>
          <p:nvPr/>
        </p:nvSpPr>
        <p:spPr>
          <a:xfrm>
            <a:off x="635000" y="533400"/>
            <a:ext cx="10922000" cy="384721"/>
          </a:xfrm>
          <a:prstGeom prst="rect">
            <a:avLst/>
          </a:prstGeom>
          <a:noFill/>
        </p:spPr>
        <p:txBody>
          <a:bodyPr vert="horz" lIns="0" tIns="0" rtlCol="0">
            <a:spAutoFit/>
          </a:bodyPr>
          <a:lstStyle/>
          <a:p>
            <a:r>
              <a:rPr lang="en-US" sz="2200" b="1">
                <a:solidFill>
                  <a:srgbClr val="0F2942"/>
                </a:solidFill>
                <a:latin typeface="Calibri" panose="020F0502020204030204" pitchFamily="34" charset="0"/>
              </a:rPr>
              <a:t>Broad Area of Work: Overview &amp; Focus Areas</a:t>
            </a:r>
            <a:endParaRPr lang="en-IN" sz="2200" b="1">
              <a:solidFill>
                <a:srgbClr val="0F2942"/>
              </a:solidFill>
              <a:latin typeface="Calibri" panose="020F0502020204030204" pitchFamily="34" charset="0"/>
            </a:endParaRPr>
          </a:p>
        </p:txBody>
      </p:sp>
      <p:cxnSp>
        <p:nvCxnSpPr>
          <p:cNvPr id="5" name="Straight Connector 4">
            <a:extLst>
              <a:ext uri="{FF2B5EF4-FFF2-40B4-BE49-F238E27FC236}">
                <a16:creationId xmlns:a16="http://schemas.microsoft.com/office/drawing/2014/main" id="{794908C7-54C2-D82D-DADD-F54AFD342A26}"/>
              </a:ext>
            </a:extLst>
          </p:cNvPr>
          <p:cNvCxnSpPr/>
          <p:nvPr/>
        </p:nvCxnSpPr>
        <p:spPr>
          <a:xfrm>
            <a:off x="635000" y="1016000"/>
            <a:ext cx="10922000" cy="0"/>
          </a:xfrm>
          <a:prstGeom prst="line">
            <a:avLst/>
          </a:prstGeom>
          <a:ln w="12700">
            <a:solidFill>
              <a:srgbClr val="D1D9E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1BBF55F-207D-43F8-5D62-B026A71AC454}"/>
              </a:ext>
            </a:extLst>
          </p:cNvPr>
          <p:cNvSpPr txBox="1"/>
          <p:nvPr/>
        </p:nvSpPr>
        <p:spPr>
          <a:xfrm>
            <a:off x="635000" y="6413500"/>
            <a:ext cx="10922000" cy="184666"/>
          </a:xfrm>
          <a:prstGeom prst="rect">
            <a:avLst/>
          </a:prstGeom>
          <a:noFill/>
        </p:spPr>
        <p:txBody>
          <a:bodyPr vert="horz" lIns="0" tIns="0" rtlCol="0">
            <a:spAutoFit/>
          </a:bodyPr>
          <a:lstStyle/>
          <a:p>
            <a:r>
              <a:rPr lang="en-IN" sz="900">
                <a:solidFill>
                  <a:srgbClr val="6B7280"/>
                </a:solidFill>
                <a:latin typeface="Calibri" panose="020F0502020204030204" pitchFamily="34" charset="0"/>
              </a:rPr>
              <a:t>BITS Pilani (WILP) | ESZG628T Dissertation Outline | Kiruthik Prakash J (2024HT01586) | Qualcomm India</a:t>
            </a:r>
          </a:p>
        </p:txBody>
      </p:sp>
      <p:sp>
        <p:nvSpPr>
          <p:cNvPr id="7" name="TextBox 6">
            <a:extLst>
              <a:ext uri="{FF2B5EF4-FFF2-40B4-BE49-F238E27FC236}">
                <a16:creationId xmlns:a16="http://schemas.microsoft.com/office/drawing/2014/main" id="{7025E1E8-8917-408A-6923-6D3882067F8E}"/>
              </a:ext>
            </a:extLst>
          </p:cNvPr>
          <p:cNvSpPr txBox="1"/>
          <p:nvPr/>
        </p:nvSpPr>
        <p:spPr>
          <a:xfrm>
            <a:off x="10668000" y="6413500"/>
            <a:ext cx="889000" cy="184666"/>
          </a:xfrm>
          <a:prstGeom prst="rect">
            <a:avLst/>
          </a:prstGeom>
          <a:noFill/>
        </p:spPr>
        <p:txBody>
          <a:bodyPr vert="horz" lIns="0" tIns="0" rtlCol="0">
            <a:spAutoFit/>
          </a:bodyPr>
          <a:lstStyle/>
          <a:p>
            <a:pPr algn="r"/>
            <a:r>
              <a:rPr lang="en-IN" sz="900" b="1">
                <a:solidFill>
                  <a:srgbClr val="2563EB"/>
                </a:solidFill>
                <a:latin typeface="Calibri" panose="020F0502020204030204" pitchFamily="34" charset="0"/>
              </a:rPr>
              <a:t>Slide 2 / 12</a:t>
            </a:r>
          </a:p>
        </p:txBody>
      </p:sp>
      <p:sp>
        <p:nvSpPr>
          <p:cNvPr id="8" name="Rectangle: Rounded Corners 7">
            <a:extLst>
              <a:ext uri="{FF2B5EF4-FFF2-40B4-BE49-F238E27FC236}">
                <a16:creationId xmlns:a16="http://schemas.microsoft.com/office/drawing/2014/main" id="{BE58D064-CAD8-680C-49BD-7B0CBDC52E08}"/>
              </a:ext>
            </a:extLst>
          </p:cNvPr>
          <p:cNvSpPr/>
          <p:nvPr/>
        </p:nvSpPr>
        <p:spPr>
          <a:xfrm>
            <a:off x="481781" y="1172121"/>
            <a:ext cx="6249219" cy="4987379"/>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44CCFC86-A8DF-B181-65D8-60C93E4DA791}"/>
              </a:ext>
            </a:extLst>
          </p:cNvPr>
          <p:cNvSpPr txBox="1"/>
          <p:nvPr/>
        </p:nvSpPr>
        <p:spPr>
          <a:xfrm>
            <a:off x="863600" y="1358900"/>
            <a:ext cx="5638800" cy="215444"/>
          </a:xfrm>
          <a:prstGeom prst="rect">
            <a:avLst/>
          </a:prstGeom>
          <a:noFill/>
        </p:spPr>
        <p:txBody>
          <a:bodyPr vert="horz" lIns="0" tIns="0" rtlCol="0">
            <a:spAutoFit/>
          </a:bodyPr>
          <a:lstStyle/>
          <a:p>
            <a:r>
              <a:rPr lang="en-IN" sz="1100" b="1">
                <a:solidFill>
                  <a:srgbClr val="2563EB"/>
                </a:solidFill>
                <a:latin typeface="Calibri" panose="020F0502020204030204" pitchFamily="34" charset="0"/>
              </a:rPr>
              <a:t>RESEARCH DOMAIN &amp; KEY CONTRIBUTIONS</a:t>
            </a:r>
          </a:p>
        </p:txBody>
      </p:sp>
      <p:sp>
        <p:nvSpPr>
          <p:cNvPr id="10" name="TextBox 9">
            <a:extLst>
              <a:ext uri="{FF2B5EF4-FFF2-40B4-BE49-F238E27FC236}">
                <a16:creationId xmlns:a16="http://schemas.microsoft.com/office/drawing/2014/main" id="{D87CB742-276B-A6D0-EB12-5256200CAE40}"/>
              </a:ext>
            </a:extLst>
          </p:cNvPr>
          <p:cNvSpPr txBox="1"/>
          <p:nvPr/>
        </p:nvSpPr>
        <p:spPr>
          <a:xfrm>
            <a:off x="863600" y="1714500"/>
            <a:ext cx="5638800" cy="4355038"/>
          </a:xfrm>
          <a:prstGeom prst="rect">
            <a:avLst/>
          </a:prstGeom>
          <a:noFill/>
        </p:spPr>
        <p:txBody>
          <a:bodyPr vert="horz" wrap="square" lIns="0" tIns="0" rtlCol="0">
            <a:spAutoFit/>
          </a:bodyPr>
          <a:lstStyle/>
          <a:p>
            <a:r>
              <a:rPr lang="en-IN" sz="2000">
                <a:solidFill>
                  <a:srgbClr val="1F2937"/>
                </a:solidFill>
                <a:latin typeface="Calibri" panose="020F0502020204030204" pitchFamily="34" charset="0"/>
              </a:rPr>
              <a:t>-  Exploring post-quantum cryptography in embedded firmware security.</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Developing quantum-resistant secure boot mechanisms for microcontrollers.</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Establishing tamper-evident chain of trust using PQC.</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Executing zero-malloc cryptographic validations within static SRAM.</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Seamlessly integrating PQC into real-world bootloaders.</a:t>
            </a:r>
          </a:p>
        </p:txBody>
      </p:sp>
      <p:sp>
        <p:nvSpPr>
          <p:cNvPr id="11" name="Rectangle: Rounded Corners 10">
            <a:extLst>
              <a:ext uri="{FF2B5EF4-FFF2-40B4-BE49-F238E27FC236}">
                <a16:creationId xmlns:a16="http://schemas.microsoft.com/office/drawing/2014/main" id="{42CD687E-4A5B-D646-1C4A-59B9BB564ADE}"/>
              </a:ext>
            </a:extLst>
          </p:cNvPr>
          <p:cNvSpPr/>
          <p:nvPr/>
        </p:nvSpPr>
        <p:spPr>
          <a:xfrm>
            <a:off x="6813755" y="1172121"/>
            <a:ext cx="4743245" cy="4987379"/>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5490ECA-95F6-EF6C-8CF1-04A38A7DDA15}"/>
              </a:ext>
            </a:extLst>
          </p:cNvPr>
          <p:cNvSpPr txBox="1"/>
          <p:nvPr/>
        </p:nvSpPr>
        <p:spPr>
          <a:xfrm>
            <a:off x="7112000" y="1358900"/>
            <a:ext cx="4254500" cy="215444"/>
          </a:xfrm>
          <a:prstGeom prst="rect">
            <a:avLst/>
          </a:prstGeom>
          <a:noFill/>
        </p:spPr>
        <p:txBody>
          <a:bodyPr vert="horz" lIns="0" tIns="0" rtlCol="0">
            <a:spAutoFit/>
          </a:bodyPr>
          <a:lstStyle/>
          <a:p>
            <a:r>
              <a:rPr lang="en-IN" sz="1100" b="1">
                <a:solidFill>
                  <a:srgbClr val="2563EB"/>
                </a:solidFill>
                <a:latin typeface="Calibri" panose="020F0502020204030204" pitchFamily="34" charset="0"/>
              </a:rPr>
              <a:t>HETEROGENEOUS TARGET SYSTEM TAXONOMY</a:t>
            </a:r>
          </a:p>
        </p:txBody>
      </p:sp>
      <p:sp>
        <p:nvSpPr>
          <p:cNvPr id="13" name="Rectangle: Rounded Corners 12">
            <a:extLst>
              <a:ext uri="{FF2B5EF4-FFF2-40B4-BE49-F238E27FC236}">
                <a16:creationId xmlns:a16="http://schemas.microsoft.com/office/drawing/2014/main" id="{D493042C-13CE-5E08-B8AB-14982D9BCE58}"/>
              </a:ext>
            </a:extLst>
          </p:cNvPr>
          <p:cNvSpPr/>
          <p:nvPr/>
        </p:nvSpPr>
        <p:spPr>
          <a:xfrm>
            <a:off x="7048500" y="1676400"/>
            <a:ext cx="4381500" cy="990600"/>
          </a:xfrm>
          <a:prstGeom prst="roundRect">
            <a:avLst/>
          </a:prstGeom>
          <a:solidFill>
            <a:srgbClr val="FFFFFF"/>
          </a:solidFill>
          <a:ln w="1270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568F2A0E-25AD-3698-49E2-392A6E1268A5}"/>
              </a:ext>
            </a:extLst>
          </p:cNvPr>
          <p:cNvSpPr txBox="1"/>
          <p:nvPr/>
        </p:nvSpPr>
        <p:spPr>
          <a:xfrm>
            <a:off x="7175500" y="1727200"/>
            <a:ext cx="2476500" cy="215444"/>
          </a:xfrm>
          <a:prstGeom prst="rect">
            <a:avLst/>
          </a:prstGeom>
          <a:noFill/>
        </p:spPr>
        <p:txBody>
          <a:bodyPr vert="horz" lIns="0" tIns="0" rtlCol="0">
            <a:spAutoFit/>
          </a:bodyPr>
          <a:lstStyle/>
          <a:p>
            <a:r>
              <a:rPr lang="en-IN" sz="1100" b="1">
                <a:solidFill>
                  <a:srgbClr val="0F2942"/>
                </a:solidFill>
                <a:latin typeface="Calibri" panose="020F0502020204030204" pitchFamily="34" charset="0"/>
              </a:rPr>
              <a:t>Tier 1: IoT &amp; Microcontrollers</a:t>
            </a:r>
          </a:p>
        </p:txBody>
      </p:sp>
      <p:sp>
        <p:nvSpPr>
          <p:cNvPr id="15" name="Rectangle: Rounded Corners 14">
            <a:extLst>
              <a:ext uri="{FF2B5EF4-FFF2-40B4-BE49-F238E27FC236}">
                <a16:creationId xmlns:a16="http://schemas.microsoft.com/office/drawing/2014/main" id="{BE648738-34CD-753F-918D-D3A976D7DF4E}"/>
              </a:ext>
            </a:extLst>
          </p:cNvPr>
          <p:cNvSpPr/>
          <p:nvPr/>
        </p:nvSpPr>
        <p:spPr>
          <a:xfrm>
            <a:off x="9626600" y="1727200"/>
            <a:ext cx="1701800" cy="228600"/>
          </a:xfrm>
          <a:prstGeom prst="roundRect">
            <a:avLst/>
          </a:prstGeom>
          <a:solidFill>
            <a:srgbClr val="DCFC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4CA0D8DE-3CBA-5DAD-5555-E2A00EFB90FA}"/>
              </a:ext>
            </a:extLst>
          </p:cNvPr>
          <p:cNvSpPr txBox="1"/>
          <p:nvPr/>
        </p:nvSpPr>
        <p:spPr>
          <a:xfrm>
            <a:off x="9626600" y="1727200"/>
            <a:ext cx="1701800" cy="169277"/>
          </a:xfrm>
          <a:prstGeom prst="rect">
            <a:avLst/>
          </a:prstGeom>
          <a:noFill/>
        </p:spPr>
        <p:txBody>
          <a:bodyPr vert="horz" lIns="0" tIns="0" rtlCol="0">
            <a:spAutoFit/>
          </a:bodyPr>
          <a:lstStyle/>
          <a:p>
            <a:pPr algn="ctr"/>
            <a:r>
              <a:rPr lang="en-IN" sz="800" b="1">
                <a:solidFill>
                  <a:srgbClr val="166534"/>
                </a:solidFill>
                <a:latin typeface="Calibri" panose="020F0502020204030204" pitchFamily="34" charset="0"/>
              </a:rPr>
              <a:t>PRIMARY MCU TARGET</a:t>
            </a:r>
          </a:p>
        </p:txBody>
      </p:sp>
      <p:sp>
        <p:nvSpPr>
          <p:cNvPr id="17" name="TextBox 16">
            <a:extLst>
              <a:ext uri="{FF2B5EF4-FFF2-40B4-BE49-F238E27FC236}">
                <a16:creationId xmlns:a16="http://schemas.microsoft.com/office/drawing/2014/main" id="{27E2DD70-B32B-C089-0B37-F7C995E6BB76}"/>
              </a:ext>
            </a:extLst>
          </p:cNvPr>
          <p:cNvSpPr txBox="1"/>
          <p:nvPr/>
        </p:nvSpPr>
        <p:spPr>
          <a:xfrm>
            <a:off x="7175500" y="1981200"/>
            <a:ext cx="4127500" cy="461665"/>
          </a:xfrm>
          <a:prstGeom prst="rect">
            <a:avLst/>
          </a:prstGeom>
          <a:noFill/>
        </p:spPr>
        <p:txBody>
          <a:bodyPr vert="horz" wrap="square" lIns="0" tIns="0" rtlCol="0">
            <a:spAutoFit/>
          </a:bodyPr>
          <a:lstStyle/>
          <a:p>
            <a:r>
              <a:rPr lang="en-IN" sz="900">
                <a:solidFill>
                  <a:srgbClr val="1F2937"/>
                </a:solidFill>
                <a:latin typeface="Calibri" panose="020F0502020204030204" pitchFamily="34" charset="0"/>
              </a:rPr>
              <a:t>Target Bootloader: MCUboot (Zephyr / FreeRTOS)</a:t>
            </a:r>
          </a:p>
          <a:p>
            <a:r>
              <a:rPr lang="en-IN" sz="900">
                <a:solidFill>
                  <a:srgbClr val="1F2937"/>
                </a:solidFill>
                <a:latin typeface="Calibri" panose="020F0502020204030204" pitchFamily="34" charset="0"/>
              </a:rPr>
              <a:t>Hardware Target: ARM Cortex-M4 (32-bit Bare-Metal)</a:t>
            </a:r>
          </a:p>
          <a:p>
            <a:r>
              <a:rPr lang="en-IN" sz="900">
                <a:solidFill>
                  <a:srgbClr val="1F2937"/>
                </a:solidFill>
                <a:latin typeface="Calibri" panose="020F0502020204030204" pitchFamily="34" charset="0"/>
              </a:rPr>
              <a:t>Memory Ceiling: Strict Zero-Malloc, SRAM &lt; 4 KB</a:t>
            </a:r>
          </a:p>
        </p:txBody>
      </p:sp>
      <p:sp>
        <p:nvSpPr>
          <p:cNvPr id="18" name="Rectangle: Rounded Corners 17">
            <a:extLst>
              <a:ext uri="{FF2B5EF4-FFF2-40B4-BE49-F238E27FC236}">
                <a16:creationId xmlns:a16="http://schemas.microsoft.com/office/drawing/2014/main" id="{B36E9525-ED7B-B308-EF24-B9C19D93A5C9}"/>
              </a:ext>
            </a:extLst>
          </p:cNvPr>
          <p:cNvSpPr/>
          <p:nvPr/>
        </p:nvSpPr>
        <p:spPr>
          <a:xfrm>
            <a:off x="7048500" y="2768600"/>
            <a:ext cx="4381500" cy="990600"/>
          </a:xfrm>
          <a:prstGeom prst="roundRect">
            <a:avLst/>
          </a:prstGeom>
          <a:solidFill>
            <a:srgbClr val="FFFFFF"/>
          </a:solidFill>
          <a:ln w="1270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5C291335-D47E-A042-0698-05D2E944766E}"/>
              </a:ext>
            </a:extLst>
          </p:cNvPr>
          <p:cNvSpPr txBox="1"/>
          <p:nvPr/>
        </p:nvSpPr>
        <p:spPr>
          <a:xfrm>
            <a:off x="7175500" y="2819400"/>
            <a:ext cx="2476500" cy="215444"/>
          </a:xfrm>
          <a:prstGeom prst="rect">
            <a:avLst/>
          </a:prstGeom>
          <a:noFill/>
        </p:spPr>
        <p:txBody>
          <a:bodyPr vert="horz" lIns="0" tIns="0" rtlCol="0">
            <a:spAutoFit/>
          </a:bodyPr>
          <a:lstStyle/>
          <a:p>
            <a:r>
              <a:rPr lang="en-US" sz="1100" b="1">
                <a:solidFill>
                  <a:srgbClr val="0F2942"/>
                </a:solidFill>
                <a:latin typeface="Calibri" panose="020F0502020204030204" pitchFamily="34" charset="0"/>
              </a:rPr>
              <a:t>Tier 2: Embedded Linux Gateways</a:t>
            </a:r>
            <a:endParaRPr lang="en-IN" sz="1100" b="1">
              <a:solidFill>
                <a:srgbClr val="0F2942"/>
              </a:solidFill>
              <a:latin typeface="Calibri" panose="020F0502020204030204" pitchFamily="34" charset="0"/>
            </a:endParaRPr>
          </a:p>
        </p:txBody>
      </p:sp>
      <p:sp>
        <p:nvSpPr>
          <p:cNvPr id="20" name="Rectangle: Rounded Corners 19">
            <a:extLst>
              <a:ext uri="{FF2B5EF4-FFF2-40B4-BE49-F238E27FC236}">
                <a16:creationId xmlns:a16="http://schemas.microsoft.com/office/drawing/2014/main" id="{FCC202F3-8C55-0378-5DE2-EF217AAD3A97}"/>
              </a:ext>
            </a:extLst>
          </p:cNvPr>
          <p:cNvSpPr/>
          <p:nvPr/>
        </p:nvSpPr>
        <p:spPr>
          <a:xfrm>
            <a:off x="9626600" y="2819400"/>
            <a:ext cx="1701800" cy="228600"/>
          </a:xfrm>
          <a:prstGeom prst="roundRect">
            <a:avLst/>
          </a:prstGeom>
          <a:solidFill>
            <a:srgbClr val="E0F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C49FA846-4D89-B4F9-DB41-DC539B25C7D4}"/>
              </a:ext>
            </a:extLst>
          </p:cNvPr>
          <p:cNvSpPr txBox="1"/>
          <p:nvPr/>
        </p:nvSpPr>
        <p:spPr>
          <a:xfrm>
            <a:off x="9626600" y="2819400"/>
            <a:ext cx="1701800" cy="169277"/>
          </a:xfrm>
          <a:prstGeom prst="rect">
            <a:avLst/>
          </a:prstGeom>
          <a:noFill/>
        </p:spPr>
        <p:txBody>
          <a:bodyPr vert="horz" lIns="0" tIns="0" rtlCol="0">
            <a:spAutoFit/>
          </a:bodyPr>
          <a:lstStyle/>
          <a:p>
            <a:pPr algn="ctr"/>
            <a:r>
              <a:rPr lang="en-IN" sz="800" b="1">
                <a:solidFill>
                  <a:srgbClr val="0369A1"/>
                </a:solidFill>
                <a:latin typeface="Calibri" panose="020F0502020204030204" pitchFamily="34" charset="0"/>
              </a:rPr>
              <a:t>SECONDARY TARGET</a:t>
            </a:r>
          </a:p>
        </p:txBody>
      </p:sp>
      <p:sp>
        <p:nvSpPr>
          <p:cNvPr id="22" name="TextBox 21">
            <a:extLst>
              <a:ext uri="{FF2B5EF4-FFF2-40B4-BE49-F238E27FC236}">
                <a16:creationId xmlns:a16="http://schemas.microsoft.com/office/drawing/2014/main" id="{84813B72-DE5E-1598-3EB2-B359E02A7334}"/>
              </a:ext>
            </a:extLst>
          </p:cNvPr>
          <p:cNvSpPr txBox="1"/>
          <p:nvPr/>
        </p:nvSpPr>
        <p:spPr>
          <a:xfrm>
            <a:off x="7175500" y="3073400"/>
            <a:ext cx="4127500" cy="461665"/>
          </a:xfrm>
          <a:prstGeom prst="rect">
            <a:avLst/>
          </a:prstGeom>
          <a:noFill/>
        </p:spPr>
        <p:txBody>
          <a:bodyPr vert="horz" wrap="square" lIns="0" tIns="0" rtlCol="0">
            <a:spAutoFit/>
          </a:bodyPr>
          <a:lstStyle/>
          <a:p>
            <a:r>
              <a:rPr lang="en-IN" sz="900">
                <a:solidFill>
                  <a:srgbClr val="1F2937"/>
                </a:solidFill>
                <a:latin typeface="Calibri" panose="020F0502020204030204" pitchFamily="34" charset="0"/>
              </a:rPr>
              <a:t>Target Bootloader: Das U-Boot (FIT Container Image)</a:t>
            </a:r>
          </a:p>
          <a:p>
            <a:r>
              <a:rPr lang="en-IN" sz="900">
                <a:solidFill>
                  <a:srgbClr val="1F2937"/>
                </a:solidFill>
                <a:latin typeface="Calibri" panose="020F0502020204030204" pitchFamily="34" charset="0"/>
              </a:rPr>
              <a:t>Hardware Target: 64-bit RISC-V (QEMU virt)</a:t>
            </a:r>
          </a:p>
          <a:p>
            <a:r>
              <a:rPr lang="en-IN" sz="900">
                <a:solidFill>
                  <a:srgbClr val="1F2937"/>
                </a:solidFill>
                <a:latin typeface="Calibri" panose="020F0502020204030204" pitchFamily="34" charset="0"/>
              </a:rPr>
              <a:t>Memory Ceiling: Static SRAM Buffers, Zero Heap</a:t>
            </a:r>
          </a:p>
        </p:txBody>
      </p:sp>
      <p:sp>
        <p:nvSpPr>
          <p:cNvPr id="23" name="Rectangle: Rounded Corners 22">
            <a:extLst>
              <a:ext uri="{FF2B5EF4-FFF2-40B4-BE49-F238E27FC236}">
                <a16:creationId xmlns:a16="http://schemas.microsoft.com/office/drawing/2014/main" id="{D0A6B429-00FC-F033-5720-7C62014284B7}"/>
              </a:ext>
            </a:extLst>
          </p:cNvPr>
          <p:cNvSpPr/>
          <p:nvPr/>
        </p:nvSpPr>
        <p:spPr>
          <a:xfrm>
            <a:off x="7048500" y="3860800"/>
            <a:ext cx="4381500" cy="990600"/>
          </a:xfrm>
          <a:prstGeom prst="roundRect">
            <a:avLst/>
          </a:prstGeom>
          <a:solidFill>
            <a:srgbClr val="FFFFFF"/>
          </a:solidFill>
          <a:ln w="1270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BA0029C6-76C1-61C9-2D00-379A59ACA141}"/>
              </a:ext>
            </a:extLst>
          </p:cNvPr>
          <p:cNvSpPr txBox="1"/>
          <p:nvPr/>
        </p:nvSpPr>
        <p:spPr>
          <a:xfrm>
            <a:off x="7175500" y="3911600"/>
            <a:ext cx="2476500" cy="215444"/>
          </a:xfrm>
          <a:prstGeom prst="rect">
            <a:avLst/>
          </a:prstGeom>
          <a:noFill/>
        </p:spPr>
        <p:txBody>
          <a:bodyPr vert="horz" lIns="0" tIns="0" rtlCol="0">
            <a:spAutoFit/>
          </a:bodyPr>
          <a:lstStyle/>
          <a:p>
            <a:r>
              <a:rPr lang="en-IN" sz="1100" b="1">
                <a:solidFill>
                  <a:srgbClr val="0F2942"/>
                </a:solidFill>
                <a:latin typeface="Calibri" panose="020F0502020204030204" pitchFamily="34" charset="0"/>
              </a:rPr>
              <a:t>Tier 3: Enterprise &amp; Edge Servers</a:t>
            </a:r>
          </a:p>
        </p:txBody>
      </p:sp>
      <p:sp>
        <p:nvSpPr>
          <p:cNvPr id="25" name="Rectangle: Rounded Corners 24">
            <a:extLst>
              <a:ext uri="{FF2B5EF4-FFF2-40B4-BE49-F238E27FC236}">
                <a16:creationId xmlns:a16="http://schemas.microsoft.com/office/drawing/2014/main" id="{F5D06F9D-2002-988F-7AC1-E0DE1B07040D}"/>
              </a:ext>
            </a:extLst>
          </p:cNvPr>
          <p:cNvSpPr/>
          <p:nvPr/>
        </p:nvSpPr>
        <p:spPr>
          <a:xfrm>
            <a:off x="9626600" y="3911600"/>
            <a:ext cx="1701800" cy="228600"/>
          </a:xfrm>
          <a:prstGeom prst="roundRect">
            <a:avLst/>
          </a:prstGeom>
          <a:solidFill>
            <a:srgbClr val="E0F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84EA0BE0-5BC0-F7E9-0EA9-DE32120E7E4E}"/>
              </a:ext>
            </a:extLst>
          </p:cNvPr>
          <p:cNvSpPr txBox="1"/>
          <p:nvPr/>
        </p:nvSpPr>
        <p:spPr>
          <a:xfrm>
            <a:off x="9626600" y="3911600"/>
            <a:ext cx="1701800" cy="169277"/>
          </a:xfrm>
          <a:prstGeom prst="rect">
            <a:avLst/>
          </a:prstGeom>
          <a:noFill/>
        </p:spPr>
        <p:txBody>
          <a:bodyPr vert="horz" lIns="0" tIns="0" rtlCol="0">
            <a:spAutoFit/>
          </a:bodyPr>
          <a:lstStyle/>
          <a:p>
            <a:pPr algn="ctr"/>
            <a:r>
              <a:rPr lang="en-IN" sz="800" b="1">
                <a:solidFill>
                  <a:srgbClr val="0369A1"/>
                </a:solidFill>
                <a:latin typeface="Calibri" panose="020F0502020204030204" pitchFamily="34" charset="0"/>
              </a:rPr>
              <a:t>ENTERPRISE TARGET</a:t>
            </a:r>
          </a:p>
        </p:txBody>
      </p:sp>
      <p:sp>
        <p:nvSpPr>
          <p:cNvPr id="27" name="TextBox 26">
            <a:extLst>
              <a:ext uri="{FF2B5EF4-FFF2-40B4-BE49-F238E27FC236}">
                <a16:creationId xmlns:a16="http://schemas.microsoft.com/office/drawing/2014/main" id="{FC43AD98-551B-71BD-3CD4-8D99E1C273FE}"/>
              </a:ext>
            </a:extLst>
          </p:cNvPr>
          <p:cNvSpPr txBox="1"/>
          <p:nvPr/>
        </p:nvSpPr>
        <p:spPr>
          <a:xfrm>
            <a:off x="7175500" y="4165600"/>
            <a:ext cx="4127500" cy="461665"/>
          </a:xfrm>
          <a:prstGeom prst="rect">
            <a:avLst/>
          </a:prstGeom>
          <a:noFill/>
        </p:spPr>
        <p:txBody>
          <a:bodyPr vert="horz" wrap="square" lIns="0" tIns="0" rtlCol="0">
            <a:spAutoFit/>
          </a:bodyPr>
          <a:lstStyle/>
          <a:p>
            <a:r>
              <a:rPr lang="en-IN" sz="900">
                <a:solidFill>
                  <a:srgbClr val="1F2937"/>
                </a:solidFill>
                <a:latin typeface="Calibri" panose="020F0502020204030204" pitchFamily="34" charset="0"/>
              </a:rPr>
              <a:t>Target Bootloader: EDKII / UEFI (SecurityPkg)</a:t>
            </a:r>
          </a:p>
          <a:p>
            <a:r>
              <a:rPr lang="en-IN" sz="900">
                <a:solidFill>
                  <a:srgbClr val="1F2937"/>
                </a:solidFill>
                <a:latin typeface="Calibri" panose="020F0502020204030204" pitchFamily="34" charset="0"/>
              </a:rPr>
              <a:t>Hardware Target: Multi-Core ARM Cortex-A57</a:t>
            </a:r>
          </a:p>
          <a:p>
            <a:r>
              <a:rPr lang="en-IN" sz="900">
                <a:solidFill>
                  <a:srgbClr val="1F2937"/>
                </a:solidFill>
                <a:latin typeface="Calibri" panose="020F0502020204030204" pitchFamily="34" charset="0"/>
              </a:rPr>
              <a:t>Memory Ceiling: Pre-EFI Initialization (PEI) Stage</a:t>
            </a:r>
          </a:p>
        </p:txBody>
      </p:sp>
      <p:sp>
        <p:nvSpPr>
          <p:cNvPr id="28" name="Rectangle: Rounded Corners 27">
            <a:extLst>
              <a:ext uri="{FF2B5EF4-FFF2-40B4-BE49-F238E27FC236}">
                <a16:creationId xmlns:a16="http://schemas.microsoft.com/office/drawing/2014/main" id="{8F0F0BD9-6C31-6CF0-85CB-3D336DA3824F}"/>
              </a:ext>
            </a:extLst>
          </p:cNvPr>
          <p:cNvSpPr/>
          <p:nvPr/>
        </p:nvSpPr>
        <p:spPr>
          <a:xfrm>
            <a:off x="7048500" y="4953000"/>
            <a:ext cx="4381500" cy="990600"/>
          </a:xfrm>
          <a:prstGeom prst="roundRect">
            <a:avLst/>
          </a:prstGeom>
          <a:solidFill>
            <a:srgbClr val="EFF6FF"/>
          </a:solidFill>
          <a:ln w="1905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26455047-66E9-9CB9-B93E-E963A71426E8}"/>
              </a:ext>
            </a:extLst>
          </p:cNvPr>
          <p:cNvSpPr txBox="1"/>
          <p:nvPr/>
        </p:nvSpPr>
        <p:spPr>
          <a:xfrm>
            <a:off x="7124700" y="5003800"/>
            <a:ext cx="4229100" cy="461665"/>
          </a:xfrm>
          <a:prstGeom prst="rect">
            <a:avLst/>
          </a:prstGeom>
          <a:noFill/>
        </p:spPr>
        <p:txBody>
          <a:bodyPr vert="horz" wrap="square" lIns="0" tIns="0" rIns="0" bIns="0" rtlCol="0">
            <a:spAutoFit/>
          </a:bodyPr>
          <a:lstStyle/>
          <a:p>
            <a:pPr algn="ctr"/>
            <a:r>
              <a:rPr lang="en-IN" sz="1000" b="1">
                <a:solidFill>
                  <a:srgbClr val="2563EB"/>
                </a:solidFill>
                <a:latin typeface="Calibri" panose="020F0502020204030204" pitchFamily="34" charset="0"/>
              </a:rPr>
              <a:t>UNIFIED POST-QUANTUM C99 ENGINE</a:t>
            </a:r>
          </a:p>
          <a:p>
            <a:pPr algn="ctr"/>
            <a:r>
              <a:rPr lang="en-IN" sz="1000" b="1">
                <a:solidFill>
                  <a:srgbClr val="2563EB"/>
                </a:solidFill>
                <a:latin typeface="Calibri" panose="020F0502020204030204" pitchFamily="34" charset="0"/>
              </a:rPr>
              <a:t>Single Portable Verification Core across all 3 Systems</a:t>
            </a:r>
          </a:p>
          <a:p>
            <a:pPr algn="ctr"/>
            <a:r>
              <a:rPr lang="en-IN" sz="1000" b="1">
                <a:solidFill>
                  <a:srgbClr val="2563EB"/>
                </a:solidFill>
                <a:latin typeface="Calibri" panose="020F0502020204030204" pitchFamily="34" charset="0"/>
              </a:rPr>
              <a:t>NIST ML-DSA-44  |  SPHINCS+  |  Stateful LMS</a:t>
            </a:r>
          </a:p>
        </p:txBody>
      </p:sp>
    </p:spTree>
    <p:extLst>
      <p:ext uri="{BB962C8B-B14F-4D97-AF65-F5344CB8AC3E}">
        <p14:creationId xmlns:p14="http://schemas.microsoft.com/office/powerpoint/2010/main" val="4142372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70E9B71-180A-9A2B-45AF-832B513CEBE8}"/>
              </a:ext>
            </a:extLst>
          </p:cNvPr>
          <p:cNvSpPr/>
          <p:nvPr/>
        </p:nvSpPr>
        <p:spPr>
          <a:xfrm>
            <a:off x="635000" y="254000"/>
            <a:ext cx="1905000" cy="228600"/>
          </a:xfrm>
          <a:prstGeom prst="roundRect">
            <a:avLst/>
          </a:prstGeom>
          <a:solidFill>
            <a:srgbClr val="EFF6FF"/>
          </a:solidFill>
          <a:ln w="1270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AC1FFAB-2640-BF54-3348-741DA8BEAB30}"/>
              </a:ext>
            </a:extLst>
          </p:cNvPr>
          <p:cNvSpPr txBox="1"/>
          <p:nvPr/>
        </p:nvSpPr>
        <p:spPr>
          <a:xfrm>
            <a:off x="635000" y="254000"/>
            <a:ext cx="1905000" cy="184666"/>
          </a:xfrm>
          <a:prstGeom prst="rect">
            <a:avLst/>
          </a:prstGeom>
          <a:noFill/>
        </p:spPr>
        <p:txBody>
          <a:bodyPr vert="horz" lIns="0" tIns="0" rtlCol="0">
            <a:spAutoFit/>
          </a:bodyPr>
          <a:lstStyle/>
          <a:p>
            <a:pPr algn="ctr"/>
            <a:r>
              <a:rPr lang="en-IN" sz="900" b="1">
                <a:solidFill>
                  <a:srgbClr val="2563EB"/>
                </a:solidFill>
                <a:latin typeface="Calibri" panose="020F0502020204030204" pitchFamily="34" charset="0"/>
              </a:rPr>
              <a:t>2. BACKGROUND: THREAT MODEL</a:t>
            </a:r>
          </a:p>
        </p:txBody>
      </p:sp>
      <p:sp>
        <p:nvSpPr>
          <p:cNvPr id="4" name="TextBox 3">
            <a:extLst>
              <a:ext uri="{FF2B5EF4-FFF2-40B4-BE49-F238E27FC236}">
                <a16:creationId xmlns:a16="http://schemas.microsoft.com/office/drawing/2014/main" id="{7B890B07-7B0D-5290-9D40-AC6442DE5E0A}"/>
              </a:ext>
            </a:extLst>
          </p:cNvPr>
          <p:cNvSpPr txBox="1"/>
          <p:nvPr/>
        </p:nvSpPr>
        <p:spPr>
          <a:xfrm>
            <a:off x="635000" y="533400"/>
            <a:ext cx="10922000" cy="384721"/>
          </a:xfrm>
          <a:prstGeom prst="rect">
            <a:avLst/>
          </a:prstGeom>
          <a:noFill/>
        </p:spPr>
        <p:txBody>
          <a:bodyPr vert="horz" lIns="0" tIns="0" rtlCol="0">
            <a:spAutoFit/>
          </a:bodyPr>
          <a:lstStyle/>
          <a:p>
            <a:r>
              <a:rPr lang="en-US" sz="2200" b="1">
                <a:solidFill>
                  <a:srgbClr val="0F2942"/>
                </a:solidFill>
                <a:latin typeface="Calibri" panose="020F0502020204030204" pitchFamily="34" charset="0"/>
              </a:rPr>
              <a:t>Background: The Impending Quantum Threat</a:t>
            </a:r>
            <a:endParaRPr lang="en-IN" sz="2200" b="1">
              <a:solidFill>
                <a:srgbClr val="0F2942"/>
              </a:solidFill>
              <a:latin typeface="Calibri" panose="020F0502020204030204" pitchFamily="34" charset="0"/>
            </a:endParaRPr>
          </a:p>
        </p:txBody>
      </p:sp>
      <p:cxnSp>
        <p:nvCxnSpPr>
          <p:cNvPr id="5" name="Straight Connector 4">
            <a:extLst>
              <a:ext uri="{FF2B5EF4-FFF2-40B4-BE49-F238E27FC236}">
                <a16:creationId xmlns:a16="http://schemas.microsoft.com/office/drawing/2014/main" id="{F8CC2BD1-D4C5-6BDD-D0F9-697118B42D2B}"/>
              </a:ext>
            </a:extLst>
          </p:cNvPr>
          <p:cNvCxnSpPr/>
          <p:nvPr/>
        </p:nvCxnSpPr>
        <p:spPr>
          <a:xfrm>
            <a:off x="635000" y="1016000"/>
            <a:ext cx="10922000" cy="0"/>
          </a:xfrm>
          <a:prstGeom prst="line">
            <a:avLst/>
          </a:prstGeom>
          <a:ln w="12700">
            <a:solidFill>
              <a:srgbClr val="D1D9E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B4DBEF8-35AF-FDB8-A8D0-778A45C1087E}"/>
              </a:ext>
            </a:extLst>
          </p:cNvPr>
          <p:cNvSpPr txBox="1"/>
          <p:nvPr/>
        </p:nvSpPr>
        <p:spPr>
          <a:xfrm>
            <a:off x="635000" y="6413500"/>
            <a:ext cx="10922000" cy="184666"/>
          </a:xfrm>
          <a:prstGeom prst="rect">
            <a:avLst/>
          </a:prstGeom>
          <a:noFill/>
        </p:spPr>
        <p:txBody>
          <a:bodyPr vert="horz" lIns="0" tIns="0" rtlCol="0">
            <a:spAutoFit/>
          </a:bodyPr>
          <a:lstStyle/>
          <a:p>
            <a:r>
              <a:rPr lang="en-IN" sz="900">
                <a:solidFill>
                  <a:srgbClr val="6B7280"/>
                </a:solidFill>
                <a:latin typeface="Calibri" panose="020F0502020204030204" pitchFamily="34" charset="0"/>
              </a:rPr>
              <a:t>BITS Pilani (WILP) | ESZG628T Dissertation Outline | Kiruthik Prakash J (2024HT01586) | Qualcomm India</a:t>
            </a:r>
          </a:p>
        </p:txBody>
      </p:sp>
      <p:sp>
        <p:nvSpPr>
          <p:cNvPr id="7" name="TextBox 6">
            <a:extLst>
              <a:ext uri="{FF2B5EF4-FFF2-40B4-BE49-F238E27FC236}">
                <a16:creationId xmlns:a16="http://schemas.microsoft.com/office/drawing/2014/main" id="{CCA098E7-CF06-C2C3-7D21-803BC881F49E}"/>
              </a:ext>
            </a:extLst>
          </p:cNvPr>
          <p:cNvSpPr txBox="1"/>
          <p:nvPr/>
        </p:nvSpPr>
        <p:spPr>
          <a:xfrm>
            <a:off x="10668000" y="6413500"/>
            <a:ext cx="889000" cy="184666"/>
          </a:xfrm>
          <a:prstGeom prst="rect">
            <a:avLst/>
          </a:prstGeom>
          <a:noFill/>
        </p:spPr>
        <p:txBody>
          <a:bodyPr vert="horz" lIns="0" tIns="0" rtlCol="0">
            <a:spAutoFit/>
          </a:bodyPr>
          <a:lstStyle/>
          <a:p>
            <a:pPr algn="r"/>
            <a:r>
              <a:rPr lang="en-IN" sz="900" b="1">
                <a:solidFill>
                  <a:srgbClr val="2563EB"/>
                </a:solidFill>
                <a:latin typeface="Calibri" panose="020F0502020204030204" pitchFamily="34" charset="0"/>
              </a:rPr>
              <a:t>Slide 3 / 12</a:t>
            </a:r>
          </a:p>
        </p:txBody>
      </p:sp>
      <p:sp>
        <p:nvSpPr>
          <p:cNvPr id="8" name="Rectangle: Rounded Corners 7">
            <a:extLst>
              <a:ext uri="{FF2B5EF4-FFF2-40B4-BE49-F238E27FC236}">
                <a16:creationId xmlns:a16="http://schemas.microsoft.com/office/drawing/2014/main" id="{54D990EB-3891-AF09-29A8-1C9466A8EDE5}"/>
              </a:ext>
            </a:extLst>
          </p:cNvPr>
          <p:cNvSpPr/>
          <p:nvPr/>
        </p:nvSpPr>
        <p:spPr>
          <a:xfrm>
            <a:off x="422787" y="1206500"/>
            <a:ext cx="6308213" cy="495300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06E907E5-585A-7468-A614-F54682AF2993}"/>
              </a:ext>
            </a:extLst>
          </p:cNvPr>
          <p:cNvSpPr txBox="1"/>
          <p:nvPr/>
        </p:nvSpPr>
        <p:spPr>
          <a:xfrm>
            <a:off x="863600" y="1358900"/>
            <a:ext cx="5638800" cy="215444"/>
          </a:xfrm>
          <a:prstGeom prst="rect">
            <a:avLst/>
          </a:prstGeom>
          <a:noFill/>
        </p:spPr>
        <p:txBody>
          <a:bodyPr vert="horz" lIns="0" tIns="0" rtlCol="0">
            <a:spAutoFit/>
          </a:bodyPr>
          <a:lstStyle/>
          <a:p>
            <a:r>
              <a:rPr lang="en-IN" sz="1100" b="1">
                <a:solidFill>
                  <a:srgbClr val="2563EB"/>
                </a:solidFill>
                <a:latin typeface="Calibri" panose="020F0502020204030204" pitchFamily="34" charset="0"/>
              </a:rPr>
              <a:t>POST-QUANTUM CRYPTOGRAPHIC THREAT</a:t>
            </a:r>
          </a:p>
        </p:txBody>
      </p:sp>
      <p:sp>
        <p:nvSpPr>
          <p:cNvPr id="10" name="TextBox 9">
            <a:extLst>
              <a:ext uri="{FF2B5EF4-FFF2-40B4-BE49-F238E27FC236}">
                <a16:creationId xmlns:a16="http://schemas.microsoft.com/office/drawing/2014/main" id="{6DDA0636-D7FC-00CD-D1A1-FAAC5977C8A7}"/>
              </a:ext>
            </a:extLst>
          </p:cNvPr>
          <p:cNvSpPr txBox="1"/>
          <p:nvPr/>
        </p:nvSpPr>
        <p:spPr>
          <a:xfrm>
            <a:off x="863600" y="1714500"/>
            <a:ext cx="5638800" cy="4047262"/>
          </a:xfrm>
          <a:prstGeom prst="rect">
            <a:avLst/>
          </a:prstGeom>
          <a:noFill/>
        </p:spPr>
        <p:txBody>
          <a:bodyPr vert="horz" wrap="square" lIns="0" tIns="0" rtlCol="0">
            <a:spAutoFit/>
          </a:bodyPr>
          <a:lstStyle/>
          <a:p>
            <a:r>
              <a:rPr lang="en-IN" sz="2000">
                <a:solidFill>
                  <a:srgbClr val="1F2937"/>
                </a:solidFill>
                <a:latin typeface="Calibri" panose="020F0502020204030204" pitchFamily="34" charset="0"/>
              </a:rPr>
              <a:t>-  Secure boot establishes tamper-evident hardware Root-of-Trust.</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Classical RSA and ECDSA protect firmware today.</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Shor's algorithm solves factorisation in polynomial time.</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Quantum computers render classical digital signatures obsolete.</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Exposes bare-metal systems to unauthorized firmware execution.</a:t>
            </a:r>
          </a:p>
        </p:txBody>
      </p:sp>
      <p:sp>
        <p:nvSpPr>
          <p:cNvPr id="11" name="Rectangle: Rounded Corners 10">
            <a:extLst>
              <a:ext uri="{FF2B5EF4-FFF2-40B4-BE49-F238E27FC236}">
                <a16:creationId xmlns:a16="http://schemas.microsoft.com/office/drawing/2014/main" id="{7E4CC1AE-B9C3-FF95-39EC-2B9142676B45}"/>
              </a:ext>
            </a:extLst>
          </p:cNvPr>
          <p:cNvSpPr/>
          <p:nvPr/>
        </p:nvSpPr>
        <p:spPr>
          <a:xfrm>
            <a:off x="6843251" y="1172122"/>
            <a:ext cx="4925961" cy="4987378"/>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227F24DB-C020-3977-234C-7C5E84017230}"/>
              </a:ext>
            </a:extLst>
          </p:cNvPr>
          <p:cNvSpPr txBox="1"/>
          <p:nvPr/>
        </p:nvSpPr>
        <p:spPr>
          <a:xfrm>
            <a:off x="7112000" y="1358900"/>
            <a:ext cx="4254500" cy="215444"/>
          </a:xfrm>
          <a:prstGeom prst="rect">
            <a:avLst/>
          </a:prstGeom>
          <a:noFill/>
        </p:spPr>
        <p:txBody>
          <a:bodyPr vert="horz" lIns="0" tIns="0" rtlCol="0">
            <a:spAutoFit/>
          </a:bodyPr>
          <a:lstStyle/>
          <a:p>
            <a:r>
              <a:rPr lang="en-IN" sz="1100" b="1" dirty="0">
                <a:solidFill>
                  <a:srgbClr val="2563EB"/>
                </a:solidFill>
                <a:latin typeface="Calibri" panose="020F0502020204030204" pitchFamily="34" charset="0"/>
              </a:rPr>
              <a:t>CRYPTOGRAPHIC HARDNESS &amp; QUANTUM STATUS</a:t>
            </a:r>
          </a:p>
        </p:txBody>
      </p:sp>
      <p:sp>
        <p:nvSpPr>
          <p:cNvPr id="13" name="Rectangle: Rounded Corners 12">
            <a:extLst>
              <a:ext uri="{FF2B5EF4-FFF2-40B4-BE49-F238E27FC236}">
                <a16:creationId xmlns:a16="http://schemas.microsoft.com/office/drawing/2014/main" id="{D24C8400-C290-B622-F68F-34A9A99B9C96}"/>
              </a:ext>
            </a:extLst>
          </p:cNvPr>
          <p:cNvSpPr/>
          <p:nvPr/>
        </p:nvSpPr>
        <p:spPr>
          <a:xfrm>
            <a:off x="7048500" y="1676400"/>
            <a:ext cx="4381500" cy="990600"/>
          </a:xfrm>
          <a:prstGeom prst="roundRect">
            <a:avLst/>
          </a:prstGeom>
          <a:solidFill>
            <a:srgbClr val="FFFFFF"/>
          </a:solidFill>
          <a:ln w="1270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0A07F7E1-4021-9B9B-0163-833ECE8D90B1}"/>
              </a:ext>
            </a:extLst>
          </p:cNvPr>
          <p:cNvSpPr txBox="1"/>
          <p:nvPr/>
        </p:nvSpPr>
        <p:spPr>
          <a:xfrm>
            <a:off x="7175500" y="1727200"/>
            <a:ext cx="2476500" cy="215444"/>
          </a:xfrm>
          <a:prstGeom prst="rect">
            <a:avLst/>
          </a:prstGeom>
          <a:noFill/>
        </p:spPr>
        <p:txBody>
          <a:bodyPr vert="horz" lIns="0" tIns="0" rtlCol="0">
            <a:spAutoFit/>
          </a:bodyPr>
          <a:lstStyle/>
          <a:p>
            <a:r>
              <a:rPr lang="en-IN" sz="1100" b="1">
                <a:solidFill>
                  <a:srgbClr val="0F2942"/>
                </a:solidFill>
                <a:latin typeface="Calibri" panose="020F0502020204030204" pitchFamily="34" charset="0"/>
              </a:rPr>
              <a:t>RSA-2048 / RSA-3072</a:t>
            </a:r>
          </a:p>
        </p:txBody>
      </p:sp>
      <p:sp>
        <p:nvSpPr>
          <p:cNvPr id="15" name="Rectangle: Rounded Corners 14">
            <a:extLst>
              <a:ext uri="{FF2B5EF4-FFF2-40B4-BE49-F238E27FC236}">
                <a16:creationId xmlns:a16="http://schemas.microsoft.com/office/drawing/2014/main" id="{DE012050-8C24-BCDE-C0B4-FDC99B02D1EE}"/>
              </a:ext>
            </a:extLst>
          </p:cNvPr>
          <p:cNvSpPr/>
          <p:nvPr/>
        </p:nvSpPr>
        <p:spPr>
          <a:xfrm>
            <a:off x="9626600" y="1727200"/>
            <a:ext cx="1701800" cy="228600"/>
          </a:xfrm>
          <a:prstGeom prst="roundRect">
            <a:avLst/>
          </a:prstGeom>
          <a:solidFill>
            <a:srgbClr val="FEE2E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C2233BE9-F5A7-297A-3B1B-F9DB55FC18DB}"/>
              </a:ext>
            </a:extLst>
          </p:cNvPr>
          <p:cNvSpPr txBox="1"/>
          <p:nvPr/>
        </p:nvSpPr>
        <p:spPr>
          <a:xfrm>
            <a:off x="9626600" y="1727200"/>
            <a:ext cx="1701800" cy="169277"/>
          </a:xfrm>
          <a:prstGeom prst="rect">
            <a:avLst/>
          </a:prstGeom>
          <a:noFill/>
        </p:spPr>
        <p:txBody>
          <a:bodyPr vert="horz" lIns="0" tIns="0" rtlCol="0">
            <a:spAutoFit/>
          </a:bodyPr>
          <a:lstStyle/>
          <a:p>
            <a:pPr algn="ctr"/>
            <a:r>
              <a:rPr lang="en-IN" sz="800" b="1">
                <a:solidFill>
                  <a:srgbClr val="991B1B"/>
                </a:solidFill>
                <a:latin typeface="Calibri" panose="020F0502020204030204" pitchFamily="34" charset="0"/>
              </a:rPr>
              <a:t>BROKEN BY QUANTUM</a:t>
            </a:r>
          </a:p>
        </p:txBody>
      </p:sp>
      <p:sp>
        <p:nvSpPr>
          <p:cNvPr id="17" name="TextBox 16">
            <a:extLst>
              <a:ext uri="{FF2B5EF4-FFF2-40B4-BE49-F238E27FC236}">
                <a16:creationId xmlns:a16="http://schemas.microsoft.com/office/drawing/2014/main" id="{BFC9E5A7-5EF7-9E63-6A94-B8C18E8D16F6}"/>
              </a:ext>
            </a:extLst>
          </p:cNvPr>
          <p:cNvSpPr txBox="1"/>
          <p:nvPr/>
        </p:nvSpPr>
        <p:spPr>
          <a:xfrm>
            <a:off x="7175500" y="1981200"/>
            <a:ext cx="4127500" cy="461665"/>
          </a:xfrm>
          <a:prstGeom prst="rect">
            <a:avLst/>
          </a:prstGeom>
          <a:noFill/>
        </p:spPr>
        <p:txBody>
          <a:bodyPr vert="horz" wrap="square" lIns="0" tIns="0" rtlCol="0">
            <a:spAutoFit/>
          </a:bodyPr>
          <a:lstStyle/>
          <a:p>
            <a:r>
              <a:rPr lang="en-US" sz="900">
                <a:solidFill>
                  <a:srgbClr val="1F2937"/>
                </a:solidFill>
                <a:latin typeface="Calibri" panose="020F0502020204030204" pitchFamily="34" charset="0"/>
              </a:rPr>
              <a:t>Underlying Hardness: Integer Factorization Problem</a:t>
            </a:r>
          </a:p>
          <a:p>
            <a:r>
              <a:rPr lang="en-US" sz="900">
                <a:solidFill>
                  <a:srgbClr val="1F2937"/>
                </a:solidFill>
                <a:latin typeface="Calibri" panose="020F0502020204030204" pitchFamily="34" charset="0"/>
              </a:rPr>
              <a:t>Classical: Sub-exponential L_N[1/3]</a:t>
            </a:r>
          </a:p>
          <a:p>
            <a:r>
              <a:rPr lang="en-US" sz="900">
                <a:solidFill>
                  <a:srgbClr val="1F2937"/>
                </a:solidFill>
                <a:latin typeface="Calibri" panose="020F0502020204030204" pitchFamily="34" charset="0"/>
              </a:rPr>
              <a:t>Quantum Complexity: Shor O((log N)^3) Polynomial Time</a:t>
            </a:r>
            <a:endParaRPr lang="en-IN" sz="900">
              <a:solidFill>
                <a:srgbClr val="1F2937"/>
              </a:solidFill>
              <a:latin typeface="Calibri" panose="020F0502020204030204" pitchFamily="34" charset="0"/>
            </a:endParaRPr>
          </a:p>
        </p:txBody>
      </p:sp>
      <p:sp>
        <p:nvSpPr>
          <p:cNvPr id="18" name="Rectangle: Rounded Corners 17">
            <a:extLst>
              <a:ext uri="{FF2B5EF4-FFF2-40B4-BE49-F238E27FC236}">
                <a16:creationId xmlns:a16="http://schemas.microsoft.com/office/drawing/2014/main" id="{B4962446-E3B8-A743-C600-807905F2EE78}"/>
              </a:ext>
            </a:extLst>
          </p:cNvPr>
          <p:cNvSpPr/>
          <p:nvPr/>
        </p:nvSpPr>
        <p:spPr>
          <a:xfrm>
            <a:off x="7048500" y="2768600"/>
            <a:ext cx="4381500" cy="990600"/>
          </a:xfrm>
          <a:prstGeom prst="roundRect">
            <a:avLst/>
          </a:prstGeom>
          <a:solidFill>
            <a:srgbClr val="FFFFFF"/>
          </a:solidFill>
          <a:ln w="1270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CBF93AB2-4F98-ACED-27B5-1AD32B632EA4}"/>
              </a:ext>
            </a:extLst>
          </p:cNvPr>
          <p:cNvSpPr txBox="1"/>
          <p:nvPr/>
        </p:nvSpPr>
        <p:spPr>
          <a:xfrm>
            <a:off x="7175500" y="2819400"/>
            <a:ext cx="2476500" cy="215444"/>
          </a:xfrm>
          <a:prstGeom prst="rect">
            <a:avLst/>
          </a:prstGeom>
          <a:noFill/>
        </p:spPr>
        <p:txBody>
          <a:bodyPr vert="horz" lIns="0" tIns="0" rtlCol="0">
            <a:spAutoFit/>
          </a:bodyPr>
          <a:lstStyle/>
          <a:p>
            <a:r>
              <a:rPr lang="en-IN" sz="1100" b="1">
                <a:solidFill>
                  <a:srgbClr val="0F2942"/>
                </a:solidFill>
                <a:latin typeface="Calibri" panose="020F0502020204030204" pitchFamily="34" charset="0"/>
              </a:rPr>
              <a:t>ECDSA P-256 (ECC)</a:t>
            </a:r>
          </a:p>
        </p:txBody>
      </p:sp>
      <p:sp>
        <p:nvSpPr>
          <p:cNvPr id="20" name="Rectangle: Rounded Corners 19">
            <a:extLst>
              <a:ext uri="{FF2B5EF4-FFF2-40B4-BE49-F238E27FC236}">
                <a16:creationId xmlns:a16="http://schemas.microsoft.com/office/drawing/2014/main" id="{C7836BCE-625D-F063-4053-01ACD274A41C}"/>
              </a:ext>
            </a:extLst>
          </p:cNvPr>
          <p:cNvSpPr/>
          <p:nvPr/>
        </p:nvSpPr>
        <p:spPr>
          <a:xfrm>
            <a:off x="9626600" y="2819400"/>
            <a:ext cx="1701800" cy="228600"/>
          </a:xfrm>
          <a:prstGeom prst="roundRect">
            <a:avLst/>
          </a:prstGeom>
          <a:solidFill>
            <a:srgbClr val="FEE2E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CD40BB0B-83EA-527D-BE35-EFC7D3404F2E}"/>
              </a:ext>
            </a:extLst>
          </p:cNvPr>
          <p:cNvSpPr txBox="1"/>
          <p:nvPr/>
        </p:nvSpPr>
        <p:spPr>
          <a:xfrm>
            <a:off x="9626600" y="2819400"/>
            <a:ext cx="1701800" cy="169277"/>
          </a:xfrm>
          <a:prstGeom prst="rect">
            <a:avLst/>
          </a:prstGeom>
          <a:noFill/>
        </p:spPr>
        <p:txBody>
          <a:bodyPr vert="horz" lIns="0" tIns="0" rtlCol="0">
            <a:spAutoFit/>
          </a:bodyPr>
          <a:lstStyle/>
          <a:p>
            <a:pPr algn="ctr"/>
            <a:r>
              <a:rPr lang="en-IN" sz="800" b="1">
                <a:solidFill>
                  <a:srgbClr val="991B1B"/>
                </a:solidFill>
                <a:latin typeface="Calibri" panose="020F0502020204030204" pitchFamily="34" charset="0"/>
              </a:rPr>
              <a:t>BROKEN BY QUANTUM</a:t>
            </a:r>
          </a:p>
        </p:txBody>
      </p:sp>
      <p:sp>
        <p:nvSpPr>
          <p:cNvPr id="22" name="TextBox 21">
            <a:extLst>
              <a:ext uri="{FF2B5EF4-FFF2-40B4-BE49-F238E27FC236}">
                <a16:creationId xmlns:a16="http://schemas.microsoft.com/office/drawing/2014/main" id="{C5404C98-A3E7-0CF3-9CF3-4E564DE0937D}"/>
              </a:ext>
            </a:extLst>
          </p:cNvPr>
          <p:cNvSpPr txBox="1"/>
          <p:nvPr/>
        </p:nvSpPr>
        <p:spPr>
          <a:xfrm>
            <a:off x="7175500" y="3073400"/>
            <a:ext cx="4127500" cy="461665"/>
          </a:xfrm>
          <a:prstGeom prst="rect">
            <a:avLst/>
          </a:prstGeom>
          <a:noFill/>
        </p:spPr>
        <p:txBody>
          <a:bodyPr vert="horz" wrap="square" lIns="0" tIns="0" rtlCol="0">
            <a:spAutoFit/>
          </a:bodyPr>
          <a:lstStyle/>
          <a:p>
            <a:r>
              <a:rPr lang="en-IN" sz="900">
                <a:solidFill>
                  <a:srgbClr val="1F2937"/>
                </a:solidFill>
                <a:latin typeface="Calibri" panose="020F0502020204030204" pitchFamily="34" charset="0"/>
              </a:rPr>
              <a:t>Underlying Hardness: Elliptic Curve Discrete Log (ECDLP)</a:t>
            </a:r>
          </a:p>
          <a:p>
            <a:r>
              <a:rPr lang="en-IN" sz="900">
                <a:solidFill>
                  <a:srgbClr val="1F2937"/>
                </a:solidFill>
                <a:latin typeface="Calibri" panose="020F0502020204030204" pitchFamily="34" charset="0"/>
              </a:rPr>
              <a:t>Classical: Exponential O(sqrt(p))</a:t>
            </a:r>
          </a:p>
          <a:p>
            <a:r>
              <a:rPr lang="en-IN" sz="900">
                <a:solidFill>
                  <a:srgbClr val="1F2937"/>
                </a:solidFill>
                <a:latin typeface="Calibri" panose="020F0502020204030204" pitchFamily="34" charset="0"/>
              </a:rPr>
              <a:t>Quantum Complexity: Shor O((log N)^3) Polynomial Time</a:t>
            </a:r>
          </a:p>
        </p:txBody>
      </p:sp>
      <p:sp>
        <p:nvSpPr>
          <p:cNvPr id="23" name="Rectangle: Rounded Corners 22">
            <a:extLst>
              <a:ext uri="{FF2B5EF4-FFF2-40B4-BE49-F238E27FC236}">
                <a16:creationId xmlns:a16="http://schemas.microsoft.com/office/drawing/2014/main" id="{0C3AF165-50C2-2130-D1FD-41316895F634}"/>
              </a:ext>
            </a:extLst>
          </p:cNvPr>
          <p:cNvSpPr/>
          <p:nvPr/>
        </p:nvSpPr>
        <p:spPr>
          <a:xfrm>
            <a:off x="7048500" y="3860800"/>
            <a:ext cx="4381500" cy="990600"/>
          </a:xfrm>
          <a:prstGeom prst="roundRect">
            <a:avLst/>
          </a:prstGeom>
          <a:solidFill>
            <a:srgbClr val="FFFFFF"/>
          </a:solidFill>
          <a:ln w="1270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7D9EE023-C70F-99B4-DA8F-257E66329EE9}"/>
              </a:ext>
            </a:extLst>
          </p:cNvPr>
          <p:cNvSpPr txBox="1"/>
          <p:nvPr/>
        </p:nvSpPr>
        <p:spPr>
          <a:xfrm>
            <a:off x="7175500" y="3911600"/>
            <a:ext cx="2476500" cy="215444"/>
          </a:xfrm>
          <a:prstGeom prst="rect">
            <a:avLst/>
          </a:prstGeom>
          <a:noFill/>
        </p:spPr>
        <p:txBody>
          <a:bodyPr vert="horz" lIns="0" tIns="0" rtlCol="0">
            <a:spAutoFit/>
          </a:bodyPr>
          <a:lstStyle/>
          <a:p>
            <a:r>
              <a:rPr lang="en-IN" sz="1100" b="1">
                <a:solidFill>
                  <a:srgbClr val="0F2942"/>
                </a:solidFill>
                <a:latin typeface="Calibri" panose="020F0502020204030204" pitchFamily="34" charset="0"/>
              </a:rPr>
              <a:t>ML-DSA-44 (Dilithium)</a:t>
            </a:r>
          </a:p>
        </p:txBody>
      </p:sp>
      <p:sp>
        <p:nvSpPr>
          <p:cNvPr id="25" name="Rectangle: Rounded Corners 24">
            <a:extLst>
              <a:ext uri="{FF2B5EF4-FFF2-40B4-BE49-F238E27FC236}">
                <a16:creationId xmlns:a16="http://schemas.microsoft.com/office/drawing/2014/main" id="{5A16AFD0-5457-08B6-870A-01C8E10F731D}"/>
              </a:ext>
            </a:extLst>
          </p:cNvPr>
          <p:cNvSpPr/>
          <p:nvPr/>
        </p:nvSpPr>
        <p:spPr>
          <a:xfrm>
            <a:off x="9626600" y="3911600"/>
            <a:ext cx="1701800" cy="228600"/>
          </a:xfrm>
          <a:prstGeom prst="roundRect">
            <a:avLst/>
          </a:prstGeom>
          <a:solidFill>
            <a:srgbClr val="DCFC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B7A589A1-1616-E750-AD1A-837E6BB1B219}"/>
              </a:ext>
            </a:extLst>
          </p:cNvPr>
          <p:cNvSpPr txBox="1"/>
          <p:nvPr/>
        </p:nvSpPr>
        <p:spPr>
          <a:xfrm>
            <a:off x="9626600" y="3911600"/>
            <a:ext cx="1701800" cy="169277"/>
          </a:xfrm>
          <a:prstGeom prst="rect">
            <a:avLst/>
          </a:prstGeom>
          <a:noFill/>
        </p:spPr>
        <p:txBody>
          <a:bodyPr vert="horz" lIns="0" tIns="0" rtlCol="0">
            <a:spAutoFit/>
          </a:bodyPr>
          <a:lstStyle/>
          <a:p>
            <a:pPr algn="ctr"/>
            <a:r>
              <a:rPr lang="en-IN" sz="800" b="1">
                <a:solidFill>
                  <a:srgbClr val="166534"/>
                </a:solidFill>
                <a:latin typeface="Calibri" panose="020F0502020204030204" pitchFamily="34" charset="0"/>
              </a:rPr>
              <a:t>QUANTUM-SAFE (FIPS 204)</a:t>
            </a:r>
          </a:p>
        </p:txBody>
      </p:sp>
      <p:sp>
        <p:nvSpPr>
          <p:cNvPr id="27" name="TextBox 26">
            <a:extLst>
              <a:ext uri="{FF2B5EF4-FFF2-40B4-BE49-F238E27FC236}">
                <a16:creationId xmlns:a16="http://schemas.microsoft.com/office/drawing/2014/main" id="{39861AFB-0093-15D5-752C-B207FE02BABD}"/>
              </a:ext>
            </a:extLst>
          </p:cNvPr>
          <p:cNvSpPr txBox="1"/>
          <p:nvPr/>
        </p:nvSpPr>
        <p:spPr>
          <a:xfrm>
            <a:off x="7175500" y="4165600"/>
            <a:ext cx="4127500" cy="461665"/>
          </a:xfrm>
          <a:prstGeom prst="rect">
            <a:avLst/>
          </a:prstGeom>
          <a:noFill/>
        </p:spPr>
        <p:txBody>
          <a:bodyPr vert="horz" wrap="square" lIns="0" tIns="0" rtlCol="0">
            <a:spAutoFit/>
          </a:bodyPr>
          <a:lstStyle/>
          <a:p>
            <a:r>
              <a:rPr lang="en-IN" sz="900">
                <a:solidFill>
                  <a:srgbClr val="1F2937"/>
                </a:solidFill>
                <a:latin typeface="Calibri" panose="020F0502020204030204" pitchFamily="34" charset="0"/>
              </a:rPr>
              <a:t>Underlying Hardness: Module Learning With Errors (M-LWE)</a:t>
            </a:r>
          </a:p>
          <a:p>
            <a:r>
              <a:rPr lang="en-IN" sz="900">
                <a:solidFill>
                  <a:srgbClr val="1F2937"/>
                </a:solidFill>
                <a:latin typeface="Calibri" panose="020F0502020204030204" pitchFamily="34" charset="0"/>
              </a:rPr>
              <a:t>Classical: Lattice Shortest Vector Problem (SVP)</a:t>
            </a:r>
          </a:p>
          <a:p>
            <a:r>
              <a:rPr lang="en-IN" sz="900">
                <a:solidFill>
                  <a:srgbClr val="1F2937"/>
                </a:solidFill>
                <a:latin typeface="Calibri" panose="020F0502020204030204" pitchFamily="34" charset="0"/>
              </a:rPr>
              <a:t>Quantum Complexity: Exponential (Lattice sieving/BKZ)</a:t>
            </a:r>
          </a:p>
        </p:txBody>
      </p:sp>
      <p:sp>
        <p:nvSpPr>
          <p:cNvPr id="28" name="Rectangle: Rounded Corners 27">
            <a:extLst>
              <a:ext uri="{FF2B5EF4-FFF2-40B4-BE49-F238E27FC236}">
                <a16:creationId xmlns:a16="http://schemas.microsoft.com/office/drawing/2014/main" id="{BD3E0CB4-7341-1979-0B93-E41942B439BF}"/>
              </a:ext>
            </a:extLst>
          </p:cNvPr>
          <p:cNvSpPr/>
          <p:nvPr/>
        </p:nvSpPr>
        <p:spPr>
          <a:xfrm>
            <a:off x="7048500" y="4953000"/>
            <a:ext cx="4381500" cy="990600"/>
          </a:xfrm>
          <a:prstGeom prst="roundRect">
            <a:avLst/>
          </a:prstGeom>
          <a:solidFill>
            <a:srgbClr val="FFFFFF"/>
          </a:solidFill>
          <a:ln w="1270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C4292441-270D-C5E6-4C5B-AAFBDD7B697C}"/>
              </a:ext>
            </a:extLst>
          </p:cNvPr>
          <p:cNvSpPr txBox="1"/>
          <p:nvPr/>
        </p:nvSpPr>
        <p:spPr>
          <a:xfrm>
            <a:off x="7175500" y="5003800"/>
            <a:ext cx="2476500" cy="215444"/>
          </a:xfrm>
          <a:prstGeom prst="rect">
            <a:avLst/>
          </a:prstGeom>
          <a:noFill/>
        </p:spPr>
        <p:txBody>
          <a:bodyPr vert="horz" lIns="0" tIns="0" rtlCol="0">
            <a:spAutoFit/>
          </a:bodyPr>
          <a:lstStyle/>
          <a:p>
            <a:r>
              <a:rPr lang="en-IN" sz="1100" b="1">
                <a:solidFill>
                  <a:srgbClr val="0F2942"/>
                </a:solidFill>
                <a:latin typeface="Calibri" panose="020F0502020204030204" pitchFamily="34" charset="0"/>
              </a:rPr>
              <a:t>SPHINCS+ / LMS</a:t>
            </a:r>
          </a:p>
        </p:txBody>
      </p:sp>
      <p:sp>
        <p:nvSpPr>
          <p:cNvPr id="30" name="Rectangle: Rounded Corners 29">
            <a:extLst>
              <a:ext uri="{FF2B5EF4-FFF2-40B4-BE49-F238E27FC236}">
                <a16:creationId xmlns:a16="http://schemas.microsoft.com/office/drawing/2014/main" id="{14314E53-B650-43D1-C7A8-8708EBD35006}"/>
              </a:ext>
            </a:extLst>
          </p:cNvPr>
          <p:cNvSpPr/>
          <p:nvPr/>
        </p:nvSpPr>
        <p:spPr>
          <a:xfrm>
            <a:off x="9626600" y="5003800"/>
            <a:ext cx="1701800" cy="228600"/>
          </a:xfrm>
          <a:prstGeom prst="roundRect">
            <a:avLst/>
          </a:prstGeom>
          <a:solidFill>
            <a:srgbClr val="DCFC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881A0970-A44C-DFE4-5ED0-763F29A57549}"/>
              </a:ext>
            </a:extLst>
          </p:cNvPr>
          <p:cNvSpPr txBox="1"/>
          <p:nvPr/>
        </p:nvSpPr>
        <p:spPr>
          <a:xfrm>
            <a:off x="9626600" y="5003800"/>
            <a:ext cx="1701800" cy="169277"/>
          </a:xfrm>
          <a:prstGeom prst="rect">
            <a:avLst/>
          </a:prstGeom>
          <a:noFill/>
        </p:spPr>
        <p:txBody>
          <a:bodyPr vert="horz" lIns="0" tIns="0" rtlCol="0">
            <a:spAutoFit/>
          </a:bodyPr>
          <a:lstStyle/>
          <a:p>
            <a:pPr algn="ctr"/>
            <a:r>
              <a:rPr lang="en-IN" sz="800" b="1">
                <a:solidFill>
                  <a:srgbClr val="166534"/>
                </a:solidFill>
                <a:latin typeface="Calibri" panose="020F0502020204030204" pitchFamily="34" charset="0"/>
              </a:rPr>
              <a:t>QUANTUM-SAFE (FIPS 205)</a:t>
            </a:r>
          </a:p>
        </p:txBody>
      </p:sp>
      <p:sp>
        <p:nvSpPr>
          <p:cNvPr id="32" name="TextBox 31">
            <a:extLst>
              <a:ext uri="{FF2B5EF4-FFF2-40B4-BE49-F238E27FC236}">
                <a16:creationId xmlns:a16="http://schemas.microsoft.com/office/drawing/2014/main" id="{66CD3BAA-1BB9-9FB4-0A5E-07D58DFBF09E}"/>
              </a:ext>
            </a:extLst>
          </p:cNvPr>
          <p:cNvSpPr txBox="1"/>
          <p:nvPr/>
        </p:nvSpPr>
        <p:spPr>
          <a:xfrm>
            <a:off x="7175500" y="5257800"/>
            <a:ext cx="4127500" cy="461665"/>
          </a:xfrm>
          <a:prstGeom prst="rect">
            <a:avLst/>
          </a:prstGeom>
          <a:noFill/>
        </p:spPr>
        <p:txBody>
          <a:bodyPr vert="horz" wrap="square" lIns="0" tIns="0" rtlCol="0">
            <a:spAutoFit/>
          </a:bodyPr>
          <a:lstStyle/>
          <a:p>
            <a:r>
              <a:rPr lang="en-IN" sz="900">
                <a:solidFill>
                  <a:srgbClr val="1F2937"/>
                </a:solidFill>
                <a:latin typeface="Calibri" panose="020F0502020204030204" pitchFamily="34" charset="0"/>
              </a:rPr>
              <a:t>Underlying Hardness: Hash Function Preimage Resistance</a:t>
            </a:r>
          </a:p>
          <a:p>
            <a:r>
              <a:rPr lang="en-IN" sz="900">
                <a:solidFill>
                  <a:srgbClr val="1F2937"/>
                </a:solidFill>
                <a:latin typeface="Calibri" panose="020F0502020204030204" pitchFamily="34" charset="0"/>
              </a:rPr>
              <a:t>Classical: Exhaustive preimage search O(2^n)</a:t>
            </a:r>
          </a:p>
          <a:p>
            <a:r>
              <a:rPr lang="en-IN" sz="900">
                <a:solidFill>
                  <a:srgbClr val="1F2937"/>
                </a:solidFill>
                <a:latin typeface="Calibri" panose="020F0502020204030204" pitchFamily="34" charset="0"/>
              </a:rPr>
              <a:t>Quantum Complexity: Grover quadratic bound O(2^(n/2))</a:t>
            </a:r>
          </a:p>
        </p:txBody>
      </p:sp>
    </p:spTree>
    <p:extLst>
      <p:ext uri="{BB962C8B-B14F-4D97-AF65-F5344CB8AC3E}">
        <p14:creationId xmlns:p14="http://schemas.microsoft.com/office/powerpoint/2010/main" val="3800768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C6124A1-E0A0-51FB-B8E8-1FE7A8199043}"/>
              </a:ext>
            </a:extLst>
          </p:cNvPr>
          <p:cNvSpPr/>
          <p:nvPr/>
        </p:nvSpPr>
        <p:spPr>
          <a:xfrm>
            <a:off x="635000" y="254000"/>
            <a:ext cx="2255684" cy="139244"/>
          </a:xfrm>
          <a:prstGeom prst="roundRect">
            <a:avLst/>
          </a:prstGeom>
          <a:solidFill>
            <a:srgbClr val="EFF6FF"/>
          </a:solidFill>
          <a:ln w="1270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B494BB6-F572-3EE1-A33B-844986C4461B}"/>
              </a:ext>
            </a:extLst>
          </p:cNvPr>
          <p:cNvSpPr txBox="1"/>
          <p:nvPr/>
        </p:nvSpPr>
        <p:spPr>
          <a:xfrm>
            <a:off x="635000" y="254000"/>
            <a:ext cx="2255684" cy="184666"/>
          </a:xfrm>
          <a:prstGeom prst="rect">
            <a:avLst/>
          </a:prstGeom>
          <a:noFill/>
        </p:spPr>
        <p:txBody>
          <a:bodyPr vert="horz" wrap="square" lIns="0" tIns="0" rtlCol="0">
            <a:spAutoFit/>
          </a:bodyPr>
          <a:lstStyle/>
          <a:p>
            <a:pPr algn="ctr"/>
            <a:r>
              <a:rPr lang="en-IN" sz="900" b="1">
                <a:solidFill>
                  <a:srgbClr val="2563EB"/>
                </a:solidFill>
                <a:latin typeface="Calibri" panose="020F0502020204030204" pitchFamily="34" charset="0"/>
              </a:rPr>
              <a:t>2. BACKGROUND: SYSTEMS CONSTRAINTS</a:t>
            </a:r>
          </a:p>
        </p:txBody>
      </p:sp>
      <p:sp>
        <p:nvSpPr>
          <p:cNvPr id="4" name="TextBox 3">
            <a:extLst>
              <a:ext uri="{FF2B5EF4-FFF2-40B4-BE49-F238E27FC236}">
                <a16:creationId xmlns:a16="http://schemas.microsoft.com/office/drawing/2014/main" id="{B9FE9C86-1E84-42AA-3898-EB82A63C3DCB}"/>
              </a:ext>
            </a:extLst>
          </p:cNvPr>
          <p:cNvSpPr txBox="1"/>
          <p:nvPr/>
        </p:nvSpPr>
        <p:spPr>
          <a:xfrm>
            <a:off x="635000" y="533400"/>
            <a:ext cx="10922000" cy="384721"/>
          </a:xfrm>
          <a:prstGeom prst="rect">
            <a:avLst/>
          </a:prstGeom>
          <a:noFill/>
        </p:spPr>
        <p:txBody>
          <a:bodyPr vert="horz" lIns="0" tIns="0" rtlCol="0">
            <a:spAutoFit/>
          </a:bodyPr>
          <a:lstStyle/>
          <a:p>
            <a:r>
              <a:rPr lang="en-IN" sz="2200" b="1">
                <a:solidFill>
                  <a:srgbClr val="0F2942"/>
                </a:solidFill>
                <a:latin typeface="Calibri" panose="020F0502020204030204" pitchFamily="34" charset="0"/>
              </a:rPr>
              <a:t>Background: Systems Engineering Challenges</a:t>
            </a:r>
          </a:p>
        </p:txBody>
      </p:sp>
      <p:cxnSp>
        <p:nvCxnSpPr>
          <p:cNvPr id="5" name="Straight Connector 4">
            <a:extLst>
              <a:ext uri="{FF2B5EF4-FFF2-40B4-BE49-F238E27FC236}">
                <a16:creationId xmlns:a16="http://schemas.microsoft.com/office/drawing/2014/main" id="{89DA3C53-4317-AEA2-BD43-8B1CB02738D4}"/>
              </a:ext>
            </a:extLst>
          </p:cNvPr>
          <p:cNvCxnSpPr/>
          <p:nvPr/>
        </p:nvCxnSpPr>
        <p:spPr>
          <a:xfrm>
            <a:off x="635000" y="1016000"/>
            <a:ext cx="10922000" cy="0"/>
          </a:xfrm>
          <a:prstGeom prst="line">
            <a:avLst/>
          </a:prstGeom>
          <a:ln w="12700">
            <a:solidFill>
              <a:srgbClr val="D1D9E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72A4F7F9-399E-6645-096B-F11345A5AE50}"/>
              </a:ext>
            </a:extLst>
          </p:cNvPr>
          <p:cNvSpPr txBox="1"/>
          <p:nvPr/>
        </p:nvSpPr>
        <p:spPr>
          <a:xfrm>
            <a:off x="635000" y="6413500"/>
            <a:ext cx="10922000" cy="184666"/>
          </a:xfrm>
          <a:prstGeom prst="rect">
            <a:avLst/>
          </a:prstGeom>
          <a:noFill/>
        </p:spPr>
        <p:txBody>
          <a:bodyPr vert="horz" lIns="0" tIns="0" rtlCol="0">
            <a:spAutoFit/>
          </a:bodyPr>
          <a:lstStyle/>
          <a:p>
            <a:r>
              <a:rPr lang="en-IN" sz="900">
                <a:solidFill>
                  <a:srgbClr val="6B7280"/>
                </a:solidFill>
                <a:latin typeface="Calibri" panose="020F0502020204030204" pitchFamily="34" charset="0"/>
              </a:rPr>
              <a:t>BITS Pilani (WILP) | ESZG628T Dissertation Outline | Kiruthik Prakash J (2024HT01586) | Qualcomm India</a:t>
            </a:r>
          </a:p>
        </p:txBody>
      </p:sp>
      <p:sp>
        <p:nvSpPr>
          <p:cNvPr id="7" name="TextBox 6">
            <a:extLst>
              <a:ext uri="{FF2B5EF4-FFF2-40B4-BE49-F238E27FC236}">
                <a16:creationId xmlns:a16="http://schemas.microsoft.com/office/drawing/2014/main" id="{CFEF4237-7318-02F5-7DDC-72F39E21B079}"/>
              </a:ext>
            </a:extLst>
          </p:cNvPr>
          <p:cNvSpPr txBox="1"/>
          <p:nvPr/>
        </p:nvSpPr>
        <p:spPr>
          <a:xfrm>
            <a:off x="10668000" y="6413500"/>
            <a:ext cx="889000" cy="184666"/>
          </a:xfrm>
          <a:prstGeom prst="rect">
            <a:avLst/>
          </a:prstGeom>
          <a:noFill/>
        </p:spPr>
        <p:txBody>
          <a:bodyPr vert="horz" lIns="0" tIns="0" rtlCol="0">
            <a:spAutoFit/>
          </a:bodyPr>
          <a:lstStyle/>
          <a:p>
            <a:pPr algn="r"/>
            <a:r>
              <a:rPr lang="en-IN" sz="900" b="1">
                <a:solidFill>
                  <a:srgbClr val="2563EB"/>
                </a:solidFill>
                <a:latin typeface="Calibri" panose="020F0502020204030204" pitchFamily="34" charset="0"/>
              </a:rPr>
              <a:t>Slide 4 / 12</a:t>
            </a:r>
          </a:p>
        </p:txBody>
      </p:sp>
      <p:sp>
        <p:nvSpPr>
          <p:cNvPr id="8" name="Rectangle: Rounded Corners 7">
            <a:extLst>
              <a:ext uri="{FF2B5EF4-FFF2-40B4-BE49-F238E27FC236}">
                <a16:creationId xmlns:a16="http://schemas.microsoft.com/office/drawing/2014/main" id="{064C6E15-A619-43F8-A4EC-E4EC3AB9E958}"/>
              </a:ext>
            </a:extLst>
          </p:cNvPr>
          <p:cNvSpPr/>
          <p:nvPr/>
        </p:nvSpPr>
        <p:spPr>
          <a:xfrm>
            <a:off x="412955" y="1206500"/>
            <a:ext cx="6318045" cy="495300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40BCE00B-B5FA-703C-9E7A-68FB21B828C6}"/>
              </a:ext>
            </a:extLst>
          </p:cNvPr>
          <p:cNvSpPr txBox="1"/>
          <p:nvPr/>
        </p:nvSpPr>
        <p:spPr>
          <a:xfrm>
            <a:off x="863600" y="1358900"/>
            <a:ext cx="5638800" cy="215444"/>
          </a:xfrm>
          <a:prstGeom prst="rect">
            <a:avLst/>
          </a:prstGeom>
          <a:noFill/>
        </p:spPr>
        <p:txBody>
          <a:bodyPr vert="horz" lIns="0" tIns="0" rtlCol="0">
            <a:spAutoFit/>
          </a:bodyPr>
          <a:lstStyle/>
          <a:p>
            <a:r>
              <a:rPr lang="en-IN" sz="1100" b="1">
                <a:solidFill>
                  <a:srgbClr val="2563EB"/>
                </a:solidFill>
                <a:latin typeface="Calibri" panose="020F0502020204030204" pitchFamily="34" charset="0"/>
              </a:rPr>
              <a:t>BARE-METAL FIRMWARE CONSTRAINTS</a:t>
            </a:r>
          </a:p>
        </p:txBody>
      </p:sp>
      <p:sp>
        <p:nvSpPr>
          <p:cNvPr id="10" name="TextBox 9">
            <a:extLst>
              <a:ext uri="{FF2B5EF4-FFF2-40B4-BE49-F238E27FC236}">
                <a16:creationId xmlns:a16="http://schemas.microsoft.com/office/drawing/2014/main" id="{DB619006-EB1D-DB14-2D19-D75861F1C996}"/>
              </a:ext>
            </a:extLst>
          </p:cNvPr>
          <p:cNvSpPr txBox="1"/>
          <p:nvPr/>
        </p:nvSpPr>
        <p:spPr>
          <a:xfrm>
            <a:off x="863600" y="1714500"/>
            <a:ext cx="5638800" cy="4355038"/>
          </a:xfrm>
          <a:prstGeom prst="rect">
            <a:avLst/>
          </a:prstGeom>
          <a:noFill/>
        </p:spPr>
        <p:txBody>
          <a:bodyPr vert="horz" wrap="square" lIns="0" tIns="0" rtlCol="0">
            <a:spAutoFit/>
          </a:bodyPr>
          <a:lstStyle/>
          <a:p>
            <a:r>
              <a:rPr lang="en-IN" sz="2000">
                <a:solidFill>
                  <a:srgbClr val="1F2937"/>
                </a:solidFill>
                <a:latin typeface="Calibri" panose="020F0502020204030204" pitchFamily="34" charset="0"/>
              </a:rPr>
              <a:t>-  Integrating post-quantum signatures presents severe engineering challenges.</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Bootloaders mandate zero dynamic memory allocation calls.</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Cryptographic verification runs within static SRAM buffers.</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Automotive and industrial systems demand low latency.</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Bridges theoretical standards and production firmware implementations.</a:t>
            </a:r>
          </a:p>
        </p:txBody>
      </p:sp>
      <p:sp>
        <p:nvSpPr>
          <p:cNvPr id="11" name="Rectangle: Rounded Corners 10">
            <a:extLst>
              <a:ext uri="{FF2B5EF4-FFF2-40B4-BE49-F238E27FC236}">
                <a16:creationId xmlns:a16="http://schemas.microsoft.com/office/drawing/2014/main" id="{9E145919-5D74-0A4D-D9EA-39444469907B}"/>
              </a:ext>
            </a:extLst>
          </p:cNvPr>
          <p:cNvSpPr/>
          <p:nvPr/>
        </p:nvSpPr>
        <p:spPr>
          <a:xfrm>
            <a:off x="6813755" y="1206500"/>
            <a:ext cx="4965290" cy="4952996"/>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243B643B-594C-5257-A55A-B612E2F3E9B0}"/>
              </a:ext>
            </a:extLst>
          </p:cNvPr>
          <p:cNvSpPr txBox="1"/>
          <p:nvPr/>
        </p:nvSpPr>
        <p:spPr>
          <a:xfrm>
            <a:off x="7112000" y="1358900"/>
            <a:ext cx="4254500" cy="215444"/>
          </a:xfrm>
          <a:prstGeom prst="rect">
            <a:avLst/>
          </a:prstGeom>
          <a:noFill/>
        </p:spPr>
        <p:txBody>
          <a:bodyPr vert="horz" lIns="0" tIns="0" rtlCol="0">
            <a:spAutoFit/>
          </a:bodyPr>
          <a:lstStyle/>
          <a:p>
            <a:r>
              <a:rPr lang="en-US" sz="1100" b="1">
                <a:solidFill>
                  <a:srgbClr val="2563EB"/>
                </a:solidFill>
                <a:latin typeface="Calibri" panose="020F0502020204030204" pitchFamily="34" charset="0"/>
              </a:rPr>
              <a:t>EMBEDDED PQC RESOURCE BUDGET COMPARISON</a:t>
            </a:r>
            <a:endParaRPr lang="en-IN" sz="1100" b="1">
              <a:solidFill>
                <a:srgbClr val="2563EB"/>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8FB5C86C-D3D9-7127-550F-FF2A082BDB38}"/>
              </a:ext>
            </a:extLst>
          </p:cNvPr>
          <p:cNvSpPr/>
          <p:nvPr/>
        </p:nvSpPr>
        <p:spPr>
          <a:xfrm>
            <a:off x="7048500" y="1676400"/>
            <a:ext cx="4381500" cy="990600"/>
          </a:xfrm>
          <a:prstGeom prst="roundRect">
            <a:avLst/>
          </a:prstGeom>
          <a:solidFill>
            <a:srgbClr val="FFFFFF"/>
          </a:solidFill>
          <a:ln w="1270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B702C372-0161-15A6-4285-3E73FF19FBA6}"/>
              </a:ext>
            </a:extLst>
          </p:cNvPr>
          <p:cNvSpPr txBox="1"/>
          <p:nvPr/>
        </p:nvSpPr>
        <p:spPr>
          <a:xfrm>
            <a:off x="7175500" y="1727200"/>
            <a:ext cx="2476500" cy="215444"/>
          </a:xfrm>
          <a:prstGeom prst="rect">
            <a:avLst/>
          </a:prstGeom>
          <a:noFill/>
        </p:spPr>
        <p:txBody>
          <a:bodyPr vert="horz" lIns="0" tIns="0" rtlCol="0">
            <a:spAutoFit/>
          </a:bodyPr>
          <a:lstStyle/>
          <a:p>
            <a:r>
              <a:rPr lang="en-IN" sz="1100" b="1">
                <a:solidFill>
                  <a:srgbClr val="0F2942"/>
                </a:solidFill>
                <a:latin typeface="Calibri" panose="020F0502020204030204" pitchFamily="34" charset="0"/>
              </a:rPr>
              <a:t>ECDSA P-256 (Classical Baseline)</a:t>
            </a:r>
          </a:p>
        </p:txBody>
      </p:sp>
      <p:sp>
        <p:nvSpPr>
          <p:cNvPr id="15" name="Rectangle: Rounded Corners 14">
            <a:extLst>
              <a:ext uri="{FF2B5EF4-FFF2-40B4-BE49-F238E27FC236}">
                <a16:creationId xmlns:a16="http://schemas.microsoft.com/office/drawing/2014/main" id="{6270AE3C-10E6-8667-EDF3-DBD51AC47D75}"/>
              </a:ext>
            </a:extLst>
          </p:cNvPr>
          <p:cNvSpPr/>
          <p:nvPr/>
        </p:nvSpPr>
        <p:spPr>
          <a:xfrm>
            <a:off x="9626600" y="1727200"/>
            <a:ext cx="1701800" cy="228600"/>
          </a:xfrm>
          <a:prstGeom prst="roundRect">
            <a:avLst/>
          </a:prstGeom>
          <a:solidFill>
            <a:srgbClr val="E0F2F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4211AB0A-0F02-3202-EA16-37FDCA6121C7}"/>
              </a:ext>
            </a:extLst>
          </p:cNvPr>
          <p:cNvSpPr txBox="1"/>
          <p:nvPr/>
        </p:nvSpPr>
        <p:spPr>
          <a:xfrm>
            <a:off x="9626600" y="1727200"/>
            <a:ext cx="1701800" cy="169277"/>
          </a:xfrm>
          <a:prstGeom prst="rect">
            <a:avLst/>
          </a:prstGeom>
          <a:noFill/>
        </p:spPr>
        <p:txBody>
          <a:bodyPr vert="horz" lIns="0" tIns="0" rtlCol="0">
            <a:spAutoFit/>
          </a:bodyPr>
          <a:lstStyle/>
          <a:p>
            <a:pPr algn="ctr"/>
            <a:r>
              <a:rPr lang="en-IN" sz="800" b="1">
                <a:solidFill>
                  <a:srgbClr val="0369A1"/>
                </a:solidFill>
                <a:latin typeface="Calibri" panose="020F0502020204030204" pitchFamily="34" charset="0"/>
              </a:rPr>
              <a:t>CLASSICAL BASELINE</a:t>
            </a:r>
          </a:p>
        </p:txBody>
      </p:sp>
      <p:sp>
        <p:nvSpPr>
          <p:cNvPr id="17" name="TextBox 16">
            <a:extLst>
              <a:ext uri="{FF2B5EF4-FFF2-40B4-BE49-F238E27FC236}">
                <a16:creationId xmlns:a16="http://schemas.microsoft.com/office/drawing/2014/main" id="{1EA0CFF6-4645-6A84-1E41-945CFF217672}"/>
              </a:ext>
            </a:extLst>
          </p:cNvPr>
          <p:cNvSpPr txBox="1"/>
          <p:nvPr/>
        </p:nvSpPr>
        <p:spPr>
          <a:xfrm>
            <a:off x="7175500" y="1981200"/>
            <a:ext cx="4127500" cy="461665"/>
          </a:xfrm>
          <a:prstGeom prst="rect">
            <a:avLst/>
          </a:prstGeom>
          <a:noFill/>
        </p:spPr>
        <p:txBody>
          <a:bodyPr vert="horz" wrap="square" lIns="0" tIns="0" rtlCol="0">
            <a:spAutoFit/>
          </a:bodyPr>
          <a:lstStyle/>
          <a:p>
            <a:r>
              <a:rPr lang="en-US" sz="900">
                <a:solidFill>
                  <a:srgbClr val="1F2937"/>
                </a:solidFill>
                <a:latin typeface="Calibri" panose="020F0502020204030204" pitchFamily="34" charset="0"/>
              </a:rPr>
              <a:t>Signature Size: 64 Bytes | Public Key: 64 Bytes</a:t>
            </a:r>
          </a:p>
          <a:p>
            <a:r>
              <a:rPr lang="en-US" sz="900">
                <a:solidFill>
                  <a:srgbClr val="1F2937"/>
                </a:solidFill>
                <a:latin typeface="Calibri" panose="020F0502020204030204" pitchFamily="34" charset="0"/>
              </a:rPr>
              <a:t>Stack RAM Need: &lt; 1.0 KB | Latency: ~2 to 4 ms</a:t>
            </a:r>
          </a:p>
          <a:p>
            <a:r>
              <a:rPr lang="en-US" sz="900">
                <a:solidFill>
                  <a:srgbClr val="1F2937"/>
                </a:solidFill>
                <a:latin typeface="Calibri" panose="020F0502020204030204" pitchFamily="34" charset="0"/>
              </a:rPr>
              <a:t>Assessment: Minimal memory; fatally vulnerable to quantum</a:t>
            </a:r>
            <a:endParaRPr lang="en-IN" sz="900">
              <a:solidFill>
                <a:srgbClr val="1F2937"/>
              </a:solidFill>
              <a:latin typeface="Calibri" panose="020F0502020204030204" pitchFamily="34" charset="0"/>
            </a:endParaRPr>
          </a:p>
        </p:txBody>
      </p:sp>
      <p:sp>
        <p:nvSpPr>
          <p:cNvPr id="18" name="Rectangle: Rounded Corners 17">
            <a:extLst>
              <a:ext uri="{FF2B5EF4-FFF2-40B4-BE49-F238E27FC236}">
                <a16:creationId xmlns:a16="http://schemas.microsoft.com/office/drawing/2014/main" id="{F89748C2-AFE6-50F2-28F1-B0A344856A14}"/>
              </a:ext>
            </a:extLst>
          </p:cNvPr>
          <p:cNvSpPr/>
          <p:nvPr/>
        </p:nvSpPr>
        <p:spPr>
          <a:xfrm>
            <a:off x="7048500" y="2768600"/>
            <a:ext cx="4381500" cy="990600"/>
          </a:xfrm>
          <a:prstGeom prst="roundRect">
            <a:avLst/>
          </a:prstGeom>
          <a:solidFill>
            <a:srgbClr val="FFFFFF"/>
          </a:solidFill>
          <a:ln w="1270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A8B43F22-FAF6-0863-3331-20D084A0F5BF}"/>
              </a:ext>
            </a:extLst>
          </p:cNvPr>
          <p:cNvSpPr txBox="1"/>
          <p:nvPr/>
        </p:nvSpPr>
        <p:spPr>
          <a:xfrm>
            <a:off x="7175500" y="2819400"/>
            <a:ext cx="2476500" cy="215444"/>
          </a:xfrm>
          <a:prstGeom prst="rect">
            <a:avLst/>
          </a:prstGeom>
          <a:noFill/>
        </p:spPr>
        <p:txBody>
          <a:bodyPr vert="horz" lIns="0" tIns="0" rtlCol="0">
            <a:spAutoFit/>
          </a:bodyPr>
          <a:lstStyle/>
          <a:p>
            <a:r>
              <a:rPr lang="en-US" sz="1100" b="1">
                <a:solidFill>
                  <a:srgbClr val="0F2942"/>
                </a:solidFill>
                <a:latin typeface="Calibri" panose="020F0502020204030204" pitchFamily="34" charset="0"/>
              </a:rPr>
              <a:t>LMS (RFC 8554 Stateful Hash)</a:t>
            </a:r>
            <a:endParaRPr lang="en-IN" sz="1100" b="1">
              <a:solidFill>
                <a:srgbClr val="0F2942"/>
              </a:solidFill>
              <a:latin typeface="Calibri" panose="020F0502020204030204" pitchFamily="34" charset="0"/>
            </a:endParaRPr>
          </a:p>
        </p:txBody>
      </p:sp>
      <p:sp>
        <p:nvSpPr>
          <p:cNvPr id="20" name="Rectangle: Rounded Corners 19">
            <a:extLst>
              <a:ext uri="{FF2B5EF4-FFF2-40B4-BE49-F238E27FC236}">
                <a16:creationId xmlns:a16="http://schemas.microsoft.com/office/drawing/2014/main" id="{236C3F74-5EB0-6DD7-26EA-83EE6667064B}"/>
              </a:ext>
            </a:extLst>
          </p:cNvPr>
          <p:cNvSpPr/>
          <p:nvPr/>
        </p:nvSpPr>
        <p:spPr>
          <a:xfrm>
            <a:off x="9626600" y="2819400"/>
            <a:ext cx="1701800" cy="228600"/>
          </a:xfrm>
          <a:prstGeom prst="roundRect">
            <a:avLst/>
          </a:prstGeom>
          <a:solidFill>
            <a:srgbClr val="DCFC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0F8C7404-B634-F534-E0D3-2033813E4246}"/>
              </a:ext>
            </a:extLst>
          </p:cNvPr>
          <p:cNvSpPr txBox="1"/>
          <p:nvPr/>
        </p:nvSpPr>
        <p:spPr>
          <a:xfrm>
            <a:off x="9626600" y="2819400"/>
            <a:ext cx="1701800" cy="169277"/>
          </a:xfrm>
          <a:prstGeom prst="rect">
            <a:avLst/>
          </a:prstGeom>
          <a:noFill/>
        </p:spPr>
        <p:txBody>
          <a:bodyPr vert="horz" lIns="0" tIns="0" rtlCol="0">
            <a:spAutoFit/>
          </a:bodyPr>
          <a:lstStyle/>
          <a:p>
            <a:pPr algn="ctr"/>
            <a:r>
              <a:rPr lang="en-IN" sz="800" b="1">
                <a:solidFill>
                  <a:srgbClr val="166534"/>
                </a:solidFill>
                <a:latin typeface="Calibri" panose="020F0502020204030204" pitchFamily="34" charset="0"/>
              </a:rPr>
              <a:t>FASTEST PQC VERIFY</a:t>
            </a:r>
          </a:p>
        </p:txBody>
      </p:sp>
      <p:sp>
        <p:nvSpPr>
          <p:cNvPr id="22" name="TextBox 21">
            <a:extLst>
              <a:ext uri="{FF2B5EF4-FFF2-40B4-BE49-F238E27FC236}">
                <a16:creationId xmlns:a16="http://schemas.microsoft.com/office/drawing/2014/main" id="{6A878771-BEBE-8844-8CD1-ADD95317895A}"/>
              </a:ext>
            </a:extLst>
          </p:cNvPr>
          <p:cNvSpPr txBox="1"/>
          <p:nvPr/>
        </p:nvSpPr>
        <p:spPr>
          <a:xfrm>
            <a:off x="7175500" y="3073400"/>
            <a:ext cx="4127500" cy="461665"/>
          </a:xfrm>
          <a:prstGeom prst="rect">
            <a:avLst/>
          </a:prstGeom>
          <a:noFill/>
        </p:spPr>
        <p:txBody>
          <a:bodyPr vert="horz" wrap="square" lIns="0" tIns="0" rtlCol="0">
            <a:spAutoFit/>
          </a:bodyPr>
          <a:lstStyle/>
          <a:p>
            <a:r>
              <a:rPr lang="en-IN" sz="900">
                <a:solidFill>
                  <a:srgbClr val="1F2937"/>
                </a:solidFill>
                <a:latin typeface="Calibri" panose="020F0502020204030204" pitchFamily="34" charset="0"/>
              </a:rPr>
              <a:t>Signature Size: ~2.5 KB | Public Key: 56 Bytes</a:t>
            </a:r>
          </a:p>
          <a:p>
            <a:r>
              <a:rPr lang="en-IN" sz="900">
                <a:solidFill>
                  <a:srgbClr val="1F2937"/>
                </a:solidFill>
                <a:latin typeface="Calibri" panose="020F0502020204030204" pitchFamily="34" charset="0"/>
              </a:rPr>
              <a:t>Stack RAM Need: &lt; 2.0 KB | Latency: &lt; 3.5 ms</a:t>
            </a:r>
          </a:p>
          <a:p>
            <a:r>
              <a:rPr lang="en-IN" sz="900">
                <a:solidFill>
                  <a:srgbClr val="1F2937"/>
                </a:solidFill>
                <a:latin typeface="Calibri" panose="020F0502020204030204" pitchFamily="34" charset="0"/>
              </a:rPr>
              <a:t>Assessment: Ultra-fast verification; ideal for Stage-0 Mask ROM</a:t>
            </a:r>
          </a:p>
        </p:txBody>
      </p:sp>
      <p:sp>
        <p:nvSpPr>
          <p:cNvPr id="23" name="Rectangle: Rounded Corners 22">
            <a:extLst>
              <a:ext uri="{FF2B5EF4-FFF2-40B4-BE49-F238E27FC236}">
                <a16:creationId xmlns:a16="http://schemas.microsoft.com/office/drawing/2014/main" id="{28FD50CD-042A-CF49-5706-5D21E634951E}"/>
              </a:ext>
            </a:extLst>
          </p:cNvPr>
          <p:cNvSpPr/>
          <p:nvPr/>
        </p:nvSpPr>
        <p:spPr>
          <a:xfrm>
            <a:off x="7048500" y="3860800"/>
            <a:ext cx="4381500" cy="990600"/>
          </a:xfrm>
          <a:prstGeom prst="roundRect">
            <a:avLst/>
          </a:prstGeom>
          <a:solidFill>
            <a:srgbClr val="FFFFFF"/>
          </a:solidFill>
          <a:ln w="1270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9050BDE9-9F52-3A4F-51E3-3969ABCF9D8C}"/>
              </a:ext>
            </a:extLst>
          </p:cNvPr>
          <p:cNvSpPr txBox="1"/>
          <p:nvPr/>
        </p:nvSpPr>
        <p:spPr>
          <a:xfrm>
            <a:off x="7175500" y="3911600"/>
            <a:ext cx="2476500" cy="215444"/>
          </a:xfrm>
          <a:prstGeom prst="rect">
            <a:avLst/>
          </a:prstGeom>
          <a:noFill/>
        </p:spPr>
        <p:txBody>
          <a:bodyPr vert="horz" lIns="0" tIns="0" rtlCol="0">
            <a:spAutoFit/>
          </a:bodyPr>
          <a:lstStyle/>
          <a:p>
            <a:r>
              <a:rPr lang="en-IN" sz="1100" b="1">
                <a:solidFill>
                  <a:srgbClr val="0F2942"/>
                </a:solidFill>
                <a:latin typeface="Calibri" panose="020F0502020204030204" pitchFamily="34" charset="0"/>
              </a:rPr>
              <a:t>ML-DSA-44 (NIST FIPS 204)</a:t>
            </a:r>
          </a:p>
        </p:txBody>
      </p:sp>
      <p:sp>
        <p:nvSpPr>
          <p:cNvPr id="25" name="Rectangle: Rounded Corners 24">
            <a:extLst>
              <a:ext uri="{FF2B5EF4-FFF2-40B4-BE49-F238E27FC236}">
                <a16:creationId xmlns:a16="http://schemas.microsoft.com/office/drawing/2014/main" id="{FDB5797B-35BB-056C-0915-356D69E61C25}"/>
              </a:ext>
            </a:extLst>
          </p:cNvPr>
          <p:cNvSpPr/>
          <p:nvPr/>
        </p:nvSpPr>
        <p:spPr>
          <a:xfrm>
            <a:off x="9626600" y="3911600"/>
            <a:ext cx="1701800" cy="228600"/>
          </a:xfrm>
          <a:prstGeom prst="roundRect">
            <a:avLst/>
          </a:prstGeom>
          <a:solidFill>
            <a:srgbClr val="DCFC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14725B31-CF81-CE45-DCE7-DD89DCD3653C}"/>
              </a:ext>
            </a:extLst>
          </p:cNvPr>
          <p:cNvSpPr txBox="1"/>
          <p:nvPr/>
        </p:nvSpPr>
        <p:spPr>
          <a:xfrm>
            <a:off x="9626600" y="3911600"/>
            <a:ext cx="1701800" cy="169277"/>
          </a:xfrm>
          <a:prstGeom prst="rect">
            <a:avLst/>
          </a:prstGeom>
          <a:noFill/>
        </p:spPr>
        <p:txBody>
          <a:bodyPr vert="horz" lIns="0" tIns="0" rtlCol="0">
            <a:spAutoFit/>
          </a:bodyPr>
          <a:lstStyle/>
          <a:p>
            <a:pPr algn="ctr"/>
            <a:r>
              <a:rPr lang="en-IN" sz="800" b="1">
                <a:solidFill>
                  <a:srgbClr val="166534"/>
                </a:solidFill>
                <a:latin typeface="Calibri" panose="020F0502020204030204" pitchFamily="34" charset="0"/>
              </a:rPr>
              <a:t>OPTIMAL EMBEDDED FIT</a:t>
            </a:r>
          </a:p>
        </p:txBody>
      </p:sp>
      <p:sp>
        <p:nvSpPr>
          <p:cNvPr id="27" name="TextBox 26">
            <a:extLst>
              <a:ext uri="{FF2B5EF4-FFF2-40B4-BE49-F238E27FC236}">
                <a16:creationId xmlns:a16="http://schemas.microsoft.com/office/drawing/2014/main" id="{0C70B26E-08D0-6926-0CA5-526268A976B6}"/>
              </a:ext>
            </a:extLst>
          </p:cNvPr>
          <p:cNvSpPr txBox="1"/>
          <p:nvPr/>
        </p:nvSpPr>
        <p:spPr>
          <a:xfrm>
            <a:off x="7175500" y="4165600"/>
            <a:ext cx="4127500" cy="461665"/>
          </a:xfrm>
          <a:prstGeom prst="rect">
            <a:avLst/>
          </a:prstGeom>
          <a:noFill/>
        </p:spPr>
        <p:txBody>
          <a:bodyPr vert="horz" wrap="square" lIns="0" tIns="0" rtlCol="0">
            <a:spAutoFit/>
          </a:bodyPr>
          <a:lstStyle/>
          <a:p>
            <a:r>
              <a:rPr lang="en-IN" sz="900">
                <a:solidFill>
                  <a:srgbClr val="1F2937"/>
                </a:solidFill>
                <a:latin typeface="Calibri" panose="020F0502020204030204" pitchFamily="34" charset="0"/>
              </a:rPr>
              <a:t>Signature Size: 2,420 Bytes | Public Key: 1,312 Bytes</a:t>
            </a:r>
          </a:p>
          <a:p>
            <a:r>
              <a:rPr lang="en-IN" sz="900">
                <a:solidFill>
                  <a:srgbClr val="1F2937"/>
                </a:solidFill>
                <a:latin typeface="Calibri" panose="020F0502020204030204" pitchFamily="34" charset="0"/>
              </a:rPr>
              <a:t>Stack RAM Need: ~3.5 KB | Latency: ~8 to 15 ms</a:t>
            </a:r>
          </a:p>
          <a:p>
            <a:r>
              <a:rPr lang="en-IN" sz="900">
                <a:solidFill>
                  <a:srgbClr val="1F2937"/>
                </a:solidFill>
                <a:latin typeface="Calibri" panose="020F0502020204030204" pitchFamily="34" charset="0"/>
              </a:rPr>
              <a:t>Assessment: Optimal general-purpose fit for MCUboot &amp; U-Boot</a:t>
            </a:r>
          </a:p>
        </p:txBody>
      </p:sp>
      <p:sp>
        <p:nvSpPr>
          <p:cNvPr id="28" name="Rectangle: Rounded Corners 27">
            <a:extLst>
              <a:ext uri="{FF2B5EF4-FFF2-40B4-BE49-F238E27FC236}">
                <a16:creationId xmlns:a16="http://schemas.microsoft.com/office/drawing/2014/main" id="{2E1325D0-C9C4-8F7B-3EB7-9FA74C974F19}"/>
              </a:ext>
            </a:extLst>
          </p:cNvPr>
          <p:cNvSpPr/>
          <p:nvPr/>
        </p:nvSpPr>
        <p:spPr>
          <a:xfrm>
            <a:off x="7048500" y="4953000"/>
            <a:ext cx="4381500" cy="990600"/>
          </a:xfrm>
          <a:prstGeom prst="roundRect">
            <a:avLst/>
          </a:prstGeom>
          <a:solidFill>
            <a:srgbClr val="FFFFFF"/>
          </a:solidFill>
          <a:ln w="1270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C823D77D-34B4-974E-AF48-FAB34A8B7A2F}"/>
              </a:ext>
            </a:extLst>
          </p:cNvPr>
          <p:cNvSpPr txBox="1"/>
          <p:nvPr/>
        </p:nvSpPr>
        <p:spPr>
          <a:xfrm>
            <a:off x="7175500" y="5003800"/>
            <a:ext cx="2476500" cy="215444"/>
          </a:xfrm>
          <a:prstGeom prst="rect">
            <a:avLst/>
          </a:prstGeom>
          <a:noFill/>
        </p:spPr>
        <p:txBody>
          <a:bodyPr vert="horz" lIns="0" tIns="0" rtlCol="0">
            <a:spAutoFit/>
          </a:bodyPr>
          <a:lstStyle/>
          <a:p>
            <a:r>
              <a:rPr lang="en-IN" sz="1100" b="1">
                <a:solidFill>
                  <a:srgbClr val="0F2942"/>
                </a:solidFill>
                <a:latin typeface="Calibri" panose="020F0502020204030204" pitchFamily="34" charset="0"/>
              </a:rPr>
              <a:t>SPHINCS+-SHA2-128s (FIPS 205)</a:t>
            </a:r>
          </a:p>
        </p:txBody>
      </p:sp>
      <p:sp>
        <p:nvSpPr>
          <p:cNvPr id="30" name="Rectangle: Rounded Corners 29">
            <a:extLst>
              <a:ext uri="{FF2B5EF4-FFF2-40B4-BE49-F238E27FC236}">
                <a16:creationId xmlns:a16="http://schemas.microsoft.com/office/drawing/2014/main" id="{0673E3B2-AE4D-EC58-F084-07E2EC3FC6B2}"/>
              </a:ext>
            </a:extLst>
          </p:cNvPr>
          <p:cNvSpPr/>
          <p:nvPr/>
        </p:nvSpPr>
        <p:spPr>
          <a:xfrm>
            <a:off x="9626600" y="5003800"/>
            <a:ext cx="1701800" cy="228600"/>
          </a:xfrm>
          <a:prstGeom prst="roundRect">
            <a:avLst/>
          </a:prstGeom>
          <a:solidFill>
            <a:srgbClr val="FEE2E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71A39352-15FF-F01E-D96B-B9C7316B2582}"/>
              </a:ext>
            </a:extLst>
          </p:cNvPr>
          <p:cNvSpPr txBox="1"/>
          <p:nvPr/>
        </p:nvSpPr>
        <p:spPr>
          <a:xfrm>
            <a:off x="9626600" y="5003800"/>
            <a:ext cx="1701800" cy="169277"/>
          </a:xfrm>
          <a:prstGeom prst="rect">
            <a:avLst/>
          </a:prstGeom>
          <a:noFill/>
        </p:spPr>
        <p:txBody>
          <a:bodyPr vert="horz" lIns="0" tIns="0" rtlCol="0">
            <a:spAutoFit/>
          </a:bodyPr>
          <a:lstStyle/>
          <a:p>
            <a:pPr algn="ctr"/>
            <a:r>
              <a:rPr lang="en-IN" sz="800" b="1">
                <a:solidFill>
                  <a:srgbClr val="991B1B"/>
                </a:solidFill>
                <a:latin typeface="Calibri" panose="020F0502020204030204" pitchFamily="34" charset="0"/>
              </a:rPr>
              <a:t>STACK INTENSIVE</a:t>
            </a:r>
          </a:p>
        </p:txBody>
      </p:sp>
      <p:sp>
        <p:nvSpPr>
          <p:cNvPr id="32" name="TextBox 31">
            <a:extLst>
              <a:ext uri="{FF2B5EF4-FFF2-40B4-BE49-F238E27FC236}">
                <a16:creationId xmlns:a16="http://schemas.microsoft.com/office/drawing/2014/main" id="{84694BB0-8FC7-F67F-61A5-25D17798B6A2}"/>
              </a:ext>
            </a:extLst>
          </p:cNvPr>
          <p:cNvSpPr txBox="1"/>
          <p:nvPr/>
        </p:nvSpPr>
        <p:spPr>
          <a:xfrm>
            <a:off x="7175500" y="5257800"/>
            <a:ext cx="4127500" cy="461665"/>
          </a:xfrm>
          <a:prstGeom prst="rect">
            <a:avLst/>
          </a:prstGeom>
          <a:noFill/>
        </p:spPr>
        <p:txBody>
          <a:bodyPr vert="horz" wrap="square" lIns="0" tIns="0" rtlCol="0">
            <a:spAutoFit/>
          </a:bodyPr>
          <a:lstStyle/>
          <a:p>
            <a:r>
              <a:rPr lang="en-US" sz="900">
                <a:solidFill>
                  <a:srgbClr val="1F2937"/>
                </a:solidFill>
                <a:latin typeface="Calibri" panose="020F0502020204030204" pitchFamily="34" charset="0"/>
              </a:rPr>
              <a:t>Signature Size: 7,856 Bytes | Public Key: 32 Bytes</a:t>
            </a:r>
          </a:p>
          <a:p>
            <a:r>
              <a:rPr lang="en-US" sz="900">
                <a:solidFill>
                  <a:srgbClr val="1F2937"/>
                </a:solidFill>
                <a:latin typeface="Calibri" panose="020F0502020204030204" pitchFamily="34" charset="0"/>
              </a:rPr>
              <a:t>Stack RAM Need: &gt; 4.5 KB | Latency: ~40 to 110 ms</a:t>
            </a:r>
          </a:p>
          <a:p>
            <a:r>
              <a:rPr lang="en-US" sz="900">
                <a:solidFill>
                  <a:srgbClr val="1F2937"/>
                </a:solidFill>
                <a:latin typeface="Calibri" panose="020F0502020204030204" pitchFamily="34" charset="0"/>
              </a:rPr>
              <a:t>Assessment: Conservative stateless hash; high stack for MCUs</a:t>
            </a:r>
            <a:endParaRPr lang="en-IN" sz="900">
              <a:solidFill>
                <a:srgbClr val="1F2937"/>
              </a:solidFill>
              <a:latin typeface="Calibri" panose="020F0502020204030204" pitchFamily="34" charset="0"/>
            </a:endParaRPr>
          </a:p>
        </p:txBody>
      </p:sp>
    </p:spTree>
    <p:extLst>
      <p:ext uri="{BB962C8B-B14F-4D97-AF65-F5344CB8AC3E}">
        <p14:creationId xmlns:p14="http://schemas.microsoft.com/office/powerpoint/2010/main" val="1473722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F8B9D37-5F5F-D7EF-458A-D9C2BEE22D8F}"/>
              </a:ext>
            </a:extLst>
          </p:cNvPr>
          <p:cNvSpPr/>
          <p:nvPr/>
        </p:nvSpPr>
        <p:spPr>
          <a:xfrm>
            <a:off x="635000" y="254000"/>
            <a:ext cx="1905000" cy="228600"/>
          </a:xfrm>
          <a:prstGeom prst="roundRect">
            <a:avLst/>
          </a:prstGeom>
          <a:solidFill>
            <a:srgbClr val="EFF6FF"/>
          </a:solidFill>
          <a:ln w="1270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55ABE02-5265-F6E9-F664-0F4A2CFF6065}"/>
              </a:ext>
            </a:extLst>
          </p:cNvPr>
          <p:cNvSpPr txBox="1"/>
          <p:nvPr/>
        </p:nvSpPr>
        <p:spPr>
          <a:xfrm>
            <a:off x="635000" y="254000"/>
            <a:ext cx="1905000" cy="184666"/>
          </a:xfrm>
          <a:prstGeom prst="rect">
            <a:avLst/>
          </a:prstGeom>
          <a:noFill/>
        </p:spPr>
        <p:txBody>
          <a:bodyPr vert="horz" lIns="0" tIns="0" rtlCol="0">
            <a:spAutoFit/>
          </a:bodyPr>
          <a:lstStyle/>
          <a:p>
            <a:pPr algn="ctr"/>
            <a:r>
              <a:rPr lang="en-IN" sz="900" b="1">
                <a:solidFill>
                  <a:srgbClr val="2563EB"/>
                </a:solidFill>
                <a:latin typeface="Calibri" panose="020F0502020204030204" pitchFamily="34" charset="0"/>
              </a:rPr>
              <a:t>3. OBJECTIVES</a:t>
            </a:r>
          </a:p>
        </p:txBody>
      </p:sp>
      <p:sp>
        <p:nvSpPr>
          <p:cNvPr id="4" name="TextBox 3">
            <a:extLst>
              <a:ext uri="{FF2B5EF4-FFF2-40B4-BE49-F238E27FC236}">
                <a16:creationId xmlns:a16="http://schemas.microsoft.com/office/drawing/2014/main" id="{B8C2323C-E3EB-632D-1E1E-7F03E722223A}"/>
              </a:ext>
            </a:extLst>
          </p:cNvPr>
          <p:cNvSpPr txBox="1"/>
          <p:nvPr/>
        </p:nvSpPr>
        <p:spPr>
          <a:xfrm>
            <a:off x="635000" y="533400"/>
            <a:ext cx="10922000" cy="384721"/>
          </a:xfrm>
          <a:prstGeom prst="rect">
            <a:avLst/>
          </a:prstGeom>
          <a:noFill/>
        </p:spPr>
        <p:txBody>
          <a:bodyPr vert="horz" lIns="0" tIns="0" rtlCol="0">
            <a:spAutoFit/>
          </a:bodyPr>
          <a:lstStyle/>
          <a:p>
            <a:r>
              <a:rPr lang="en-IN" sz="2200" b="1">
                <a:solidFill>
                  <a:srgbClr val="0F2942"/>
                </a:solidFill>
                <a:latin typeface="Calibri" panose="020F0502020204030204" pitchFamily="34" charset="0"/>
              </a:rPr>
              <a:t>Objectives of the Dissertation</a:t>
            </a:r>
          </a:p>
        </p:txBody>
      </p:sp>
      <p:cxnSp>
        <p:nvCxnSpPr>
          <p:cNvPr id="5" name="Straight Connector 4">
            <a:extLst>
              <a:ext uri="{FF2B5EF4-FFF2-40B4-BE49-F238E27FC236}">
                <a16:creationId xmlns:a16="http://schemas.microsoft.com/office/drawing/2014/main" id="{DB21E47D-D592-C3D0-D0EF-9DDEE46230D9}"/>
              </a:ext>
            </a:extLst>
          </p:cNvPr>
          <p:cNvCxnSpPr/>
          <p:nvPr/>
        </p:nvCxnSpPr>
        <p:spPr>
          <a:xfrm>
            <a:off x="635000" y="1016000"/>
            <a:ext cx="10922000" cy="0"/>
          </a:xfrm>
          <a:prstGeom prst="line">
            <a:avLst/>
          </a:prstGeom>
          <a:ln w="12700">
            <a:solidFill>
              <a:srgbClr val="D1D9E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75A292A-A27F-0EE0-FBC8-DA3484535C40}"/>
              </a:ext>
            </a:extLst>
          </p:cNvPr>
          <p:cNvSpPr txBox="1"/>
          <p:nvPr/>
        </p:nvSpPr>
        <p:spPr>
          <a:xfrm>
            <a:off x="635000" y="6413500"/>
            <a:ext cx="10922000" cy="184666"/>
          </a:xfrm>
          <a:prstGeom prst="rect">
            <a:avLst/>
          </a:prstGeom>
          <a:noFill/>
        </p:spPr>
        <p:txBody>
          <a:bodyPr vert="horz" lIns="0" tIns="0" rtlCol="0">
            <a:spAutoFit/>
          </a:bodyPr>
          <a:lstStyle/>
          <a:p>
            <a:r>
              <a:rPr lang="en-IN" sz="900">
                <a:solidFill>
                  <a:srgbClr val="6B7280"/>
                </a:solidFill>
                <a:latin typeface="Calibri" panose="020F0502020204030204" pitchFamily="34" charset="0"/>
              </a:rPr>
              <a:t>BITS Pilani (WILP) | ESZG628T Dissertation Outline | Kiruthik Prakash J (2024HT01586) | Qualcomm India</a:t>
            </a:r>
          </a:p>
        </p:txBody>
      </p:sp>
      <p:sp>
        <p:nvSpPr>
          <p:cNvPr id="7" name="TextBox 6">
            <a:extLst>
              <a:ext uri="{FF2B5EF4-FFF2-40B4-BE49-F238E27FC236}">
                <a16:creationId xmlns:a16="http://schemas.microsoft.com/office/drawing/2014/main" id="{D5A07F90-E403-C66C-BFB3-95D18A5B0C40}"/>
              </a:ext>
            </a:extLst>
          </p:cNvPr>
          <p:cNvSpPr txBox="1"/>
          <p:nvPr/>
        </p:nvSpPr>
        <p:spPr>
          <a:xfrm>
            <a:off x="10668000" y="6413500"/>
            <a:ext cx="889000" cy="184666"/>
          </a:xfrm>
          <a:prstGeom prst="rect">
            <a:avLst/>
          </a:prstGeom>
          <a:noFill/>
        </p:spPr>
        <p:txBody>
          <a:bodyPr vert="horz" lIns="0" tIns="0" rtlCol="0">
            <a:spAutoFit/>
          </a:bodyPr>
          <a:lstStyle/>
          <a:p>
            <a:pPr algn="r"/>
            <a:r>
              <a:rPr lang="en-IN" sz="900" b="1">
                <a:solidFill>
                  <a:srgbClr val="2563EB"/>
                </a:solidFill>
                <a:latin typeface="Calibri" panose="020F0502020204030204" pitchFamily="34" charset="0"/>
              </a:rPr>
              <a:t>Slide 5 / 12</a:t>
            </a:r>
          </a:p>
        </p:txBody>
      </p:sp>
      <p:sp>
        <p:nvSpPr>
          <p:cNvPr id="8" name="Rectangle: Rounded Corners 7">
            <a:extLst>
              <a:ext uri="{FF2B5EF4-FFF2-40B4-BE49-F238E27FC236}">
                <a16:creationId xmlns:a16="http://schemas.microsoft.com/office/drawing/2014/main" id="{9801B332-8322-94C7-C2CE-82446027C0F6}"/>
              </a:ext>
            </a:extLst>
          </p:cNvPr>
          <p:cNvSpPr/>
          <p:nvPr/>
        </p:nvSpPr>
        <p:spPr>
          <a:xfrm>
            <a:off x="403123" y="1206500"/>
            <a:ext cx="6327877" cy="495300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62D06923-A8B5-EEB4-1E8B-CA25B4377809}"/>
              </a:ext>
            </a:extLst>
          </p:cNvPr>
          <p:cNvSpPr txBox="1"/>
          <p:nvPr/>
        </p:nvSpPr>
        <p:spPr>
          <a:xfrm>
            <a:off x="863600" y="1358900"/>
            <a:ext cx="5638800" cy="215444"/>
          </a:xfrm>
          <a:prstGeom prst="rect">
            <a:avLst/>
          </a:prstGeom>
          <a:noFill/>
        </p:spPr>
        <p:txBody>
          <a:bodyPr vert="horz" lIns="0" tIns="0" rtlCol="0">
            <a:spAutoFit/>
          </a:bodyPr>
          <a:lstStyle/>
          <a:p>
            <a:r>
              <a:rPr lang="en-IN" sz="1100" b="1">
                <a:solidFill>
                  <a:srgbClr val="2563EB"/>
                </a:solidFill>
                <a:latin typeface="Calibri" panose="020F0502020204030204" pitchFamily="34" charset="0"/>
              </a:rPr>
              <a:t>DISSERTATION RESEARCH OBJECTIVES</a:t>
            </a:r>
          </a:p>
        </p:txBody>
      </p:sp>
      <p:sp>
        <p:nvSpPr>
          <p:cNvPr id="10" name="TextBox 9">
            <a:extLst>
              <a:ext uri="{FF2B5EF4-FFF2-40B4-BE49-F238E27FC236}">
                <a16:creationId xmlns:a16="http://schemas.microsoft.com/office/drawing/2014/main" id="{E1CCD163-4BCB-BECA-F84F-2154D60E507B}"/>
              </a:ext>
            </a:extLst>
          </p:cNvPr>
          <p:cNvSpPr txBox="1"/>
          <p:nvPr/>
        </p:nvSpPr>
        <p:spPr>
          <a:xfrm>
            <a:off x="863600" y="1714500"/>
            <a:ext cx="5638800" cy="4047262"/>
          </a:xfrm>
          <a:prstGeom prst="rect">
            <a:avLst/>
          </a:prstGeom>
          <a:noFill/>
        </p:spPr>
        <p:txBody>
          <a:bodyPr vert="horz" wrap="square" lIns="0" tIns="0" rtlCol="0">
            <a:spAutoFit/>
          </a:bodyPr>
          <a:lstStyle/>
          <a:p>
            <a:r>
              <a:rPr lang="en-IN" sz="2000">
                <a:solidFill>
                  <a:srgbClr val="1F2937"/>
                </a:solidFill>
                <a:latin typeface="Calibri" panose="020F0502020204030204" pitchFamily="34" charset="0"/>
              </a:rPr>
              <a:t>-  Design zero-malloc static-stack C post-quantum verification library.</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Verify NIST ML-DSA-44, SPHINCS+, and LMS algorithms.</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Integrate PQC parsers across diverse bootloader frameworks.</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Extend firmware signing tools with custom headers.</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Establish multi-architecture validation setups using QEMU emulation.</a:t>
            </a:r>
          </a:p>
        </p:txBody>
      </p:sp>
      <p:sp>
        <p:nvSpPr>
          <p:cNvPr id="11" name="Rectangle: Rounded Corners 10">
            <a:extLst>
              <a:ext uri="{FF2B5EF4-FFF2-40B4-BE49-F238E27FC236}">
                <a16:creationId xmlns:a16="http://schemas.microsoft.com/office/drawing/2014/main" id="{7F495487-08BF-118D-FFB1-5A003D746E3C}"/>
              </a:ext>
            </a:extLst>
          </p:cNvPr>
          <p:cNvSpPr/>
          <p:nvPr/>
        </p:nvSpPr>
        <p:spPr>
          <a:xfrm>
            <a:off x="6823587" y="1206500"/>
            <a:ext cx="4733413" cy="495300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D955D55F-9A0C-D927-77B0-66119448C4E8}"/>
              </a:ext>
            </a:extLst>
          </p:cNvPr>
          <p:cNvSpPr txBox="1"/>
          <p:nvPr/>
        </p:nvSpPr>
        <p:spPr>
          <a:xfrm>
            <a:off x="7112000" y="1358900"/>
            <a:ext cx="4254500" cy="215444"/>
          </a:xfrm>
          <a:prstGeom prst="rect">
            <a:avLst/>
          </a:prstGeom>
          <a:noFill/>
        </p:spPr>
        <p:txBody>
          <a:bodyPr vert="horz" lIns="0" tIns="0" rtlCol="0">
            <a:spAutoFit/>
          </a:bodyPr>
          <a:lstStyle/>
          <a:p>
            <a:r>
              <a:rPr lang="en-IN" sz="1100" b="1">
                <a:solidFill>
                  <a:srgbClr val="2563EB"/>
                </a:solidFill>
                <a:latin typeface="Calibri" panose="020F0502020204030204" pitchFamily="34" charset="0"/>
              </a:rPr>
              <a:t>SYSTEMATIC OBJECTIVES EXECUTION PIPELINE</a:t>
            </a:r>
          </a:p>
        </p:txBody>
      </p:sp>
      <p:sp>
        <p:nvSpPr>
          <p:cNvPr id="13" name="Rectangle: Rounded Corners 12">
            <a:extLst>
              <a:ext uri="{FF2B5EF4-FFF2-40B4-BE49-F238E27FC236}">
                <a16:creationId xmlns:a16="http://schemas.microsoft.com/office/drawing/2014/main" id="{EE637F69-0924-85C6-1D4D-0AEE1B735B79}"/>
              </a:ext>
            </a:extLst>
          </p:cNvPr>
          <p:cNvSpPr/>
          <p:nvPr/>
        </p:nvSpPr>
        <p:spPr>
          <a:xfrm>
            <a:off x="7048500" y="1676400"/>
            <a:ext cx="4381500" cy="736600"/>
          </a:xfrm>
          <a:prstGeom prst="roundRect">
            <a:avLst/>
          </a:prstGeom>
          <a:solidFill>
            <a:srgbClr val="EFF6FF"/>
          </a:solidFill>
          <a:ln w="1905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CA8FCE6B-F665-6863-5BF6-8A336ABB1D68}"/>
              </a:ext>
            </a:extLst>
          </p:cNvPr>
          <p:cNvSpPr txBox="1"/>
          <p:nvPr/>
        </p:nvSpPr>
        <p:spPr>
          <a:xfrm>
            <a:off x="7124700" y="1727200"/>
            <a:ext cx="4229100" cy="307777"/>
          </a:xfrm>
          <a:prstGeom prst="rect">
            <a:avLst/>
          </a:prstGeom>
          <a:noFill/>
        </p:spPr>
        <p:txBody>
          <a:bodyPr vert="horz" wrap="square" lIns="0" tIns="0" rIns="0" bIns="0" rtlCol="0">
            <a:spAutoFit/>
          </a:bodyPr>
          <a:lstStyle/>
          <a:p>
            <a:pPr algn="ctr"/>
            <a:r>
              <a:rPr lang="en-IN" sz="1000" b="1">
                <a:solidFill>
                  <a:srgbClr val="2563EB"/>
                </a:solidFill>
                <a:latin typeface="Calibri" panose="020F0502020204030204" pitchFamily="34" charset="0"/>
              </a:rPr>
              <a:t>1. Zero-Malloc C99 Verification Library</a:t>
            </a:r>
          </a:p>
          <a:p>
            <a:pPr algn="ctr"/>
            <a:r>
              <a:rPr lang="en-IN" sz="1000" b="1">
                <a:solidFill>
                  <a:srgbClr val="2563EB"/>
                </a:solidFill>
                <a:latin typeface="Calibri" panose="020F0502020204030204" pitchFamily="34" charset="0"/>
              </a:rPr>
              <a:t>ML-DSA-44  /  SPHINCS+  /  LMS (&lt; 4 KB Static SRAM)</a:t>
            </a:r>
          </a:p>
        </p:txBody>
      </p:sp>
      <p:cxnSp>
        <p:nvCxnSpPr>
          <p:cNvPr id="15" name="Straight Connector 14">
            <a:extLst>
              <a:ext uri="{FF2B5EF4-FFF2-40B4-BE49-F238E27FC236}">
                <a16:creationId xmlns:a16="http://schemas.microsoft.com/office/drawing/2014/main" id="{4997A5F2-5682-964A-7638-4BE8E623E352}"/>
              </a:ext>
            </a:extLst>
          </p:cNvPr>
          <p:cNvCxnSpPr/>
          <p:nvPr/>
        </p:nvCxnSpPr>
        <p:spPr>
          <a:xfrm>
            <a:off x="9232900" y="2413000"/>
            <a:ext cx="0" cy="1905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A0B70996-3F14-28AD-6355-70F575EFCA1F}"/>
              </a:ext>
            </a:extLst>
          </p:cNvPr>
          <p:cNvSpPr/>
          <p:nvPr/>
        </p:nvSpPr>
        <p:spPr>
          <a:xfrm>
            <a:off x="7048500" y="2603500"/>
            <a:ext cx="4381500" cy="787400"/>
          </a:xfrm>
          <a:prstGeom prst="round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57872C25-0FDF-016E-A901-F87254B4DFB2}"/>
              </a:ext>
            </a:extLst>
          </p:cNvPr>
          <p:cNvSpPr txBox="1"/>
          <p:nvPr/>
        </p:nvSpPr>
        <p:spPr>
          <a:xfrm>
            <a:off x="7124700" y="2654300"/>
            <a:ext cx="4229100" cy="307777"/>
          </a:xfrm>
          <a:prstGeom prst="rect">
            <a:avLst/>
          </a:prstGeom>
          <a:noFill/>
        </p:spPr>
        <p:txBody>
          <a:bodyPr vert="horz" wrap="square" lIns="0" tIns="0" rIns="0" bIns="0" rtlCol="0">
            <a:spAutoFit/>
          </a:bodyPr>
          <a:lstStyle/>
          <a:p>
            <a:pPr algn="ctr"/>
            <a:r>
              <a:rPr lang="en-IN" sz="1000" b="1">
                <a:solidFill>
                  <a:srgbClr val="0F2942"/>
                </a:solidFill>
                <a:latin typeface="Calibri" panose="020F0502020204030204" pitchFamily="34" charset="0"/>
              </a:rPr>
              <a:t>2. Bootloader Architecture Integration</a:t>
            </a:r>
          </a:p>
          <a:p>
            <a:pPr algn="ctr"/>
            <a:r>
              <a:rPr lang="en-IN" sz="1000" b="1">
                <a:solidFill>
                  <a:srgbClr val="0F2942"/>
                </a:solidFill>
                <a:latin typeface="Calibri" panose="020F0502020204030204" pitchFamily="34" charset="0"/>
              </a:rPr>
              <a:t>MCUboot (ARM-M4) | U-Boot FIT (RISC-V) | UEFI (Cortex-A57)</a:t>
            </a:r>
          </a:p>
        </p:txBody>
      </p:sp>
      <p:cxnSp>
        <p:nvCxnSpPr>
          <p:cNvPr id="18" name="Straight Connector 17">
            <a:extLst>
              <a:ext uri="{FF2B5EF4-FFF2-40B4-BE49-F238E27FC236}">
                <a16:creationId xmlns:a16="http://schemas.microsoft.com/office/drawing/2014/main" id="{570A2EF4-B360-3AB5-1ED9-70BA4E8140BB}"/>
              </a:ext>
            </a:extLst>
          </p:cNvPr>
          <p:cNvCxnSpPr/>
          <p:nvPr/>
        </p:nvCxnSpPr>
        <p:spPr>
          <a:xfrm>
            <a:off x="9232900" y="3390900"/>
            <a:ext cx="0" cy="1905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21568B0E-388F-2717-5584-35E4967CA072}"/>
              </a:ext>
            </a:extLst>
          </p:cNvPr>
          <p:cNvSpPr/>
          <p:nvPr/>
        </p:nvSpPr>
        <p:spPr>
          <a:xfrm>
            <a:off x="7048500" y="3581400"/>
            <a:ext cx="4381500" cy="736600"/>
          </a:xfrm>
          <a:prstGeom prst="round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3EA22F0A-DC53-885E-399A-F89DD9542494}"/>
              </a:ext>
            </a:extLst>
          </p:cNvPr>
          <p:cNvSpPr txBox="1"/>
          <p:nvPr/>
        </p:nvSpPr>
        <p:spPr>
          <a:xfrm>
            <a:off x="7124700" y="3632200"/>
            <a:ext cx="4229100" cy="307777"/>
          </a:xfrm>
          <a:prstGeom prst="rect">
            <a:avLst/>
          </a:prstGeom>
          <a:noFill/>
        </p:spPr>
        <p:txBody>
          <a:bodyPr vert="horz" wrap="square" lIns="0" tIns="0" rIns="0" bIns="0" rtlCol="0">
            <a:spAutoFit/>
          </a:bodyPr>
          <a:lstStyle/>
          <a:p>
            <a:pPr algn="ctr"/>
            <a:r>
              <a:rPr lang="en-US" sz="1000" b="1">
                <a:solidFill>
                  <a:srgbClr val="0F2942"/>
                </a:solidFill>
                <a:latin typeface="Calibri" panose="020F0502020204030204" pitchFamily="34" charset="0"/>
              </a:rPr>
              <a:t>3. Firmware Signing &amp; Container Toolchain</a:t>
            </a:r>
          </a:p>
          <a:p>
            <a:pPr algn="ctr"/>
            <a:r>
              <a:rPr lang="en-US" sz="1000" b="1">
                <a:solidFill>
                  <a:srgbClr val="0F2942"/>
                </a:solidFill>
                <a:latin typeface="Calibri" panose="020F0502020204030204" pitchFamily="34" charset="0"/>
              </a:rPr>
              <a:t>Custom PQC TLV Headers (0x80-0x88) and Object Identifiers</a:t>
            </a:r>
            <a:endParaRPr lang="en-IN" sz="1000" b="1">
              <a:solidFill>
                <a:srgbClr val="0F2942"/>
              </a:solidFill>
              <a:latin typeface="Calibri" panose="020F0502020204030204" pitchFamily="34" charset="0"/>
            </a:endParaRPr>
          </a:p>
        </p:txBody>
      </p:sp>
      <p:cxnSp>
        <p:nvCxnSpPr>
          <p:cNvPr id="21" name="Straight Connector 20">
            <a:extLst>
              <a:ext uri="{FF2B5EF4-FFF2-40B4-BE49-F238E27FC236}">
                <a16:creationId xmlns:a16="http://schemas.microsoft.com/office/drawing/2014/main" id="{3D761846-7890-F1BF-AF5E-42217F6AD424}"/>
              </a:ext>
            </a:extLst>
          </p:cNvPr>
          <p:cNvCxnSpPr/>
          <p:nvPr/>
        </p:nvCxnSpPr>
        <p:spPr>
          <a:xfrm>
            <a:off x="9232900" y="4318000"/>
            <a:ext cx="0" cy="1905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DF2DE9C3-B190-896B-8B18-71487776CCD2}"/>
              </a:ext>
            </a:extLst>
          </p:cNvPr>
          <p:cNvSpPr/>
          <p:nvPr/>
        </p:nvSpPr>
        <p:spPr>
          <a:xfrm>
            <a:off x="7048500" y="4508500"/>
            <a:ext cx="4381500" cy="787400"/>
          </a:xfrm>
          <a:prstGeom prst="roundRect">
            <a:avLst/>
          </a:prstGeom>
          <a:solidFill>
            <a:srgbClr val="EFF6FF"/>
          </a:solidFill>
          <a:ln w="1905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004AA912-E54F-37A2-9055-CB09CAD21E2E}"/>
              </a:ext>
            </a:extLst>
          </p:cNvPr>
          <p:cNvSpPr txBox="1"/>
          <p:nvPr/>
        </p:nvSpPr>
        <p:spPr>
          <a:xfrm>
            <a:off x="7124700" y="4559300"/>
            <a:ext cx="4229100" cy="307777"/>
          </a:xfrm>
          <a:prstGeom prst="rect">
            <a:avLst/>
          </a:prstGeom>
          <a:noFill/>
        </p:spPr>
        <p:txBody>
          <a:bodyPr vert="horz" wrap="square" lIns="0" tIns="0" rIns="0" bIns="0" rtlCol="0">
            <a:spAutoFit/>
          </a:bodyPr>
          <a:lstStyle/>
          <a:p>
            <a:pPr algn="ctr"/>
            <a:r>
              <a:rPr lang="en-US" sz="1000" b="1">
                <a:solidFill>
                  <a:srgbClr val="2563EB"/>
                </a:solidFill>
                <a:latin typeface="Calibri" panose="020F0502020204030204" pitchFamily="34" charset="0"/>
              </a:rPr>
              <a:t>4. QEMU Emulation &amp; Empirical Validation</a:t>
            </a:r>
          </a:p>
          <a:p>
            <a:pPr algn="ctr"/>
            <a:r>
              <a:rPr lang="en-US" sz="1000" b="1">
                <a:solidFill>
                  <a:srgbClr val="2563EB"/>
                </a:solidFill>
                <a:latin typeface="Calibri" panose="020F0502020204030204" pitchFamily="34" charset="0"/>
              </a:rPr>
              <a:t>GDB Memory Profiling, Fault Injection, 100% Tamper Rejection</a:t>
            </a:r>
            <a:endParaRPr lang="en-IN" sz="1000" b="1">
              <a:solidFill>
                <a:srgbClr val="2563EB"/>
              </a:solidFill>
              <a:latin typeface="Calibri" panose="020F0502020204030204" pitchFamily="34" charset="0"/>
            </a:endParaRPr>
          </a:p>
        </p:txBody>
      </p:sp>
    </p:spTree>
    <p:extLst>
      <p:ext uri="{BB962C8B-B14F-4D97-AF65-F5344CB8AC3E}">
        <p14:creationId xmlns:p14="http://schemas.microsoft.com/office/powerpoint/2010/main" val="2825644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526CA01-497D-ED92-C78D-61487E48E16D}"/>
              </a:ext>
            </a:extLst>
          </p:cNvPr>
          <p:cNvSpPr/>
          <p:nvPr/>
        </p:nvSpPr>
        <p:spPr>
          <a:xfrm>
            <a:off x="635000" y="254000"/>
            <a:ext cx="1905000" cy="228600"/>
          </a:xfrm>
          <a:prstGeom prst="roundRect">
            <a:avLst/>
          </a:prstGeom>
          <a:solidFill>
            <a:srgbClr val="EFF6FF"/>
          </a:solidFill>
          <a:ln w="1270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3E1E690-DA46-A6C4-D9FD-20026B00270D}"/>
              </a:ext>
            </a:extLst>
          </p:cNvPr>
          <p:cNvSpPr txBox="1"/>
          <p:nvPr/>
        </p:nvSpPr>
        <p:spPr>
          <a:xfrm>
            <a:off x="635000" y="254000"/>
            <a:ext cx="1905000" cy="184666"/>
          </a:xfrm>
          <a:prstGeom prst="rect">
            <a:avLst/>
          </a:prstGeom>
          <a:noFill/>
        </p:spPr>
        <p:txBody>
          <a:bodyPr vert="horz" lIns="0" tIns="0" rtlCol="0">
            <a:spAutoFit/>
          </a:bodyPr>
          <a:lstStyle/>
          <a:p>
            <a:pPr algn="ctr"/>
            <a:r>
              <a:rPr lang="en-IN" sz="900" b="1">
                <a:solidFill>
                  <a:srgbClr val="2563EB"/>
                </a:solidFill>
                <a:latin typeface="Calibri" panose="020F0502020204030204" pitchFamily="34" charset="0"/>
              </a:rPr>
              <a:t>4. SCOPE: PHASE 1</a:t>
            </a:r>
          </a:p>
        </p:txBody>
      </p:sp>
      <p:sp>
        <p:nvSpPr>
          <p:cNvPr id="4" name="TextBox 3">
            <a:extLst>
              <a:ext uri="{FF2B5EF4-FFF2-40B4-BE49-F238E27FC236}">
                <a16:creationId xmlns:a16="http://schemas.microsoft.com/office/drawing/2014/main" id="{1D00C377-2F4D-597F-21C6-4E7EA4A6940D}"/>
              </a:ext>
            </a:extLst>
          </p:cNvPr>
          <p:cNvSpPr txBox="1"/>
          <p:nvPr/>
        </p:nvSpPr>
        <p:spPr>
          <a:xfrm>
            <a:off x="635000" y="533400"/>
            <a:ext cx="10922000" cy="384721"/>
          </a:xfrm>
          <a:prstGeom prst="rect">
            <a:avLst/>
          </a:prstGeom>
          <a:noFill/>
        </p:spPr>
        <p:txBody>
          <a:bodyPr vert="horz" lIns="0" tIns="0" rtlCol="0">
            <a:spAutoFit/>
          </a:bodyPr>
          <a:lstStyle/>
          <a:p>
            <a:r>
              <a:rPr lang="en-IN" sz="2200" b="1">
                <a:solidFill>
                  <a:srgbClr val="0F2942"/>
                </a:solidFill>
                <a:latin typeface="Calibri" panose="020F0502020204030204" pitchFamily="34" charset="0"/>
              </a:rPr>
              <a:t>Scope: Phase 1 - Crypto Engine &amp; Container Design</a:t>
            </a:r>
          </a:p>
        </p:txBody>
      </p:sp>
      <p:cxnSp>
        <p:nvCxnSpPr>
          <p:cNvPr id="5" name="Straight Connector 4">
            <a:extLst>
              <a:ext uri="{FF2B5EF4-FFF2-40B4-BE49-F238E27FC236}">
                <a16:creationId xmlns:a16="http://schemas.microsoft.com/office/drawing/2014/main" id="{777E89E2-49F9-1D2A-0F03-DB8C197DC1DC}"/>
              </a:ext>
            </a:extLst>
          </p:cNvPr>
          <p:cNvCxnSpPr/>
          <p:nvPr/>
        </p:nvCxnSpPr>
        <p:spPr>
          <a:xfrm>
            <a:off x="635000" y="1016000"/>
            <a:ext cx="10922000" cy="0"/>
          </a:xfrm>
          <a:prstGeom prst="line">
            <a:avLst/>
          </a:prstGeom>
          <a:ln w="12700">
            <a:solidFill>
              <a:srgbClr val="D1D9E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1FF6F7A-E069-1141-1E1F-DC20696A13BD}"/>
              </a:ext>
            </a:extLst>
          </p:cNvPr>
          <p:cNvSpPr txBox="1"/>
          <p:nvPr/>
        </p:nvSpPr>
        <p:spPr>
          <a:xfrm>
            <a:off x="635000" y="6413500"/>
            <a:ext cx="10922000" cy="184666"/>
          </a:xfrm>
          <a:prstGeom prst="rect">
            <a:avLst/>
          </a:prstGeom>
          <a:noFill/>
        </p:spPr>
        <p:txBody>
          <a:bodyPr vert="horz" lIns="0" tIns="0" rtlCol="0">
            <a:spAutoFit/>
          </a:bodyPr>
          <a:lstStyle/>
          <a:p>
            <a:r>
              <a:rPr lang="en-IN" sz="900">
                <a:solidFill>
                  <a:srgbClr val="6B7280"/>
                </a:solidFill>
                <a:latin typeface="Calibri" panose="020F0502020204030204" pitchFamily="34" charset="0"/>
              </a:rPr>
              <a:t>BITS Pilani (WILP) | ESZG628T Dissertation Outline | Kiruthik Prakash J (2024HT01586) | Qualcomm India</a:t>
            </a:r>
          </a:p>
        </p:txBody>
      </p:sp>
      <p:sp>
        <p:nvSpPr>
          <p:cNvPr id="7" name="TextBox 6">
            <a:extLst>
              <a:ext uri="{FF2B5EF4-FFF2-40B4-BE49-F238E27FC236}">
                <a16:creationId xmlns:a16="http://schemas.microsoft.com/office/drawing/2014/main" id="{C90B9BF4-BEDD-180B-630E-E0DC88DBE54A}"/>
              </a:ext>
            </a:extLst>
          </p:cNvPr>
          <p:cNvSpPr txBox="1"/>
          <p:nvPr/>
        </p:nvSpPr>
        <p:spPr>
          <a:xfrm>
            <a:off x="10668000" y="6413500"/>
            <a:ext cx="889000" cy="184666"/>
          </a:xfrm>
          <a:prstGeom prst="rect">
            <a:avLst/>
          </a:prstGeom>
          <a:noFill/>
        </p:spPr>
        <p:txBody>
          <a:bodyPr vert="horz" lIns="0" tIns="0" rtlCol="0">
            <a:spAutoFit/>
          </a:bodyPr>
          <a:lstStyle/>
          <a:p>
            <a:pPr algn="r"/>
            <a:r>
              <a:rPr lang="en-IN" sz="900" b="1">
                <a:solidFill>
                  <a:srgbClr val="2563EB"/>
                </a:solidFill>
                <a:latin typeface="Calibri" panose="020F0502020204030204" pitchFamily="34" charset="0"/>
              </a:rPr>
              <a:t>Slide 6 / 12</a:t>
            </a:r>
          </a:p>
        </p:txBody>
      </p:sp>
      <p:sp>
        <p:nvSpPr>
          <p:cNvPr id="8" name="Rectangle: Rounded Corners 7">
            <a:extLst>
              <a:ext uri="{FF2B5EF4-FFF2-40B4-BE49-F238E27FC236}">
                <a16:creationId xmlns:a16="http://schemas.microsoft.com/office/drawing/2014/main" id="{A52469B5-FD67-C6DC-05C9-6ECFB6F9B07E}"/>
              </a:ext>
            </a:extLst>
          </p:cNvPr>
          <p:cNvSpPr/>
          <p:nvPr/>
        </p:nvSpPr>
        <p:spPr>
          <a:xfrm>
            <a:off x="452284" y="1172121"/>
            <a:ext cx="6278716" cy="4987379"/>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F2454220-A10E-C887-DC37-239EBB56C74F}"/>
              </a:ext>
            </a:extLst>
          </p:cNvPr>
          <p:cNvSpPr txBox="1"/>
          <p:nvPr/>
        </p:nvSpPr>
        <p:spPr>
          <a:xfrm>
            <a:off x="863600" y="1358900"/>
            <a:ext cx="5638800" cy="215444"/>
          </a:xfrm>
          <a:prstGeom prst="rect">
            <a:avLst/>
          </a:prstGeom>
          <a:noFill/>
        </p:spPr>
        <p:txBody>
          <a:bodyPr vert="horz" lIns="0" tIns="0" rtlCol="0">
            <a:spAutoFit/>
          </a:bodyPr>
          <a:lstStyle/>
          <a:p>
            <a:r>
              <a:rPr lang="en-IN" sz="1100" b="1">
                <a:solidFill>
                  <a:srgbClr val="2563EB"/>
                </a:solidFill>
                <a:latin typeface="Calibri" panose="020F0502020204030204" pitchFamily="34" charset="0"/>
              </a:rPr>
              <a:t>PHASE 1 CORE DELIVERABLES</a:t>
            </a:r>
          </a:p>
        </p:txBody>
      </p:sp>
      <p:sp>
        <p:nvSpPr>
          <p:cNvPr id="10" name="TextBox 9">
            <a:extLst>
              <a:ext uri="{FF2B5EF4-FFF2-40B4-BE49-F238E27FC236}">
                <a16:creationId xmlns:a16="http://schemas.microsoft.com/office/drawing/2014/main" id="{64CBF859-4C99-1516-77CD-4AD6F58CCC44}"/>
              </a:ext>
            </a:extLst>
          </p:cNvPr>
          <p:cNvSpPr txBox="1"/>
          <p:nvPr/>
        </p:nvSpPr>
        <p:spPr>
          <a:xfrm>
            <a:off x="863600" y="1714500"/>
            <a:ext cx="5638800" cy="4355038"/>
          </a:xfrm>
          <a:prstGeom prst="rect">
            <a:avLst/>
          </a:prstGeom>
          <a:noFill/>
        </p:spPr>
        <p:txBody>
          <a:bodyPr vert="horz" wrap="square" lIns="0" tIns="0" rtlCol="0">
            <a:spAutoFit/>
          </a:bodyPr>
          <a:lstStyle/>
          <a:p>
            <a:r>
              <a:rPr lang="en-IN" sz="2000">
                <a:solidFill>
                  <a:srgbClr val="1F2937"/>
                </a:solidFill>
                <a:latin typeface="Calibri" panose="020F0502020204030204" pitchFamily="34" charset="0"/>
              </a:rPr>
              <a:t>-  Define memory bounds for bare-metal verification environments.</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Select NIST-standardized PQC schemes for constrained systems.</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Design standalone zero-malloc C signature verification library.</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Execute validation strictly within bounded static SRAM.</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Define metadata container formats and custom headers.</a:t>
            </a:r>
          </a:p>
        </p:txBody>
      </p:sp>
      <p:sp>
        <p:nvSpPr>
          <p:cNvPr id="11" name="Rectangle: Rounded Corners 10">
            <a:extLst>
              <a:ext uri="{FF2B5EF4-FFF2-40B4-BE49-F238E27FC236}">
                <a16:creationId xmlns:a16="http://schemas.microsoft.com/office/drawing/2014/main" id="{8F90B05D-A6C8-63CB-606F-778BE3199BCF}"/>
              </a:ext>
            </a:extLst>
          </p:cNvPr>
          <p:cNvSpPr/>
          <p:nvPr/>
        </p:nvSpPr>
        <p:spPr>
          <a:xfrm>
            <a:off x="6803923" y="1206500"/>
            <a:ext cx="4753077" cy="4952999"/>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3286D815-E765-1962-BB26-D8C460879E96}"/>
              </a:ext>
            </a:extLst>
          </p:cNvPr>
          <p:cNvSpPr txBox="1"/>
          <p:nvPr/>
        </p:nvSpPr>
        <p:spPr>
          <a:xfrm>
            <a:off x="7112000" y="1358900"/>
            <a:ext cx="4254500" cy="215444"/>
          </a:xfrm>
          <a:prstGeom prst="rect">
            <a:avLst/>
          </a:prstGeom>
          <a:noFill/>
        </p:spPr>
        <p:txBody>
          <a:bodyPr vert="horz" lIns="0" tIns="0" rtlCol="0">
            <a:spAutoFit/>
          </a:bodyPr>
          <a:lstStyle/>
          <a:p>
            <a:r>
              <a:rPr lang="en-US" sz="1100" b="1">
                <a:solidFill>
                  <a:srgbClr val="2563EB"/>
                </a:solidFill>
                <a:latin typeface="Calibri" panose="020F0502020204030204" pitchFamily="34" charset="0"/>
              </a:rPr>
              <a:t>CRYPTO ENGINE &amp; CONTAINER DESIGN PIPELINE</a:t>
            </a:r>
            <a:endParaRPr lang="en-IN" sz="1100" b="1">
              <a:solidFill>
                <a:srgbClr val="2563EB"/>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F39CABA0-03F0-86DA-EFB2-076643C30D9A}"/>
              </a:ext>
            </a:extLst>
          </p:cNvPr>
          <p:cNvSpPr/>
          <p:nvPr/>
        </p:nvSpPr>
        <p:spPr>
          <a:xfrm>
            <a:off x="7048500" y="1676400"/>
            <a:ext cx="4381500" cy="584200"/>
          </a:xfrm>
          <a:prstGeom prst="round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0BE8ECA-5C0E-FC93-33B7-9CE35480C4E2}"/>
              </a:ext>
            </a:extLst>
          </p:cNvPr>
          <p:cNvSpPr txBox="1"/>
          <p:nvPr/>
        </p:nvSpPr>
        <p:spPr>
          <a:xfrm>
            <a:off x="7124700" y="1727200"/>
            <a:ext cx="4229100" cy="307777"/>
          </a:xfrm>
          <a:prstGeom prst="rect">
            <a:avLst/>
          </a:prstGeom>
          <a:noFill/>
        </p:spPr>
        <p:txBody>
          <a:bodyPr vert="horz" wrap="square" lIns="0" tIns="0" rIns="0" bIns="0" rtlCol="0">
            <a:spAutoFit/>
          </a:bodyPr>
          <a:lstStyle/>
          <a:p>
            <a:pPr algn="ctr"/>
            <a:r>
              <a:rPr lang="en-US" sz="1000" b="1">
                <a:solidFill>
                  <a:srgbClr val="0F2942"/>
                </a:solidFill>
                <a:latin typeface="Calibri" panose="020F0502020204030204" pitchFamily="34" charset="0"/>
              </a:rPr>
              <a:t>1. Algorithm Selection and Security Bounds</a:t>
            </a:r>
          </a:p>
          <a:p>
            <a:pPr algn="ctr"/>
            <a:r>
              <a:rPr lang="en-US" sz="1000" b="1">
                <a:solidFill>
                  <a:srgbClr val="0F2942"/>
                </a:solidFill>
                <a:latin typeface="Calibri" panose="020F0502020204030204" pitchFamily="34" charset="0"/>
              </a:rPr>
              <a:t>ML-DSA-44 (Lattice)  |  SPHINCS+  |  LMS</a:t>
            </a:r>
            <a:endParaRPr lang="en-IN" sz="1000" b="1">
              <a:solidFill>
                <a:srgbClr val="0F2942"/>
              </a:solidFill>
              <a:latin typeface="Calibri" panose="020F0502020204030204" pitchFamily="34" charset="0"/>
            </a:endParaRPr>
          </a:p>
        </p:txBody>
      </p:sp>
      <p:cxnSp>
        <p:nvCxnSpPr>
          <p:cNvPr id="15" name="Straight Connector 14">
            <a:extLst>
              <a:ext uri="{FF2B5EF4-FFF2-40B4-BE49-F238E27FC236}">
                <a16:creationId xmlns:a16="http://schemas.microsoft.com/office/drawing/2014/main" id="{3A1228A1-5F7D-7F95-AAAE-6AB48FE3895A}"/>
              </a:ext>
            </a:extLst>
          </p:cNvPr>
          <p:cNvCxnSpPr/>
          <p:nvPr/>
        </p:nvCxnSpPr>
        <p:spPr>
          <a:xfrm>
            <a:off x="9232900" y="2260600"/>
            <a:ext cx="0" cy="2286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F9FE2B99-7367-A310-25BB-D00792EBC166}"/>
              </a:ext>
            </a:extLst>
          </p:cNvPr>
          <p:cNvSpPr/>
          <p:nvPr/>
        </p:nvSpPr>
        <p:spPr>
          <a:xfrm>
            <a:off x="7048500" y="2489200"/>
            <a:ext cx="4381500" cy="584200"/>
          </a:xfrm>
          <a:prstGeom prst="round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53096291-0B61-6DEA-425C-6CFB540BE1DB}"/>
              </a:ext>
            </a:extLst>
          </p:cNvPr>
          <p:cNvSpPr txBox="1"/>
          <p:nvPr/>
        </p:nvSpPr>
        <p:spPr>
          <a:xfrm>
            <a:off x="7124700" y="2540000"/>
            <a:ext cx="4229100" cy="307777"/>
          </a:xfrm>
          <a:prstGeom prst="rect">
            <a:avLst/>
          </a:prstGeom>
          <a:noFill/>
        </p:spPr>
        <p:txBody>
          <a:bodyPr vert="horz" wrap="square" lIns="0" tIns="0" rIns="0" bIns="0" rtlCol="0">
            <a:spAutoFit/>
          </a:bodyPr>
          <a:lstStyle/>
          <a:p>
            <a:pPr algn="ctr"/>
            <a:r>
              <a:rPr lang="en-US" sz="1000" b="1">
                <a:solidFill>
                  <a:srgbClr val="0F2942"/>
                </a:solidFill>
                <a:latin typeface="Calibri" panose="020F0502020204030204" pitchFamily="34" charset="0"/>
              </a:rPr>
              <a:t>2. Zero-Malloc C99 Verification Library</a:t>
            </a:r>
          </a:p>
          <a:p>
            <a:pPr algn="ctr"/>
            <a:r>
              <a:rPr lang="en-US" sz="1000" b="1">
                <a:solidFill>
                  <a:srgbClr val="0F2942"/>
                </a:solidFill>
                <a:latin typeface="Calibri" panose="020F0502020204030204" pitchFamily="34" charset="0"/>
              </a:rPr>
              <a:t>Deterministic Static-Stack Memory Architecture</a:t>
            </a:r>
            <a:endParaRPr lang="en-IN" sz="1000" b="1">
              <a:solidFill>
                <a:srgbClr val="0F2942"/>
              </a:solidFill>
              <a:latin typeface="Calibri" panose="020F0502020204030204" pitchFamily="34" charset="0"/>
            </a:endParaRPr>
          </a:p>
        </p:txBody>
      </p:sp>
      <p:cxnSp>
        <p:nvCxnSpPr>
          <p:cNvPr id="18" name="Straight Connector 17">
            <a:extLst>
              <a:ext uri="{FF2B5EF4-FFF2-40B4-BE49-F238E27FC236}">
                <a16:creationId xmlns:a16="http://schemas.microsoft.com/office/drawing/2014/main" id="{5E3D41A7-DE6E-A361-1275-92ADDC1ED46A}"/>
              </a:ext>
            </a:extLst>
          </p:cNvPr>
          <p:cNvCxnSpPr/>
          <p:nvPr/>
        </p:nvCxnSpPr>
        <p:spPr>
          <a:xfrm>
            <a:off x="9232900" y="3073400"/>
            <a:ext cx="0" cy="2286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1F1907DD-6554-D707-B512-12CB40E3C78A}"/>
              </a:ext>
            </a:extLst>
          </p:cNvPr>
          <p:cNvSpPr/>
          <p:nvPr/>
        </p:nvSpPr>
        <p:spPr>
          <a:xfrm>
            <a:off x="7048500" y="3302000"/>
            <a:ext cx="4381500" cy="584200"/>
          </a:xfrm>
          <a:prstGeom prst="round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CEC9878A-83AC-72F7-B11B-D2C2F4B6758B}"/>
              </a:ext>
            </a:extLst>
          </p:cNvPr>
          <p:cNvSpPr txBox="1"/>
          <p:nvPr/>
        </p:nvSpPr>
        <p:spPr>
          <a:xfrm>
            <a:off x="7124700" y="3352800"/>
            <a:ext cx="4229100" cy="307777"/>
          </a:xfrm>
          <a:prstGeom prst="rect">
            <a:avLst/>
          </a:prstGeom>
          <a:noFill/>
        </p:spPr>
        <p:txBody>
          <a:bodyPr vert="horz" wrap="square" lIns="0" tIns="0" rIns="0" bIns="0" rtlCol="0">
            <a:spAutoFit/>
          </a:bodyPr>
          <a:lstStyle/>
          <a:p>
            <a:pPr algn="ctr"/>
            <a:r>
              <a:rPr lang="en-US" sz="1000" b="1">
                <a:solidFill>
                  <a:srgbClr val="0F2942"/>
                </a:solidFill>
                <a:latin typeface="Calibri" panose="020F0502020204030204" pitchFamily="34" charset="0"/>
              </a:rPr>
              <a:t>3. Static SRAM Verification Budget</a:t>
            </a:r>
          </a:p>
          <a:p>
            <a:pPr algn="ctr"/>
            <a:r>
              <a:rPr lang="en-US" sz="1000" b="1">
                <a:solidFill>
                  <a:srgbClr val="0F2942"/>
                </a:solidFill>
                <a:latin typeface="Calibri" panose="020F0502020204030204" pitchFamily="34" charset="0"/>
              </a:rPr>
              <a:t>Memory Ceiling Mathematically Bounded &lt; 4 KB</a:t>
            </a:r>
            <a:endParaRPr lang="en-IN" sz="1000" b="1">
              <a:solidFill>
                <a:srgbClr val="0F2942"/>
              </a:solidFill>
              <a:latin typeface="Calibri" panose="020F0502020204030204" pitchFamily="34" charset="0"/>
            </a:endParaRPr>
          </a:p>
        </p:txBody>
      </p:sp>
      <p:cxnSp>
        <p:nvCxnSpPr>
          <p:cNvPr id="21" name="Straight Connector 20">
            <a:extLst>
              <a:ext uri="{FF2B5EF4-FFF2-40B4-BE49-F238E27FC236}">
                <a16:creationId xmlns:a16="http://schemas.microsoft.com/office/drawing/2014/main" id="{7FE15BC8-9DE7-DD3C-395B-67A66D8F152E}"/>
              </a:ext>
            </a:extLst>
          </p:cNvPr>
          <p:cNvCxnSpPr/>
          <p:nvPr/>
        </p:nvCxnSpPr>
        <p:spPr>
          <a:xfrm>
            <a:off x="9232900" y="3886200"/>
            <a:ext cx="0" cy="2286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5208444A-3059-6E2E-8FBF-2BA04B5938FA}"/>
              </a:ext>
            </a:extLst>
          </p:cNvPr>
          <p:cNvSpPr/>
          <p:nvPr/>
        </p:nvSpPr>
        <p:spPr>
          <a:xfrm>
            <a:off x="7048500" y="4114800"/>
            <a:ext cx="4381500" cy="584200"/>
          </a:xfrm>
          <a:prstGeom prst="round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502685FB-E23D-3894-0338-49BDA2BC36B8}"/>
              </a:ext>
            </a:extLst>
          </p:cNvPr>
          <p:cNvSpPr txBox="1"/>
          <p:nvPr/>
        </p:nvSpPr>
        <p:spPr>
          <a:xfrm>
            <a:off x="7124700" y="4165600"/>
            <a:ext cx="4229100" cy="307777"/>
          </a:xfrm>
          <a:prstGeom prst="rect">
            <a:avLst/>
          </a:prstGeom>
          <a:noFill/>
        </p:spPr>
        <p:txBody>
          <a:bodyPr vert="horz" wrap="square" lIns="0" tIns="0" rIns="0" bIns="0" rtlCol="0">
            <a:spAutoFit/>
          </a:bodyPr>
          <a:lstStyle/>
          <a:p>
            <a:pPr algn="ctr"/>
            <a:r>
              <a:rPr lang="en-US" sz="1000" b="1">
                <a:solidFill>
                  <a:srgbClr val="0F2942"/>
                </a:solidFill>
                <a:latin typeface="Calibri" panose="020F0502020204030204" pitchFamily="34" charset="0"/>
              </a:rPr>
              <a:t>4. Metadata Containers and Headers</a:t>
            </a:r>
          </a:p>
          <a:p>
            <a:pPr algn="ctr"/>
            <a:r>
              <a:rPr lang="en-US" sz="1000" b="1">
                <a:solidFill>
                  <a:srgbClr val="0F2942"/>
                </a:solidFill>
                <a:latin typeface="Calibri" panose="020F0502020204030204" pitchFamily="34" charset="0"/>
              </a:rPr>
              <a:t>Custom TLV Schema and PKCS#7 OID Structures</a:t>
            </a:r>
            <a:endParaRPr lang="en-IN" sz="1000" b="1">
              <a:solidFill>
                <a:srgbClr val="0F2942"/>
              </a:solidFill>
              <a:latin typeface="Calibri" panose="020F0502020204030204" pitchFamily="34" charset="0"/>
            </a:endParaRPr>
          </a:p>
        </p:txBody>
      </p:sp>
      <p:cxnSp>
        <p:nvCxnSpPr>
          <p:cNvPr id="24" name="Straight Connector 23">
            <a:extLst>
              <a:ext uri="{FF2B5EF4-FFF2-40B4-BE49-F238E27FC236}">
                <a16:creationId xmlns:a16="http://schemas.microsoft.com/office/drawing/2014/main" id="{38772D09-6830-1888-2F3C-F7FEBF6539DF}"/>
              </a:ext>
            </a:extLst>
          </p:cNvPr>
          <p:cNvCxnSpPr/>
          <p:nvPr/>
        </p:nvCxnSpPr>
        <p:spPr>
          <a:xfrm>
            <a:off x="9232900" y="4699000"/>
            <a:ext cx="0" cy="2286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40F7122D-566B-EE9A-46B9-71FFE319CD96}"/>
              </a:ext>
            </a:extLst>
          </p:cNvPr>
          <p:cNvSpPr/>
          <p:nvPr/>
        </p:nvSpPr>
        <p:spPr>
          <a:xfrm>
            <a:off x="7048500" y="4927600"/>
            <a:ext cx="4381500" cy="660400"/>
          </a:xfrm>
          <a:prstGeom prst="roundRect">
            <a:avLst/>
          </a:prstGeom>
          <a:solidFill>
            <a:srgbClr val="EFF6FF"/>
          </a:solidFill>
          <a:ln w="1905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6A7E8850-BE20-9E63-34D9-CE05AE978F24}"/>
              </a:ext>
            </a:extLst>
          </p:cNvPr>
          <p:cNvSpPr txBox="1"/>
          <p:nvPr/>
        </p:nvSpPr>
        <p:spPr>
          <a:xfrm>
            <a:off x="7124700" y="4978400"/>
            <a:ext cx="4229100" cy="307777"/>
          </a:xfrm>
          <a:prstGeom prst="rect">
            <a:avLst/>
          </a:prstGeom>
          <a:noFill/>
        </p:spPr>
        <p:txBody>
          <a:bodyPr vert="horz" wrap="square" lIns="0" tIns="0" rIns="0" bIns="0" rtlCol="0">
            <a:spAutoFit/>
          </a:bodyPr>
          <a:lstStyle/>
          <a:p>
            <a:pPr algn="ctr"/>
            <a:r>
              <a:rPr lang="en-US" sz="1000" b="1">
                <a:solidFill>
                  <a:srgbClr val="2563EB"/>
                </a:solidFill>
                <a:latin typeface="Calibri" panose="020F0502020204030204" pitchFamily="34" charset="0"/>
              </a:rPr>
              <a:t>5. Extended Host Signing Utilities</a:t>
            </a:r>
          </a:p>
          <a:p>
            <a:pPr algn="ctr"/>
            <a:r>
              <a:rPr lang="en-US" sz="1000" b="1">
                <a:solidFill>
                  <a:srgbClr val="2563EB"/>
                </a:solidFill>
                <a:latin typeface="Calibri" panose="020F0502020204030204" pitchFamily="34" charset="0"/>
              </a:rPr>
              <a:t>Automated CI/CD Keygen and Container Encapsulation</a:t>
            </a:r>
            <a:endParaRPr lang="en-IN" sz="1000" b="1">
              <a:solidFill>
                <a:srgbClr val="2563EB"/>
              </a:solidFill>
              <a:latin typeface="Calibri" panose="020F0502020204030204" pitchFamily="34" charset="0"/>
            </a:endParaRPr>
          </a:p>
        </p:txBody>
      </p:sp>
    </p:spTree>
    <p:extLst>
      <p:ext uri="{BB962C8B-B14F-4D97-AF65-F5344CB8AC3E}">
        <p14:creationId xmlns:p14="http://schemas.microsoft.com/office/powerpoint/2010/main" val="2492648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AD1A52E-3AF1-F1D3-CCB2-622FDD43C49F}"/>
              </a:ext>
            </a:extLst>
          </p:cNvPr>
          <p:cNvSpPr/>
          <p:nvPr/>
        </p:nvSpPr>
        <p:spPr>
          <a:xfrm>
            <a:off x="635000" y="254000"/>
            <a:ext cx="1905000" cy="228600"/>
          </a:xfrm>
          <a:prstGeom prst="roundRect">
            <a:avLst/>
          </a:prstGeom>
          <a:solidFill>
            <a:srgbClr val="EFF6FF"/>
          </a:solidFill>
          <a:ln w="1270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31A56E3-5DB6-EDA2-3359-67233AC42884}"/>
              </a:ext>
            </a:extLst>
          </p:cNvPr>
          <p:cNvSpPr txBox="1"/>
          <p:nvPr/>
        </p:nvSpPr>
        <p:spPr>
          <a:xfrm>
            <a:off x="635000" y="254000"/>
            <a:ext cx="1905000" cy="184666"/>
          </a:xfrm>
          <a:prstGeom prst="rect">
            <a:avLst/>
          </a:prstGeom>
          <a:noFill/>
        </p:spPr>
        <p:txBody>
          <a:bodyPr vert="horz" lIns="0" tIns="0" rtlCol="0">
            <a:spAutoFit/>
          </a:bodyPr>
          <a:lstStyle/>
          <a:p>
            <a:pPr algn="ctr"/>
            <a:r>
              <a:rPr lang="en-IN" sz="900" b="1">
                <a:solidFill>
                  <a:srgbClr val="2563EB"/>
                </a:solidFill>
                <a:latin typeface="Calibri" panose="020F0502020204030204" pitchFamily="34" charset="0"/>
              </a:rPr>
              <a:t>4. SCOPE: PHASE 2</a:t>
            </a:r>
          </a:p>
        </p:txBody>
      </p:sp>
      <p:sp>
        <p:nvSpPr>
          <p:cNvPr id="4" name="TextBox 3">
            <a:extLst>
              <a:ext uri="{FF2B5EF4-FFF2-40B4-BE49-F238E27FC236}">
                <a16:creationId xmlns:a16="http://schemas.microsoft.com/office/drawing/2014/main" id="{654533A6-5236-D05B-CF86-4A69F59957A8}"/>
              </a:ext>
            </a:extLst>
          </p:cNvPr>
          <p:cNvSpPr txBox="1"/>
          <p:nvPr/>
        </p:nvSpPr>
        <p:spPr>
          <a:xfrm>
            <a:off x="635000" y="533400"/>
            <a:ext cx="10922000" cy="384721"/>
          </a:xfrm>
          <a:prstGeom prst="rect">
            <a:avLst/>
          </a:prstGeom>
          <a:noFill/>
        </p:spPr>
        <p:txBody>
          <a:bodyPr vert="horz" lIns="0" tIns="0" rtlCol="0">
            <a:spAutoFit/>
          </a:bodyPr>
          <a:lstStyle/>
          <a:p>
            <a:r>
              <a:rPr lang="en-US" sz="2200" b="1">
                <a:solidFill>
                  <a:srgbClr val="0F2942"/>
                </a:solidFill>
                <a:latin typeface="Calibri" panose="020F0502020204030204" pitchFamily="34" charset="0"/>
              </a:rPr>
              <a:t>Scope: Phase 2 - Multi-Target Integration &amp; Trust Chain</a:t>
            </a:r>
            <a:endParaRPr lang="en-IN" sz="2200" b="1">
              <a:solidFill>
                <a:srgbClr val="0F2942"/>
              </a:solidFill>
              <a:latin typeface="Calibri" panose="020F0502020204030204" pitchFamily="34" charset="0"/>
            </a:endParaRPr>
          </a:p>
        </p:txBody>
      </p:sp>
      <p:cxnSp>
        <p:nvCxnSpPr>
          <p:cNvPr id="5" name="Straight Connector 4">
            <a:extLst>
              <a:ext uri="{FF2B5EF4-FFF2-40B4-BE49-F238E27FC236}">
                <a16:creationId xmlns:a16="http://schemas.microsoft.com/office/drawing/2014/main" id="{4AAA447F-0B7C-5288-C218-B8B0F2D2B561}"/>
              </a:ext>
            </a:extLst>
          </p:cNvPr>
          <p:cNvCxnSpPr/>
          <p:nvPr/>
        </p:nvCxnSpPr>
        <p:spPr>
          <a:xfrm>
            <a:off x="635000" y="1016000"/>
            <a:ext cx="10922000" cy="0"/>
          </a:xfrm>
          <a:prstGeom prst="line">
            <a:avLst/>
          </a:prstGeom>
          <a:ln w="12700">
            <a:solidFill>
              <a:srgbClr val="D1D9E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7785E167-43D6-2529-3F1B-4C73637B84AF}"/>
              </a:ext>
            </a:extLst>
          </p:cNvPr>
          <p:cNvSpPr txBox="1"/>
          <p:nvPr/>
        </p:nvSpPr>
        <p:spPr>
          <a:xfrm>
            <a:off x="635000" y="6413500"/>
            <a:ext cx="10922000" cy="184666"/>
          </a:xfrm>
          <a:prstGeom prst="rect">
            <a:avLst/>
          </a:prstGeom>
          <a:noFill/>
        </p:spPr>
        <p:txBody>
          <a:bodyPr vert="horz" lIns="0" tIns="0" rtlCol="0">
            <a:spAutoFit/>
          </a:bodyPr>
          <a:lstStyle/>
          <a:p>
            <a:r>
              <a:rPr lang="en-IN" sz="900">
                <a:solidFill>
                  <a:srgbClr val="6B7280"/>
                </a:solidFill>
                <a:latin typeface="Calibri" panose="020F0502020204030204" pitchFamily="34" charset="0"/>
              </a:rPr>
              <a:t>BITS Pilani (WILP) | ESZG628T Dissertation Outline | Kiruthik Prakash J (2024HT01586) | Qualcomm India</a:t>
            </a:r>
          </a:p>
        </p:txBody>
      </p:sp>
      <p:sp>
        <p:nvSpPr>
          <p:cNvPr id="7" name="TextBox 6">
            <a:extLst>
              <a:ext uri="{FF2B5EF4-FFF2-40B4-BE49-F238E27FC236}">
                <a16:creationId xmlns:a16="http://schemas.microsoft.com/office/drawing/2014/main" id="{DF89224A-D639-6CCE-2911-547E5EC8778A}"/>
              </a:ext>
            </a:extLst>
          </p:cNvPr>
          <p:cNvSpPr txBox="1"/>
          <p:nvPr/>
        </p:nvSpPr>
        <p:spPr>
          <a:xfrm>
            <a:off x="10668000" y="6413500"/>
            <a:ext cx="889000" cy="184666"/>
          </a:xfrm>
          <a:prstGeom prst="rect">
            <a:avLst/>
          </a:prstGeom>
          <a:noFill/>
        </p:spPr>
        <p:txBody>
          <a:bodyPr vert="horz" lIns="0" tIns="0" rtlCol="0">
            <a:spAutoFit/>
          </a:bodyPr>
          <a:lstStyle/>
          <a:p>
            <a:pPr algn="r"/>
            <a:r>
              <a:rPr lang="en-IN" sz="900" b="1">
                <a:solidFill>
                  <a:srgbClr val="2563EB"/>
                </a:solidFill>
                <a:latin typeface="Calibri" panose="020F0502020204030204" pitchFamily="34" charset="0"/>
              </a:rPr>
              <a:t>Slide 7 / 12</a:t>
            </a:r>
          </a:p>
        </p:txBody>
      </p:sp>
      <p:sp>
        <p:nvSpPr>
          <p:cNvPr id="8" name="Rectangle: Rounded Corners 7">
            <a:extLst>
              <a:ext uri="{FF2B5EF4-FFF2-40B4-BE49-F238E27FC236}">
                <a16:creationId xmlns:a16="http://schemas.microsoft.com/office/drawing/2014/main" id="{54C20642-E95E-A740-D1A9-337AFABCE874}"/>
              </a:ext>
            </a:extLst>
          </p:cNvPr>
          <p:cNvSpPr/>
          <p:nvPr/>
        </p:nvSpPr>
        <p:spPr>
          <a:xfrm>
            <a:off x="422787" y="1262082"/>
            <a:ext cx="6308213" cy="4897417"/>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925FFC95-EE8B-3B45-B611-4A92C27BB0B1}"/>
              </a:ext>
            </a:extLst>
          </p:cNvPr>
          <p:cNvSpPr txBox="1"/>
          <p:nvPr/>
        </p:nvSpPr>
        <p:spPr>
          <a:xfrm>
            <a:off x="863600" y="1358900"/>
            <a:ext cx="5638800" cy="215444"/>
          </a:xfrm>
          <a:prstGeom prst="rect">
            <a:avLst/>
          </a:prstGeom>
          <a:noFill/>
        </p:spPr>
        <p:txBody>
          <a:bodyPr vert="horz" lIns="0" tIns="0" rtlCol="0">
            <a:spAutoFit/>
          </a:bodyPr>
          <a:lstStyle/>
          <a:p>
            <a:r>
              <a:rPr lang="en-US" sz="1100" b="1">
                <a:solidFill>
                  <a:srgbClr val="2563EB"/>
                </a:solidFill>
                <a:latin typeface="Calibri" panose="020F0502020204030204" pitchFamily="34" charset="0"/>
              </a:rPr>
              <a:t>PHASE 2 TARGET INTEGRATION SCOPE</a:t>
            </a:r>
            <a:endParaRPr lang="en-IN" sz="1100" b="1">
              <a:solidFill>
                <a:srgbClr val="2563EB"/>
              </a:solidFill>
              <a:latin typeface="Calibri" panose="020F0502020204030204" pitchFamily="34" charset="0"/>
            </a:endParaRPr>
          </a:p>
        </p:txBody>
      </p:sp>
      <p:sp>
        <p:nvSpPr>
          <p:cNvPr id="10" name="TextBox 9">
            <a:extLst>
              <a:ext uri="{FF2B5EF4-FFF2-40B4-BE49-F238E27FC236}">
                <a16:creationId xmlns:a16="http://schemas.microsoft.com/office/drawing/2014/main" id="{4ABE6206-C51D-B524-66AC-F30F567A14B2}"/>
              </a:ext>
            </a:extLst>
          </p:cNvPr>
          <p:cNvSpPr txBox="1"/>
          <p:nvPr/>
        </p:nvSpPr>
        <p:spPr>
          <a:xfrm>
            <a:off x="863600" y="1714500"/>
            <a:ext cx="5638800" cy="4355038"/>
          </a:xfrm>
          <a:prstGeom prst="rect">
            <a:avLst/>
          </a:prstGeom>
          <a:noFill/>
        </p:spPr>
        <p:txBody>
          <a:bodyPr vert="horz" wrap="square" lIns="0" tIns="0" rtlCol="0">
            <a:spAutoFit/>
          </a:bodyPr>
          <a:lstStyle/>
          <a:p>
            <a:r>
              <a:rPr lang="en-IN" sz="2000">
                <a:solidFill>
                  <a:srgbClr val="1F2937"/>
                </a:solidFill>
                <a:latin typeface="Calibri" panose="020F0502020204030204" pitchFamily="34" charset="0"/>
              </a:rPr>
              <a:t>-  IoT targets: Integrate PQC into lightweight MCUboot.</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Embedded Linux: Extend Flattened Image Tree verification.</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Enterprise systems: Incorporate PQC into UEFI SecurityPkg.</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Configure QEMU system emulation for multi-architecture targets.</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Support ARM Cortex-M4, RISC-V 64, and Cortex-A57.</a:t>
            </a:r>
          </a:p>
        </p:txBody>
      </p:sp>
      <p:sp>
        <p:nvSpPr>
          <p:cNvPr id="11" name="Rectangle: Rounded Corners 10">
            <a:extLst>
              <a:ext uri="{FF2B5EF4-FFF2-40B4-BE49-F238E27FC236}">
                <a16:creationId xmlns:a16="http://schemas.microsoft.com/office/drawing/2014/main" id="{797DD6C6-633F-EE64-5E5F-7EFDBD3E7443}"/>
              </a:ext>
            </a:extLst>
          </p:cNvPr>
          <p:cNvSpPr/>
          <p:nvPr/>
        </p:nvSpPr>
        <p:spPr>
          <a:xfrm>
            <a:off x="6803923" y="1193800"/>
            <a:ext cx="4753077" cy="496570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29CA34BF-E13A-16A2-84BE-0D36D60F801E}"/>
              </a:ext>
            </a:extLst>
          </p:cNvPr>
          <p:cNvSpPr txBox="1"/>
          <p:nvPr/>
        </p:nvSpPr>
        <p:spPr>
          <a:xfrm>
            <a:off x="7112000" y="1358900"/>
            <a:ext cx="4254500" cy="215444"/>
          </a:xfrm>
          <a:prstGeom prst="rect">
            <a:avLst/>
          </a:prstGeom>
          <a:noFill/>
        </p:spPr>
        <p:txBody>
          <a:bodyPr vert="horz" lIns="0" tIns="0" rtlCol="0">
            <a:spAutoFit/>
          </a:bodyPr>
          <a:lstStyle/>
          <a:p>
            <a:r>
              <a:rPr lang="en-US" sz="1100" b="1">
                <a:solidFill>
                  <a:srgbClr val="2563EB"/>
                </a:solidFill>
                <a:latin typeface="Calibri" panose="020F0502020204030204" pitchFamily="34" charset="0"/>
              </a:rPr>
              <a:t>SECURE BOOT CHAIN OF TRUST ARCHITECTURE</a:t>
            </a:r>
            <a:endParaRPr lang="en-IN" sz="1100" b="1">
              <a:solidFill>
                <a:srgbClr val="2563EB"/>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5E4AAA27-33E5-C090-E488-D8D12D45BA1D}"/>
              </a:ext>
            </a:extLst>
          </p:cNvPr>
          <p:cNvSpPr/>
          <p:nvPr/>
        </p:nvSpPr>
        <p:spPr>
          <a:xfrm>
            <a:off x="7048500" y="1676400"/>
            <a:ext cx="4381500" cy="660400"/>
          </a:xfrm>
          <a:prstGeom prst="roundRect">
            <a:avLst/>
          </a:prstGeom>
          <a:solidFill>
            <a:srgbClr val="EFF6FF"/>
          </a:solidFill>
          <a:ln w="1905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B2EC7AE0-BA3A-D702-C008-96F06B4C5692}"/>
              </a:ext>
            </a:extLst>
          </p:cNvPr>
          <p:cNvSpPr txBox="1"/>
          <p:nvPr/>
        </p:nvSpPr>
        <p:spPr>
          <a:xfrm>
            <a:off x="7124700" y="1727200"/>
            <a:ext cx="4229100" cy="307777"/>
          </a:xfrm>
          <a:prstGeom prst="rect">
            <a:avLst/>
          </a:prstGeom>
          <a:noFill/>
        </p:spPr>
        <p:txBody>
          <a:bodyPr vert="horz" wrap="square" lIns="0" tIns="0" rIns="0" bIns="0" rtlCol="0">
            <a:spAutoFit/>
          </a:bodyPr>
          <a:lstStyle/>
          <a:p>
            <a:pPr algn="ctr"/>
            <a:r>
              <a:rPr lang="en-US" sz="1000" b="1">
                <a:solidFill>
                  <a:srgbClr val="2563EB"/>
                </a:solidFill>
                <a:latin typeface="Calibri" panose="020F0502020204030204" pitchFamily="34" charset="0"/>
              </a:rPr>
              <a:t>Immutable Hardware Root of Trust</a:t>
            </a:r>
          </a:p>
          <a:p>
            <a:pPr algn="ctr"/>
            <a:r>
              <a:rPr lang="en-US" sz="1000" b="1">
                <a:solidFill>
                  <a:srgbClr val="2563EB"/>
                </a:solidFill>
                <a:latin typeface="Calibri" panose="020F0502020204030204" pitchFamily="34" charset="0"/>
              </a:rPr>
              <a:t>Write-Protected Mask ROM &amp; Hardware OTP Fuses</a:t>
            </a:r>
            <a:endParaRPr lang="en-IN" sz="1000" b="1">
              <a:solidFill>
                <a:srgbClr val="2563EB"/>
              </a:solidFill>
              <a:latin typeface="Calibri" panose="020F0502020204030204" pitchFamily="34" charset="0"/>
            </a:endParaRPr>
          </a:p>
        </p:txBody>
      </p:sp>
      <p:cxnSp>
        <p:nvCxnSpPr>
          <p:cNvPr id="15" name="Straight Connector 14">
            <a:extLst>
              <a:ext uri="{FF2B5EF4-FFF2-40B4-BE49-F238E27FC236}">
                <a16:creationId xmlns:a16="http://schemas.microsoft.com/office/drawing/2014/main" id="{64A46F8F-D600-41CD-63AB-1CE6032DED34}"/>
              </a:ext>
            </a:extLst>
          </p:cNvPr>
          <p:cNvCxnSpPr/>
          <p:nvPr/>
        </p:nvCxnSpPr>
        <p:spPr>
          <a:xfrm>
            <a:off x="9232900" y="2336800"/>
            <a:ext cx="0" cy="2032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596A26E0-F9BE-102D-59CE-C9CD385C7126}"/>
              </a:ext>
            </a:extLst>
          </p:cNvPr>
          <p:cNvSpPr/>
          <p:nvPr/>
        </p:nvSpPr>
        <p:spPr>
          <a:xfrm>
            <a:off x="7048500" y="2540000"/>
            <a:ext cx="4381500" cy="660400"/>
          </a:xfrm>
          <a:prstGeom prst="round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7CFD90F0-7A60-7F84-9359-694281A77780}"/>
              </a:ext>
            </a:extLst>
          </p:cNvPr>
          <p:cNvSpPr txBox="1"/>
          <p:nvPr/>
        </p:nvSpPr>
        <p:spPr>
          <a:xfrm>
            <a:off x="7124700" y="2590800"/>
            <a:ext cx="4229100" cy="307777"/>
          </a:xfrm>
          <a:prstGeom prst="rect">
            <a:avLst/>
          </a:prstGeom>
          <a:noFill/>
        </p:spPr>
        <p:txBody>
          <a:bodyPr vert="horz" wrap="square" lIns="0" tIns="0" rIns="0" bIns="0" rtlCol="0">
            <a:spAutoFit/>
          </a:bodyPr>
          <a:lstStyle/>
          <a:p>
            <a:pPr algn="ctr"/>
            <a:r>
              <a:rPr lang="en-US" sz="1000" b="1">
                <a:solidFill>
                  <a:srgbClr val="0F2942"/>
                </a:solidFill>
                <a:latin typeface="Calibri" panose="020F0502020204030204" pitchFamily="34" charset="0"/>
              </a:rPr>
              <a:t>Stage 0: Primary Bootloader (MCUboot)</a:t>
            </a:r>
          </a:p>
          <a:p>
            <a:pPr algn="ctr"/>
            <a:r>
              <a:rPr lang="en-US" sz="1000" b="1">
                <a:solidFill>
                  <a:srgbClr val="0F2942"/>
                </a:solidFill>
                <a:latin typeface="Calibri" panose="020F0502020204030204" pitchFamily="34" charset="0"/>
              </a:rPr>
              <a:t>ARM Cortex-M4 (32-bit)  |  LMS / ML-DSA-44</a:t>
            </a:r>
            <a:endParaRPr lang="en-IN" sz="1000" b="1">
              <a:solidFill>
                <a:srgbClr val="0F2942"/>
              </a:solidFill>
              <a:latin typeface="Calibri" panose="020F0502020204030204" pitchFamily="34" charset="0"/>
            </a:endParaRPr>
          </a:p>
        </p:txBody>
      </p:sp>
      <p:cxnSp>
        <p:nvCxnSpPr>
          <p:cNvPr id="18" name="Straight Connector 17">
            <a:extLst>
              <a:ext uri="{FF2B5EF4-FFF2-40B4-BE49-F238E27FC236}">
                <a16:creationId xmlns:a16="http://schemas.microsoft.com/office/drawing/2014/main" id="{D21C7145-90B4-A61E-335D-78B86BB5595D}"/>
              </a:ext>
            </a:extLst>
          </p:cNvPr>
          <p:cNvCxnSpPr/>
          <p:nvPr/>
        </p:nvCxnSpPr>
        <p:spPr>
          <a:xfrm>
            <a:off x="9232900" y="3200400"/>
            <a:ext cx="0" cy="2032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6FF0978B-57B7-8228-0426-52250863B199}"/>
              </a:ext>
            </a:extLst>
          </p:cNvPr>
          <p:cNvSpPr/>
          <p:nvPr/>
        </p:nvSpPr>
        <p:spPr>
          <a:xfrm>
            <a:off x="7048500" y="3403600"/>
            <a:ext cx="4381500" cy="660400"/>
          </a:xfrm>
          <a:prstGeom prst="round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F7B44706-EF17-C972-4831-C5C2D9162AF8}"/>
              </a:ext>
            </a:extLst>
          </p:cNvPr>
          <p:cNvSpPr txBox="1"/>
          <p:nvPr/>
        </p:nvSpPr>
        <p:spPr>
          <a:xfrm>
            <a:off x="7124700" y="3454400"/>
            <a:ext cx="4229100" cy="307777"/>
          </a:xfrm>
          <a:prstGeom prst="rect">
            <a:avLst/>
          </a:prstGeom>
          <a:noFill/>
        </p:spPr>
        <p:txBody>
          <a:bodyPr vert="horz" wrap="square" lIns="0" tIns="0" rIns="0" bIns="0" rtlCol="0">
            <a:spAutoFit/>
          </a:bodyPr>
          <a:lstStyle/>
          <a:p>
            <a:pPr algn="ctr"/>
            <a:r>
              <a:rPr lang="en-US" sz="1000" b="1">
                <a:solidFill>
                  <a:srgbClr val="0F2942"/>
                </a:solidFill>
                <a:latin typeface="Calibri" panose="020F0502020204030204" pitchFamily="34" charset="0"/>
              </a:rPr>
              <a:t>Stage 1: Secondary Bootloader (U-Boot FIT)</a:t>
            </a:r>
          </a:p>
          <a:p>
            <a:pPr algn="ctr"/>
            <a:r>
              <a:rPr lang="en-US" sz="1000" b="1">
                <a:solidFill>
                  <a:srgbClr val="0F2942"/>
                </a:solidFill>
                <a:latin typeface="Calibri" panose="020F0502020204030204" pitchFamily="34" charset="0"/>
              </a:rPr>
              <a:t>64-bit RISC-V Target  |  ML-DSA-44 Signature</a:t>
            </a:r>
            <a:endParaRPr lang="en-IN" sz="1000" b="1">
              <a:solidFill>
                <a:srgbClr val="0F2942"/>
              </a:solidFill>
              <a:latin typeface="Calibri" panose="020F0502020204030204" pitchFamily="34" charset="0"/>
            </a:endParaRPr>
          </a:p>
        </p:txBody>
      </p:sp>
      <p:cxnSp>
        <p:nvCxnSpPr>
          <p:cNvPr id="21" name="Straight Connector 20">
            <a:extLst>
              <a:ext uri="{FF2B5EF4-FFF2-40B4-BE49-F238E27FC236}">
                <a16:creationId xmlns:a16="http://schemas.microsoft.com/office/drawing/2014/main" id="{0AC121E3-16E4-F9F9-4F21-229EA023D60A}"/>
              </a:ext>
            </a:extLst>
          </p:cNvPr>
          <p:cNvCxnSpPr/>
          <p:nvPr/>
        </p:nvCxnSpPr>
        <p:spPr>
          <a:xfrm>
            <a:off x="9232900" y="4064000"/>
            <a:ext cx="0" cy="2032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AD0D2A2A-71A6-6A97-C49A-5ECE86F21337}"/>
              </a:ext>
            </a:extLst>
          </p:cNvPr>
          <p:cNvSpPr/>
          <p:nvPr/>
        </p:nvSpPr>
        <p:spPr>
          <a:xfrm>
            <a:off x="7048500" y="4267200"/>
            <a:ext cx="4381500" cy="660400"/>
          </a:xfrm>
          <a:prstGeom prst="round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06AF8F07-F04B-EBD6-B289-FFCF987341C8}"/>
              </a:ext>
            </a:extLst>
          </p:cNvPr>
          <p:cNvSpPr txBox="1"/>
          <p:nvPr/>
        </p:nvSpPr>
        <p:spPr>
          <a:xfrm>
            <a:off x="7124700" y="4318000"/>
            <a:ext cx="4229100" cy="307777"/>
          </a:xfrm>
          <a:prstGeom prst="rect">
            <a:avLst/>
          </a:prstGeom>
          <a:noFill/>
        </p:spPr>
        <p:txBody>
          <a:bodyPr vert="horz" wrap="square" lIns="0" tIns="0" rIns="0" bIns="0" rtlCol="0">
            <a:spAutoFit/>
          </a:bodyPr>
          <a:lstStyle/>
          <a:p>
            <a:pPr algn="ctr"/>
            <a:r>
              <a:rPr lang="en-IN" sz="1000" b="1">
                <a:solidFill>
                  <a:srgbClr val="0F2942"/>
                </a:solidFill>
                <a:latin typeface="Calibri" panose="020F0502020204030204" pitchFamily="34" charset="0"/>
              </a:rPr>
              <a:t>Stage 2: Enterprise OS Loader (UEFI)</a:t>
            </a:r>
          </a:p>
          <a:p>
            <a:pPr algn="ctr"/>
            <a:r>
              <a:rPr lang="en-IN" sz="1000" b="1">
                <a:solidFill>
                  <a:srgbClr val="0F2942"/>
                </a:solidFill>
                <a:latin typeface="Calibri" panose="020F0502020204030204" pitchFamily="34" charset="0"/>
              </a:rPr>
              <a:t>Multi-Core ARM Cortex-A57  |  SecurityPkg PQC</a:t>
            </a:r>
          </a:p>
        </p:txBody>
      </p:sp>
      <p:cxnSp>
        <p:nvCxnSpPr>
          <p:cNvPr id="24" name="Straight Connector 23">
            <a:extLst>
              <a:ext uri="{FF2B5EF4-FFF2-40B4-BE49-F238E27FC236}">
                <a16:creationId xmlns:a16="http://schemas.microsoft.com/office/drawing/2014/main" id="{24BC6970-D112-435F-9EC3-13762FFDBAD8}"/>
              </a:ext>
            </a:extLst>
          </p:cNvPr>
          <p:cNvCxnSpPr/>
          <p:nvPr/>
        </p:nvCxnSpPr>
        <p:spPr>
          <a:xfrm>
            <a:off x="9232900" y="4927600"/>
            <a:ext cx="0" cy="2032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89F633F2-87C1-8511-B4FE-55E6C2F5BA7D}"/>
              </a:ext>
            </a:extLst>
          </p:cNvPr>
          <p:cNvSpPr/>
          <p:nvPr/>
        </p:nvSpPr>
        <p:spPr>
          <a:xfrm>
            <a:off x="7048500" y="5130800"/>
            <a:ext cx="4381500" cy="533400"/>
          </a:xfrm>
          <a:prstGeom prst="roundRect">
            <a:avLst/>
          </a:prstGeom>
          <a:solidFill>
            <a:srgbClr val="EFF6FF"/>
          </a:solidFill>
          <a:ln w="1905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49D91634-0132-02E0-7CE0-921298649687}"/>
              </a:ext>
            </a:extLst>
          </p:cNvPr>
          <p:cNvSpPr txBox="1"/>
          <p:nvPr/>
        </p:nvSpPr>
        <p:spPr>
          <a:xfrm>
            <a:off x="7124700" y="5181600"/>
            <a:ext cx="4229100" cy="307777"/>
          </a:xfrm>
          <a:prstGeom prst="rect">
            <a:avLst/>
          </a:prstGeom>
          <a:noFill/>
        </p:spPr>
        <p:txBody>
          <a:bodyPr vert="horz" wrap="square" lIns="0" tIns="0" rIns="0" bIns="0" rtlCol="0">
            <a:spAutoFit/>
          </a:bodyPr>
          <a:lstStyle/>
          <a:p>
            <a:pPr algn="ctr"/>
            <a:r>
              <a:rPr lang="en-US" sz="1000" b="1">
                <a:solidFill>
                  <a:srgbClr val="2563EB"/>
                </a:solidFill>
                <a:latin typeface="Calibri" panose="020F0502020204030204" pitchFamily="34" charset="0"/>
              </a:rPr>
              <a:t>AUTHENTICATED OPERATING SYSTEM</a:t>
            </a:r>
          </a:p>
          <a:p>
            <a:pPr algn="ctr"/>
            <a:r>
              <a:rPr lang="en-US" sz="1000" b="1">
                <a:solidFill>
                  <a:srgbClr val="2563EB"/>
                </a:solidFill>
                <a:latin typeface="Calibri" panose="020F0502020204030204" pitchFamily="34" charset="0"/>
              </a:rPr>
              <a:t>Fully Verified, Tamper-Evident Kernel Execution</a:t>
            </a:r>
            <a:endParaRPr lang="en-IN" sz="1000" b="1">
              <a:solidFill>
                <a:srgbClr val="2563EB"/>
              </a:solidFill>
              <a:latin typeface="Calibri" panose="020F0502020204030204" pitchFamily="34" charset="0"/>
            </a:endParaRPr>
          </a:p>
        </p:txBody>
      </p:sp>
    </p:spTree>
    <p:extLst>
      <p:ext uri="{BB962C8B-B14F-4D97-AF65-F5344CB8AC3E}">
        <p14:creationId xmlns:p14="http://schemas.microsoft.com/office/powerpoint/2010/main" val="1620778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381A926-D243-007E-EAA1-79BD151109A8}"/>
              </a:ext>
            </a:extLst>
          </p:cNvPr>
          <p:cNvSpPr/>
          <p:nvPr/>
        </p:nvSpPr>
        <p:spPr>
          <a:xfrm>
            <a:off x="635000" y="254000"/>
            <a:ext cx="1905000" cy="228600"/>
          </a:xfrm>
          <a:prstGeom prst="roundRect">
            <a:avLst/>
          </a:prstGeom>
          <a:solidFill>
            <a:srgbClr val="EFF6FF"/>
          </a:solidFill>
          <a:ln w="1270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A103895-9990-9580-8AFE-7B29137BD1F9}"/>
              </a:ext>
            </a:extLst>
          </p:cNvPr>
          <p:cNvSpPr txBox="1"/>
          <p:nvPr/>
        </p:nvSpPr>
        <p:spPr>
          <a:xfrm>
            <a:off x="635000" y="254000"/>
            <a:ext cx="1905000" cy="184666"/>
          </a:xfrm>
          <a:prstGeom prst="rect">
            <a:avLst/>
          </a:prstGeom>
          <a:noFill/>
        </p:spPr>
        <p:txBody>
          <a:bodyPr vert="horz" lIns="0" tIns="0" rtlCol="0">
            <a:spAutoFit/>
          </a:bodyPr>
          <a:lstStyle/>
          <a:p>
            <a:pPr algn="ctr"/>
            <a:r>
              <a:rPr lang="en-IN" sz="900" b="1">
                <a:solidFill>
                  <a:srgbClr val="2563EB"/>
                </a:solidFill>
                <a:latin typeface="Calibri" panose="020F0502020204030204" pitchFamily="34" charset="0"/>
              </a:rPr>
              <a:t>4. SCOPE: PHASE 2 DEEP DIVE</a:t>
            </a:r>
          </a:p>
        </p:txBody>
      </p:sp>
      <p:sp>
        <p:nvSpPr>
          <p:cNvPr id="4" name="TextBox 3">
            <a:extLst>
              <a:ext uri="{FF2B5EF4-FFF2-40B4-BE49-F238E27FC236}">
                <a16:creationId xmlns:a16="http://schemas.microsoft.com/office/drawing/2014/main" id="{A1A303D2-494D-F099-0304-30449F6252B6}"/>
              </a:ext>
            </a:extLst>
          </p:cNvPr>
          <p:cNvSpPr txBox="1"/>
          <p:nvPr/>
        </p:nvSpPr>
        <p:spPr>
          <a:xfrm>
            <a:off x="635000" y="533400"/>
            <a:ext cx="10922000" cy="384721"/>
          </a:xfrm>
          <a:prstGeom prst="rect">
            <a:avLst/>
          </a:prstGeom>
          <a:noFill/>
        </p:spPr>
        <p:txBody>
          <a:bodyPr vert="horz" lIns="0" tIns="0" rtlCol="0">
            <a:spAutoFit/>
          </a:bodyPr>
          <a:lstStyle/>
          <a:p>
            <a:r>
              <a:rPr lang="en-IN" sz="2200" b="1">
                <a:solidFill>
                  <a:srgbClr val="0F2942"/>
                </a:solidFill>
                <a:latin typeface="Calibri" panose="020F0502020204030204" pitchFamily="34" charset="0"/>
              </a:rPr>
              <a:t>Scope: Phase 2 - MCUboot Implementation Architecture</a:t>
            </a:r>
          </a:p>
        </p:txBody>
      </p:sp>
      <p:cxnSp>
        <p:nvCxnSpPr>
          <p:cNvPr id="5" name="Straight Connector 4">
            <a:extLst>
              <a:ext uri="{FF2B5EF4-FFF2-40B4-BE49-F238E27FC236}">
                <a16:creationId xmlns:a16="http://schemas.microsoft.com/office/drawing/2014/main" id="{0884D6D7-9AF3-5528-E202-7871024ED3DD}"/>
              </a:ext>
            </a:extLst>
          </p:cNvPr>
          <p:cNvCxnSpPr/>
          <p:nvPr/>
        </p:nvCxnSpPr>
        <p:spPr>
          <a:xfrm>
            <a:off x="635000" y="1016000"/>
            <a:ext cx="10922000" cy="0"/>
          </a:xfrm>
          <a:prstGeom prst="line">
            <a:avLst/>
          </a:prstGeom>
          <a:ln w="12700">
            <a:solidFill>
              <a:srgbClr val="D1D9E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801CF18-3492-8271-3821-3543015EC510}"/>
              </a:ext>
            </a:extLst>
          </p:cNvPr>
          <p:cNvSpPr txBox="1"/>
          <p:nvPr/>
        </p:nvSpPr>
        <p:spPr>
          <a:xfrm>
            <a:off x="635000" y="6413500"/>
            <a:ext cx="10922000" cy="184666"/>
          </a:xfrm>
          <a:prstGeom prst="rect">
            <a:avLst/>
          </a:prstGeom>
          <a:noFill/>
        </p:spPr>
        <p:txBody>
          <a:bodyPr vert="horz" lIns="0" tIns="0" rtlCol="0">
            <a:spAutoFit/>
          </a:bodyPr>
          <a:lstStyle/>
          <a:p>
            <a:r>
              <a:rPr lang="en-IN" sz="900">
                <a:solidFill>
                  <a:srgbClr val="6B7280"/>
                </a:solidFill>
                <a:latin typeface="Calibri" panose="020F0502020204030204" pitchFamily="34" charset="0"/>
              </a:rPr>
              <a:t>BITS Pilani (WILP) | ESZG628T Dissertation Outline | Kiruthik Prakash J (2024HT01586) | Qualcomm India</a:t>
            </a:r>
          </a:p>
        </p:txBody>
      </p:sp>
      <p:sp>
        <p:nvSpPr>
          <p:cNvPr id="7" name="TextBox 6">
            <a:extLst>
              <a:ext uri="{FF2B5EF4-FFF2-40B4-BE49-F238E27FC236}">
                <a16:creationId xmlns:a16="http://schemas.microsoft.com/office/drawing/2014/main" id="{DCC9FFC4-1CD2-F281-0949-4306B7FFFE93}"/>
              </a:ext>
            </a:extLst>
          </p:cNvPr>
          <p:cNvSpPr txBox="1"/>
          <p:nvPr/>
        </p:nvSpPr>
        <p:spPr>
          <a:xfrm>
            <a:off x="10668000" y="6413500"/>
            <a:ext cx="889000" cy="184666"/>
          </a:xfrm>
          <a:prstGeom prst="rect">
            <a:avLst/>
          </a:prstGeom>
          <a:noFill/>
        </p:spPr>
        <p:txBody>
          <a:bodyPr vert="horz" lIns="0" tIns="0" rtlCol="0">
            <a:spAutoFit/>
          </a:bodyPr>
          <a:lstStyle/>
          <a:p>
            <a:pPr algn="r"/>
            <a:r>
              <a:rPr lang="en-IN" sz="900" b="1">
                <a:solidFill>
                  <a:srgbClr val="2563EB"/>
                </a:solidFill>
                <a:latin typeface="Calibri" panose="020F0502020204030204" pitchFamily="34" charset="0"/>
              </a:rPr>
              <a:t>Slide 8 / 12</a:t>
            </a:r>
          </a:p>
        </p:txBody>
      </p:sp>
      <p:sp>
        <p:nvSpPr>
          <p:cNvPr id="8" name="Rectangle: Rounded Corners 7">
            <a:extLst>
              <a:ext uri="{FF2B5EF4-FFF2-40B4-BE49-F238E27FC236}">
                <a16:creationId xmlns:a16="http://schemas.microsoft.com/office/drawing/2014/main" id="{C4F105E9-8183-C100-491F-3531437FA46D}"/>
              </a:ext>
            </a:extLst>
          </p:cNvPr>
          <p:cNvSpPr/>
          <p:nvPr/>
        </p:nvSpPr>
        <p:spPr>
          <a:xfrm>
            <a:off x="501445" y="1172121"/>
            <a:ext cx="6229555" cy="4987379"/>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28181C25-7F06-F1F3-FF56-B4E859653AA9}"/>
              </a:ext>
            </a:extLst>
          </p:cNvPr>
          <p:cNvSpPr txBox="1"/>
          <p:nvPr/>
        </p:nvSpPr>
        <p:spPr>
          <a:xfrm>
            <a:off x="863600" y="1358900"/>
            <a:ext cx="5638800" cy="215444"/>
          </a:xfrm>
          <a:prstGeom prst="rect">
            <a:avLst/>
          </a:prstGeom>
          <a:noFill/>
        </p:spPr>
        <p:txBody>
          <a:bodyPr vert="horz" lIns="0" tIns="0" rtlCol="0">
            <a:spAutoFit/>
          </a:bodyPr>
          <a:lstStyle/>
          <a:p>
            <a:r>
              <a:rPr lang="en-IN" sz="1100" b="1">
                <a:solidFill>
                  <a:srgbClr val="2563EB"/>
                </a:solidFill>
                <a:latin typeface="Calibri" panose="020F0502020204030204" pitchFamily="34" charset="0"/>
              </a:rPr>
              <a:t>MCUBOOT ARCHITECTURAL WORKFLOW</a:t>
            </a:r>
          </a:p>
        </p:txBody>
      </p:sp>
      <p:sp>
        <p:nvSpPr>
          <p:cNvPr id="10" name="TextBox 9">
            <a:extLst>
              <a:ext uri="{FF2B5EF4-FFF2-40B4-BE49-F238E27FC236}">
                <a16:creationId xmlns:a16="http://schemas.microsoft.com/office/drawing/2014/main" id="{640AC024-73A8-8858-CC48-22DAEF85B404}"/>
              </a:ext>
            </a:extLst>
          </p:cNvPr>
          <p:cNvSpPr txBox="1"/>
          <p:nvPr/>
        </p:nvSpPr>
        <p:spPr>
          <a:xfrm>
            <a:off x="863600" y="1714500"/>
            <a:ext cx="5638800" cy="4047262"/>
          </a:xfrm>
          <a:prstGeom prst="rect">
            <a:avLst/>
          </a:prstGeom>
          <a:noFill/>
        </p:spPr>
        <p:txBody>
          <a:bodyPr vert="horz" wrap="square" lIns="0" tIns="0" rtlCol="0">
            <a:spAutoFit/>
          </a:bodyPr>
          <a:lstStyle/>
          <a:p>
            <a:r>
              <a:rPr lang="en-IN" sz="2000">
                <a:solidFill>
                  <a:srgbClr val="1F2937"/>
                </a:solidFill>
                <a:latin typeface="Calibri" panose="020F0502020204030204" pitchFamily="34" charset="0"/>
              </a:rPr>
              <a:t>-  Deep dive into MCUboot IoT firmware authentication.</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Hardware RoT keys embedded in static flash.</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Custom PQC TLV headers encapsulate signature payloads.</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SHA-256 and SHA-512 compute immutable firmware digest.</a:t>
            </a:r>
          </a:p>
          <a:p>
            <a:endParaRPr lang="en-IN" sz="2000">
              <a:solidFill>
                <a:srgbClr val="1F2937"/>
              </a:solidFill>
              <a:latin typeface="Calibri" panose="020F0502020204030204" pitchFamily="34" charset="0"/>
            </a:endParaRPr>
          </a:p>
          <a:p>
            <a:r>
              <a:rPr lang="en-IN" sz="2000">
                <a:solidFill>
                  <a:srgbClr val="1F2937"/>
                </a:solidFill>
                <a:latin typeface="Calibri" panose="020F0502020204030204" pitchFamily="34" charset="0"/>
              </a:rPr>
              <a:t>-  Verifies signature within bounded static stack memory.</a:t>
            </a:r>
          </a:p>
        </p:txBody>
      </p:sp>
      <p:sp>
        <p:nvSpPr>
          <p:cNvPr id="11" name="Rectangle: Rounded Corners 10">
            <a:extLst>
              <a:ext uri="{FF2B5EF4-FFF2-40B4-BE49-F238E27FC236}">
                <a16:creationId xmlns:a16="http://schemas.microsoft.com/office/drawing/2014/main" id="{86E64D03-8D03-DC22-CCDA-D611591B994E}"/>
              </a:ext>
            </a:extLst>
          </p:cNvPr>
          <p:cNvSpPr/>
          <p:nvPr/>
        </p:nvSpPr>
        <p:spPr>
          <a:xfrm>
            <a:off x="6864555" y="1172121"/>
            <a:ext cx="4635500" cy="498738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28392FFA-3638-71F2-94BC-A9DE9511827F}"/>
              </a:ext>
            </a:extLst>
          </p:cNvPr>
          <p:cNvSpPr txBox="1"/>
          <p:nvPr/>
        </p:nvSpPr>
        <p:spPr>
          <a:xfrm>
            <a:off x="7112000" y="1358900"/>
            <a:ext cx="4254500" cy="215444"/>
          </a:xfrm>
          <a:prstGeom prst="rect">
            <a:avLst/>
          </a:prstGeom>
          <a:noFill/>
        </p:spPr>
        <p:txBody>
          <a:bodyPr vert="horz" lIns="0" tIns="0" rtlCol="0">
            <a:spAutoFit/>
          </a:bodyPr>
          <a:lstStyle/>
          <a:p>
            <a:r>
              <a:rPr lang="en-IN" sz="1100" b="1" dirty="0">
                <a:solidFill>
                  <a:srgbClr val="2563EB"/>
                </a:solidFill>
                <a:latin typeface="Calibri" panose="020F0502020204030204" pitchFamily="34" charset="0"/>
              </a:rPr>
              <a:t>FLASH STREAMING VERIFICATION PIPELINE</a:t>
            </a:r>
          </a:p>
        </p:txBody>
      </p:sp>
      <p:sp>
        <p:nvSpPr>
          <p:cNvPr id="13" name="Rectangle: Rounded Corners 12">
            <a:extLst>
              <a:ext uri="{FF2B5EF4-FFF2-40B4-BE49-F238E27FC236}">
                <a16:creationId xmlns:a16="http://schemas.microsoft.com/office/drawing/2014/main" id="{344B6D4C-74CA-045C-E443-385014A9B04C}"/>
              </a:ext>
            </a:extLst>
          </p:cNvPr>
          <p:cNvSpPr/>
          <p:nvPr/>
        </p:nvSpPr>
        <p:spPr>
          <a:xfrm>
            <a:off x="7048500" y="1676400"/>
            <a:ext cx="4381500" cy="533400"/>
          </a:xfrm>
          <a:prstGeom prst="round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57DA1D8F-2B1F-E6A4-63A8-74F6DA4221B5}"/>
              </a:ext>
            </a:extLst>
          </p:cNvPr>
          <p:cNvSpPr txBox="1"/>
          <p:nvPr/>
        </p:nvSpPr>
        <p:spPr>
          <a:xfrm>
            <a:off x="7124700" y="1727200"/>
            <a:ext cx="4229100" cy="307777"/>
          </a:xfrm>
          <a:prstGeom prst="rect">
            <a:avLst/>
          </a:prstGeom>
          <a:noFill/>
        </p:spPr>
        <p:txBody>
          <a:bodyPr vert="horz" wrap="square" lIns="0" tIns="0" rIns="0" bIns="0" rtlCol="0">
            <a:spAutoFit/>
          </a:bodyPr>
          <a:lstStyle/>
          <a:p>
            <a:pPr algn="ctr"/>
            <a:r>
              <a:rPr lang="en-IN" sz="1000" b="1">
                <a:solidFill>
                  <a:srgbClr val="0F2942"/>
                </a:solidFill>
                <a:latin typeface="Calibri" panose="020F0502020204030204" pitchFamily="34" charset="0"/>
              </a:rPr>
              <a:t>Flash TLV Trailer Parser</a:t>
            </a:r>
          </a:p>
          <a:p>
            <a:pPr algn="ctr"/>
            <a:r>
              <a:rPr lang="en-IN" sz="1000" b="1">
                <a:solidFill>
                  <a:srgbClr val="0F2942"/>
                </a:solidFill>
                <a:latin typeface="Calibri" panose="020F0502020204030204" pitchFamily="34" charset="0"/>
              </a:rPr>
              <a:t>Parse Tag, Length, Value (PQC Sig: 0x80 - 0x88)</a:t>
            </a:r>
          </a:p>
        </p:txBody>
      </p:sp>
      <p:cxnSp>
        <p:nvCxnSpPr>
          <p:cNvPr id="15" name="Straight Connector 14">
            <a:extLst>
              <a:ext uri="{FF2B5EF4-FFF2-40B4-BE49-F238E27FC236}">
                <a16:creationId xmlns:a16="http://schemas.microsoft.com/office/drawing/2014/main" id="{199E30EC-03DD-32C4-F23D-A903207D5301}"/>
              </a:ext>
            </a:extLst>
          </p:cNvPr>
          <p:cNvCxnSpPr/>
          <p:nvPr/>
        </p:nvCxnSpPr>
        <p:spPr>
          <a:xfrm>
            <a:off x="9232900" y="2209800"/>
            <a:ext cx="0" cy="1524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116FBD52-2A41-13A3-BF6A-234B744458DF}"/>
              </a:ext>
            </a:extLst>
          </p:cNvPr>
          <p:cNvSpPr/>
          <p:nvPr/>
        </p:nvSpPr>
        <p:spPr>
          <a:xfrm>
            <a:off x="7048500" y="2362200"/>
            <a:ext cx="4381500" cy="533400"/>
          </a:xfrm>
          <a:prstGeom prst="round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C06D398F-B1D1-16D4-9F95-C6F28A5F943D}"/>
              </a:ext>
            </a:extLst>
          </p:cNvPr>
          <p:cNvSpPr txBox="1"/>
          <p:nvPr/>
        </p:nvSpPr>
        <p:spPr>
          <a:xfrm>
            <a:off x="7124700" y="2413000"/>
            <a:ext cx="4229100" cy="307777"/>
          </a:xfrm>
          <a:prstGeom prst="rect">
            <a:avLst/>
          </a:prstGeom>
          <a:noFill/>
        </p:spPr>
        <p:txBody>
          <a:bodyPr vert="horz" wrap="square" lIns="0" tIns="0" rIns="0" bIns="0" rtlCol="0">
            <a:spAutoFit/>
          </a:bodyPr>
          <a:lstStyle/>
          <a:p>
            <a:pPr algn="ctr"/>
            <a:r>
              <a:rPr lang="en-US" sz="1000" b="1">
                <a:solidFill>
                  <a:srgbClr val="0F2942"/>
                </a:solidFill>
                <a:latin typeface="Calibri" panose="020F0502020204030204" pitchFamily="34" charset="0"/>
              </a:rPr>
              <a:t>Digest Commitment Engine</a:t>
            </a:r>
          </a:p>
          <a:p>
            <a:pPr algn="ctr"/>
            <a:r>
              <a:rPr lang="en-US" sz="1000" b="1">
                <a:solidFill>
                  <a:srgbClr val="0F2942"/>
                </a:solidFill>
                <a:latin typeface="Calibri" panose="020F0502020204030204" pitchFamily="34" charset="0"/>
              </a:rPr>
              <a:t>Incremental SHA-256 Hash over Image Slot</a:t>
            </a:r>
            <a:endParaRPr lang="en-IN" sz="1000" b="1">
              <a:solidFill>
                <a:srgbClr val="0F2942"/>
              </a:solidFill>
              <a:latin typeface="Calibri" panose="020F0502020204030204" pitchFamily="34" charset="0"/>
            </a:endParaRPr>
          </a:p>
        </p:txBody>
      </p:sp>
      <p:cxnSp>
        <p:nvCxnSpPr>
          <p:cNvPr id="18" name="Straight Connector 17">
            <a:extLst>
              <a:ext uri="{FF2B5EF4-FFF2-40B4-BE49-F238E27FC236}">
                <a16:creationId xmlns:a16="http://schemas.microsoft.com/office/drawing/2014/main" id="{99635679-57AC-35E5-796D-F428C21AE420}"/>
              </a:ext>
            </a:extLst>
          </p:cNvPr>
          <p:cNvCxnSpPr/>
          <p:nvPr/>
        </p:nvCxnSpPr>
        <p:spPr>
          <a:xfrm>
            <a:off x="9232900" y="2895600"/>
            <a:ext cx="0" cy="1524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D3159F36-8B16-6E0C-EAC7-6FE4FD445A37}"/>
              </a:ext>
            </a:extLst>
          </p:cNvPr>
          <p:cNvSpPr/>
          <p:nvPr/>
        </p:nvSpPr>
        <p:spPr>
          <a:xfrm>
            <a:off x="7048500" y="3048000"/>
            <a:ext cx="4381500" cy="558800"/>
          </a:xfrm>
          <a:prstGeom prst="roundRect">
            <a:avLst/>
          </a:prstGeom>
          <a:solidFill>
            <a:srgbClr val="EFF6FF"/>
          </a:solidFill>
          <a:ln w="1905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D8D7FF42-9323-7ACC-9622-F37075297262}"/>
              </a:ext>
            </a:extLst>
          </p:cNvPr>
          <p:cNvSpPr txBox="1"/>
          <p:nvPr/>
        </p:nvSpPr>
        <p:spPr>
          <a:xfrm>
            <a:off x="7124700" y="3098800"/>
            <a:ext cx="4229100" cy="307777"/>
          </a:xfrm>
          <a:prstGeom prst="rect">
            <a:avLst/>
          </a:prstGeom>
          <a:noFill/>
        </p:spPr>
        <p:txBody>
          <a:bodyPr vert="horz" wrap="square" lIns="0" tIns="0" rIns="0" bIns="0" rtlCol="0">
            <a:spAutoFit/>
          </a:bodyPr>
          <a:lstStyle/>
          <a:p>
            <a:pPr algn="ctr"/>
            <a:r>
              <a:rPr lang="en-US" sz="1000" b="1">
                <a:solidFill>
                  <a:srgbClr val="2563EB"/>
                </a:solidFill>
                <a:latin typeface="Calibri" panose="020F0502020204030204" pitchFamily="34" charset="0"/>
              </a:rPr>
              <a:t>Zero-Heap PQC Verifier</a:t>
            </a:r>
          </a:p>
          <a:p>
            <a:pPr algn="ctr"/>
            <a:r>
              <a:rPr lang="en-US" sz="1000" b="1">
                <a:solidFill>
                  <a:srgbClr val="2563EB"/>
                </a:solidFill>
                <a:latin typeface="Calibri" panose="020F0502020204030204" pitchFamily="34" charset="0"/>
              </a:rPr>
              <a:t>Verify Signature using OTP Root Public Key</a:t>
            </a:r>
            <a:endParaRPr lang="en-IN" sz="1000" b="1">
              <a:solidFill>
                <a:srgbClr val="2563EB"/>
              </a:solidFill>
              <a:latin typeface="Calibri" panose="020F0502020204030204" pitchFamily="34" charset="0"/>
            </a:endParaRPr>
          </a:p>
        </p:txBody>
      </p:sp>
      <p:cxnSp>
        <p:nvCxnSpPr>
          <p:cNvPr id="21" name="Straight Connector 20">
            <a:extLst>
              <a:ext uri="{FF2B5EF4-FFF2-40B4-BE49-F238E27FC236}">
                <a16:creationId xmlns:a16="http://schemas.microsoft.com/office/drawing/2014/main" id="{F4F6AD85-8617-8BC9-2271-EB7D968D8A68}"/>
              </a:ext>
            </a:extLst>
          </p:cNvPr>
          <p:cNvCxnSpPr/>
          <p:nvPr/>
        </p:nvCxnSpPr>
        <p:spPr>
          <a:xfrm>
            <a:off x="9232900" y="3606800"/>
            <a:ext cx="0" cy="1524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A9F35D46-068B-9A99-D9C0-CB4B8733C722}"/>
              </a:ext>
            </a:extLst>
          </p:cNvPr>
          <p:cNvSpPr/>
          <p:nvPr/>
        </p:nvSpPr>
        <p:spPr>
          <a:xfrm>
            <a:off x="7048500" y="3759200"/>
            <a:ext cx="4381500" cy="457200"/>
          </a:xfrm>
          <a:prstGeom prst="roundRect">
            <a:avLst/>
          </a:prstGeom>
          <a:solidFill>
            <a:srgbClr val="F1F5F9"/>
          </a:solidFill>
          <a:ln w="15240">
            <a:solidFill>
              <a:srgbClr val="94A3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A54BCBCE-00FC-D15E-F22D-76AC74FC57CA}"/>
              </a:ext>
            </a:extLst>
          </p:cNvPr>
          <p:cNvSpPr txBox="1"/>
          <p:nvPr/>
        </p:nvSpPr>
        <p:spPr>
          <a:xfrm>
            <a:off x="7048500" y="3835400"/>
            <a:ext cx="4381500" cy="215444"/>
          </a:xfrm>
          <a:prstGeom prst="rect">
            <a:avLst/>
          </a:prstGeom>
          <a:noFill/>
        </p:spPr>
        <p:txBody>
          <a:bodyPr vert="horz" lIns="0" tIns="0" rtlCol="0">
            <a:spAutoFit/>
          </a:bodyPr>
          <a:lstStyle/>
          <a:p>
            <a:pPr algn="ctr"/>
            <a:r>
              <a:rPr lang="en-IN" sz="1100" b="1">
                <a:solidFill>
                  <a:srgbClr val="0F2942"/>
                </a:solidFill>
                <a:latin typeface="Calibri" panose="020F0502020204030204" pitchFamily="34" charset="0"/>
              </a:rPr>
              <a:t>Cryptographic Verification Gate</a:t>
            </a:r>
          </a:p>
        </p:txBody>
      </p:sp>
      <p:cxnSp>
        <p:nvCxnSpPr>
          <p:cNvPr id="24" name="Straight Connector 23">
            <a:extLst>
              <a:ext uri="{FF2B5EF4-FFF2-40B4-BE49-F238E27FC236}">
                <a16:creationId xmlns:a16="http://schemas.microsoft.com/office/drawing/2014/main" id="{39B52DC1-0E11-7BD3-299A-27944D17B86A}"/>
              </a:ext>
            </a:extLst>
          </p:cNvPr>
          <p:cNvCxnSpPr/>
          <p:nvPr/>
        </p:nvCxnSpPr>
        <p:spPr>
          <a:xfrm>
            <a:off x="8064500" y="4216400"/>
            <a:ext cx="0" cy="2286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E340496C-6B7F-A13F-1AA7-B7BCF73D34EA}"/>
              </a:ext>
            </a:extLst>
          </p:cNvPr>
          <p:cNvCxnSpPr/>
          <p:nvPr/>
        </p:nvCxnSpPr>
        <p:spPr>
          <a:xfrm>
            <a:off x="10414000" y="4216400"/>
            <a:ext cx="0" cy="2286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798C7729-9207-C1EC-0600-3834A477F309}"/>
              </a:ext>
            </a:extLst>
          </p:cNvPr>
          <p:cNvSpPr/>
          <p:nvPr/>
        </p:nvSpPr>
        <p:spPr>
          <a:xfrm>
            <a:off x="7048500" y="4445000"/>
            <a:ext cx="2095500" cy="952500"/>
          </a:xfrm>
          <a:prstGeom prst="roundRect">
            <a:avLst/>
          </a:prstGeom>
          <a:solidFill>
            <a:srgbClr val="F0FDF4"/>
          </a:solidFill>
          <a:ln w="15240">
            <a:solidFill>
              <a:srgbClr val="86EF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1AEF191C-192F-5368-ED25-B7EBA922B9B4}"/>
              </a:ext>
            </a:extLst>
          </p:cNvPr>
          <p:cNvSpPr txBox="1"/>
          <p:nvPr/>
        </p:nvSpPr>
        <p:spPr>
          <a:xfrm>
            <a:off x="7112000" y="4521200"/>
            <a:ext cx="1968500" cy="461665"/>
          </a:xfrm>
          <a:prstGeom prst="rect">
            <a:avLst/>
          </a:prstGeom>
          <a:noFill/>
        </p:spPr>
        <p:txBody>
          <a:bodyPr vert="horz" wrap="square" lIns="0" tIns="0" rtlCol="0">
            <a:spAutoFit/>
          </a:bodyPr>
          <a:lstStyle/>
          <a:p>
            <a:r>
              <a:rPr lang="en-US" sz="900" b="1">
                <a:solidFill>
                  <a:srgbClr val="166534"/>
                </a:solidFill>
                <a:latin typeface="Calibri" panose="020F0502020204030204" pitchFamily="34" charset="0"/>
              </a:rPr>
              <a:t>SIGNATURE VALID</a:t>
            </a:r>
          </a:p>
          <a:p>
            <a:r>
              <a:rPr lang="en-US" sz="900" b="1">
                <a:solidFill>
                  <a:srgbClr val="166534"/>
                </a:solidFill>
                <a:latin typeface="Calibri" panose="020F0502020204030204" pitchFamily="34" charset="0"/>
              </a:rPr>
              <a:t>Set image status OK; jump to Cortex-M4 reset vector</a:t>
            </a:r>
            <a:endParaRPr lang="en-IN" sz="900" b="1">
              <a:solidFill>
                <a:srgbClr val="166534"/>
              </a:solidFill>
              <a:latin typeface="Calibri" panose="020F0502020204030204" pitchFamily="34" charset="0"/>
            </a:endParaRPr>
          </a:p>
        </p:txBody>
      </p:sp>
      <p:sp>
        <p:nvSpPr>
          <p:cNvPr id="28" name="Rectangle: Rounded Corners 27">
            <a:extLst>
              <a:ext uri="{FF2B5EF4-FFF2-40B4-BE49-F238E27FC236}">
                <a16:creationId xmlns:a16="http://schemas.microsoft.com/office/drawing/2014/main" id="{77B6967B-1398-CFB9-2DD2-BBE3CD736D11}"/>
              </a:ext>
            </a:extLst>
          </p:cNvPr>
          <p:cNvSpPr/>
          <p:nvPr/>
        </p:nvSpPr>
        <p:spPr>
          <a:xfrm>
            <a:off x="9334500" y="4445000"/>
            <a:ext cx="2095500" cy="952500"/>
          </a:xfrm>
          <a:prstGeom prst="roundRect">
            <a:avLst/>
          </a:prstGeom>
          <a:solidFill>
            <a:srgbClr val="FEF2F2"/>
          </a:solidFill>
          <a:ln w="15240">
            <a:solidFill>
              <a:srgbClr val="FCA5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91D03265-9AED-5B1B-587C-E6156788D8C0}"/>
              </a:ext>
            </a:extLst>
          </p:cNvPr>
          <p:cNvSpPr txBox="1"/>
          <p:nvPr/>
        </p:nvSpPr>
        <p:spPr>
          <a:xfrm>
            <a:off x="9398000" y="4521200"/>
            <a:ext cx="1968500" cy="461665"/>
          </a:xfrm>
          <a:prstGeom prst="rect">
            <a:avLst/>
          </a:prstGeom>
          <a:noFill/>
        </p:spPr>
        <p:txBody>
          <a:bodyPr vert="horz" wrap="square" lIns="0" tIns="0" rtlCol="0">
            <a:spAutoFit/>
          </a:bodyPr>
          <a:lstStyle/>
          <a:p>
            <a:r>
              <a:rPr lang="en-US" sz="900" b="1">
                <a:solidFill>
                  <a:srgbClr val="991B1B"/>
                </a:solidFill>
                <a:latin typeface="Calibri" panose="020F0502020204030204" pitchFamily="34" charset="0"/>
              </a:rPr>
              <a:t>TAMPER / MISMATCH</a:t>
            </a:r>
          </a:p>
          <a:p>
            <a:r>
              <a:rPr lang="en-US" sz="900" b="1">
                <a:solidFill>
                  <a:srgbClr val="991B1B"/>
                </a:solidFill>
                <a:latin typeface="Calibri" panose="020F0502020204030204" pitchFamily="34" charset="0"/>
              </a:rPr>
              <a:t>Trigger security fault; fail-secure immediate halt</a:t>
            </a:r>
            <a:endParaRPr lang="en-IN" sz="900" b="1">
              <a:solidFill>
                <a:srgbClr val="991B1B"/>
              </a:solidFill>
              <a:latin typeface="Calibri" panose="020F0502020204030204" pitchFamily="34" charset="0"/>
            </a:endParaRPr>
          </a:p>
        </p:txBody>
      </p:sp>
      <p:sp>
        <p:nvSpPr>
          <p:cNvPr id="30" name="TextBox 29">
            <a:extLst>
              <a:ext uri="{FF2B5EF4-FFF2-40B4-BE49-F238E27FC236}">
                <a16:creationId xmlns:a16="http://schemas.microsoft.com/office/drawing/2014/main" id="{4AD821D3-3DE7-E8CF-E3BC-677110E14232}"/>
              </a:ext>
            </a:extLst>
          </p:cNvPr>
          <p:cNvSpPr txBox="1"/>
          <p:nvPr/>
        </p:nvSpPr>
        <p:spPr>
          <a:xfrm>
            <a:off x="7048500" y="5461000"/>
            <a:ext cx="4381500" cy="323165"/>
          </a:xfrm>
          <a:prstGeom prst="rect">
            <a:avLst/>
          </a:prstGeom>
          <a:noFill/>
        </p:spPr>
        <p:txBody>
          <a:bodyPr vert="horz" wrap="square" lIns="0" tIns="0" rtlCol="0">
            <a:spAutoFit/>
          </a:bodyPr>
          <a:lstStyle/>
          <a:p>
            <a:r>
              <a:rPr lang="en-US" sz="900" i="1">
                <a:solidFill>
                  <a:srgbClr val="6B7280"/>
                </a:solidFill>
                <a:latin typeface="Calibri" panose="020F0502020204030204" pitchFamily="34" charset="0"/>
              </a:rPr>
              <a:t>Operates entirely in-place. If any bit in the header, image, or signature is flipped, MCUboot halts deterministically.</a:t>
            </a:r>
            <a:endParaRPr lang="en-IN" sz="900" i="1">
              <a:solidFill>
                <a:srgbClr val="6B7280"/>
              </a:solidFill>
              <a:latin typeface="Calibri" panose="020F0502020204030204" pitchFamily="34" charset="0"/>
            </a:endParaRPr>
          </a:p>
        </p:txBody>
      </p:sp>
    </p:spTree>
    <p:extLst>
      <p:ext uri="{BB962C8B-B14F-4D97-AF65-F5344CB8AC3E}">
        <p14:creationId xmlns:p14="http://schemas.microsoft.com/office/powerpoint/2010/main" val="1457918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54761C8-A8DB-5A8C-1CB0-5AB09642599F}"/>
              </a:ext>
            </a:extLst>
          </p:cNvPr>
          <p:cNvSpPr/>
          <p:nvPr/>
        </p:nvSpPr>
        <p:spPr>
          <a:xfrm>
            <a:off x="635000" y="254000"/>
            <a:ext cx="1905000" cy="228600"/>
          </a:xfrm>
          <a:prstGeom prst="roundRect">
            <a:avLst/>
          </a:prstGeom>
          <a:solidFill>
            <a:srgbClr val="EFF6FF"/>
          </a:solidFill>
          <a:ln w="1270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3C7D78D-A430-0E31-14BE-F62A9B7CA6CC}"/>
              </a:ext>
            </a:extLst>
          </p:cNvPr>
          <p:cNvSpPr txBox="1"/>
          <p:nvPr/>
        </p:nvSpPr>
        <p:spPr>
          <a:xfrm>
            <a:off x="635000" y="254000"/>
            <a:ext cx="1905000" cy="184666"/>
          </a:xfrm>
          <a:prstGeom prst="rect">
            <a:avLst/>
          </a:prstGeom>
          <a:noFill/>
        </p:spPr>
        <p:txBody>
          <a:bodyPr vert="horz" lIns="0" tIns="0" rtlCol="0">
            <a:spAutoFit/>
          </a:bodyPr>
          <a:lstStyle/>
          <a:p>
            <a:pPr algn="ctr"/>
            <a:r>
              <a:rPr lang="en-IN" sz="900" b="1">
                <a:solidFill>
                  <a:srgbClr val="2563EB"/>
                </a:solidFill>
                <a:latin typeface="Calibri" panose="020F0502020204030204" pitchFamily="34" charset="0"/>
              </a:rPr>
              <a:t>4. SCOPE: PHASE 3</a:t>
            </a:r>
          </a:p>
        </p:txBody>
      </p:sp>
      <p:sp>
        <p:nvSpPr>
          <p:cNvPr id="4" name="TextBox 3">
            <a:extLst>
              <a:ext uri="{FF2B5EF4-FFF2-40B4-BE49-F238E27FC236}">
                <a16:creationId xmlns:a16="http://schemas.microsoft.com/office/drawing/2014/main" id="{C25255D2-A627-9044-A1BA-33F62DB4A9CA}"/>
              </a:ext>
            </a:extLst>
          </p:cNvPr>
          <p:cNvSpPr txBox="1"/>
          <p:nvPr/>
        </p:nvSpPr>
        <p:spPr>
          <a:xfrm>
            <a:off x="635000" y="533400"/>
            <a:ext cx="10922000" cy="384721"/>
          </a:xfrm>
          <a:prstGeom prst="rect">
            <a:avLst/>
          </a:prstGeom>
          <a:noFill/>
        </p:spPr>
        <p:txBody>
          <a:bodyPr vert="horz" lIns="0" tIns="0" rtlCol="0">
            <a:spAutoFit/>
          </a:bodyPr>
          <a:lstStyle/>
          <a:p>
            <a:r>
              <a:rPr lang="en-US" sz="2200" b="1">
                <a:solidFill>
                  <a:srgbClr val="0F2942"/>
                </a:solidFill>
                <a:latin typeface="Calibri" panose="020F0502020204030204" pitchFamily="34" charset="0"/>
              </a:rPr>
              <a:t>Scope: Phase 3 - Validation &amp; Security Benchmarking</a:t>
            </a:r>
            <a:endParaRPr lang="en-IN" sz="2200" b="1">
              <a:solidFill>
                <a:srgbClr val="0F2942"/>
              </a:solidFill>
              <a:latin typeface="Calibri" panose="020F0502020204030204" pitchFamily="34" charset="0"/>
            </a:endParaRPr>
          </a:p>
        </p:txBody>
      </p:sp>
      <p:cxnSp>
        <p:nvCxnSpPr>
          <p:cNvPr id="5" name="Straight Connector 4">
            <a:extLst>
              <a:ext uri="{FF2B5EF4-FFF2-40B4-BE49-F238E27FC236}">
                <a16:creationId xmlns:a16="http://schemas.microsoft.com/office/drawing/2014/main" id="{8DB9D603-F4B9-54A4-12CF-7EF15E391205}"/>
              </a:ext>
            </a:extLst>
          </p:cNvPr>
          <p:cNvCxnSpPr/>
          <p:nvPr/>
        </p:nvCxnSpPr>
        <p:spPr>
          <a:xfrm>
            <a:off x="635000" y="1016000"/>
            <a:ext cx="10922000" cy="0"/>
          </a:xfrm>
          <a:prstGeom prst="line">
            <a:avLst/>
          </a:prstGeom>
          <a:ln w="12700">
            <a:solidFill>
              <a:srgbClr val="D1D9E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DB2E294D-62BE-0BBA-C662-BAF9366FBC3E}"/>
              </a:ext>
            </a:extLst>
          </p:cNvPr>
          <p:cNvSpPr txBox="1"/>
          <p:nvPr/>
        </p:nvSpPr>
        <p:spPr>
          <a:xfrm>
            <a:off x="635000" y="6413500"/>
            <a:ext cx="10922000" cy="184666"/>
          </a:xfrm>
          <a:prstGeom prst="rect">
            <a:avLst/>
          </a:prstGeom>
          <a:noFill/>
        </p:spPr>
        <p:txBody>
          <a:bodyPr vert="horz" lIns="0" tIns="0" rtlCol="0">
            <a:spAutoFit/>
          </a:bodyPr>
          <a:lstStyle/>
          <a:p>
            <a:r>
              <a:rPr lang="en-IN" sz="900">
                <a:solidFill>
                  <a:srgbClr val="6B7280"/>
                </a:solidFill>
                <a:latin typeface="Calibri" panose="020F0502020204030204" pitchFamily="34" charset="0"/>
              </a:rPr>
              <a:t>BITS Pilani (WILP) | ESZG628T Dissertation Outline | Kiruthik Prakash J (2024HT01586) | Qualcomm India</a:t>
            </a:r>
          </a:p>
        </p:txBody>
      </p:sp>
      <p:sp>
        <p:nvSpPr>
          <p:cNvPr id="7" name="TextBox 6">
            <a:extLst>
              <a:ext uri="{FF2B5EF4-FFF2-40B4-BE49-F238E27FC236}">
                <a16:creationId xmlns:a16="http://schemas.microsoft.com/office/drawing/2014/main" id="{D299FCC6-AE71-9E5D-4917-FA500BE60C5D}"/>
              </a:ext>
            </a:extLst>
          </p:cNvPr>
          <p:cNvSpPr txBox="1"/>
          <p:nvPr/>
        </p:nvSpPr>
        <p:spPr>
          <a:xfrm>
            <a:off x="10668000" y="6413500"/>
            <a:ext cx="889000" cy="184666"/>
          </a:xfrm>
          <a:prstGeom prst="rect">
            <a:avLst/>
          </a:prstGeom>
          <a:noFill/>
        </p:spPr>
        <p:txBody>
          <a:bodyPr vert="horz" lIns="0" tIns="0" rtlCol="0">
            <a:spAutoFit/>
          </a:bodyPr>
          <a:lstStyle/>
          <a:p>
            <a:pPr algn="r"/>
            <a:r>
              <a:rPr lang="en-IN" sz="900" b="1">
                <a:solidFill>
                  <a:srgbClr val="2563EB"/>
                </a:solidFill>
                <a:latin typeface="Calibri" panose="020F0502020204030204" pitchFamily="34" charset="0"/>
              </a:rPr>
              <a:t>Slide 9 / 12</a:t>
            </a:r>
          </a:p>
        </p:txBody>
      </p:sp>
      <p:sp>
        <p:nvSpPr>
          <p:cNvPr id="8" name="Rectangle: Rounded Corners 7">
            <a:extLst>
              <a:ext uri="{FF2B5EF4-FFF2-40B4-BE49-F238E27FC236}">
                <a16:creationId xmlns:a16="http://schemas.microsoft.com/office/drawing/2014/main" id="{44C805B0-EB84-1551-37F2-B9361929558E}"/>
              </a:ext>
            </a:extLst>
          </p:cNvPr>
          <p:cNvSpPr/>
          <p:nvPr/>
        </p:nvSpPr>
        <p:spPr>
          <a:xfrm>
            <a:off x="501445" y="1172121"/>
            <a:ext cx="6039055" cy="4987379"/>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16966BA7-00ED-EE38-AA53-31A7B3B25BCB}"/>
              </a:ext>
            </a:extLst>
          </p:cNvPr>
          <p:cNvSpPr txBox="1"/>
          <p:nvPr/>
        </p:nvSpPr>
        <p:spPr>
          <a:xfrm>
            <a:off x="863600" y="1358900"/>
            <a:ext cx="5638800" cy="215444"/>
          </a:xfrm>
          <a:prstGeom prst="rect">
            <a:avLst/>
          </a:prstGeom>
          <a:noFill/>
        </p:spPr>
        <p:txBody>
          <a:bodyPr vert="horz" lIns="0" tIns="0" rtlCol="0">
            <a:spAutoFit/>
          </a:bodyPr>
          <a:lstStyle/>
          <a:p>
            <a:r>
              <a:rPr lang="en-IN" sz="1100" b="1">
                <a:solidFill>
                  <a:srgbClr val="2563EB"/>
                </a:solidFill>
                <a:latin typeface="Calibri" panose="020F0502020204030204" pitchFamily="34" charset="0"/>
              </a:rPr>
              <a:t>PHASE 3 EMPIRICAL VALIDATION</a:t>
            </a:r>
          </a:p>
        </p:txBody>
      </p:sp>
      <p:sp>
        <p:nvSpPr>
          <p:cNvPr id="10" name="TextBox 9">
            <a:extLst>
              <a:ext uri="{FF2B5EF4-FFF2-40B4-BE49-F238E27FC236}">
                <a16:creationId xmlns:a16="http://schemas.microsoft.com/office/drawing/2014/main" id="{ACA668A1-0F58-42E5-6758-78A4E6D9C634}"/>
              </a:ext>
            </a:extLst>
          </p:cNvPr>
          <p:cNvSpPr txBox="1"/>
          <p:nvPr/>
        </p:nvSpPr>
        <p:spPr>
          <a:xfrm>
            <a:off x="863600" y="1714500"/>
            <a:ext cx="5638800" cy="3431709"/>
          </a:xfrm>
          <a:prstGeom prst="rect">
            <a:avLst/>
          </a:prstGeom>
          <a:noFill/>
        </p:spPr>
        <p:txBody>
          <a:bodyPr vert="horz" wrap="square" lIns="0" tIns="0" rtlCol="0">
            <a:spAutoFit/>
          </a:bodyPr>
          <a:lstStyle/>
          <a:p>
            <a:r>
              <a:rPr lang="en-US" sz="2000">
                <a:solidFill>
                  <a:srgbClr val="1F2937"/>
                </a:solidFill>
                <a:latin typeface="Calibri" panose="020F0502020204030204" pitchFamily="34" charset="0"/>
              </a:rPr>
              <a:t>-  Execute automated full boot sequences in QEMU.</a:t>
            </a:r>
          </a:p>
          <a:p>
            <a:endParaRPr lang="en-US" sz="2000">
              <a:solidFill>
                <a:srgbClr val="1F2937"/>
              </a:solidFill>
              <a:latin typeface="Calibri" panose="020F0502020204030204" pitchFamily="34" charset="0"/>
            </a:endParaRPr>
          </a:p>
          <a:p>
            <a:r>
              <a:rPr lang="en-US" sz="2000">
                <a:solidFill>
                  <a:srgbClr val="1F2937"/>
                </a:solidFill>
                <a:latin typeface="Calibri" panose="020F0502020204030204" pitchFamily="34" charset="0"/>
              </a:rPr>
              <a:t>-  Use GDB to enforce static memory limits.</a:t>
            </a:r>
          </a:p>
          <a:p>
            <a:endParaRPr lang="en-US" sz="2000">
              <a:solidFill>
                <a:srgbClr val="1F2937"/>
              </a:solidFill>
              <a:latin typeface="Calibri" panose="020F0502020204030204" pitchFamily="34" charset="0"/>
            </a:endParaRPr>
          </a:p>
          <a:p>
            <a:r>
              <a:rPr lang="en-US" sz="2000">
                <a:solidFill>
                  <a:srgbClr val="1F2937"/>
                </a:solidFill>
                <a:latin typeface="Calibri" panose="020F0502020204030204" pitchFamily="34" charset="0"/>
              </a:rPr>
              <a:t>-  Verify total absence of dynamic heap allocations.</a:t>
            </a:r>
          </a:p>
          <a:p>
            <a:endParaRPr lang="en-US" sz="2000">
              <a:solidFill>
                <a:srgbClr val="1F2937"/>
              </a:solidFill>
              <a:latin typeface="Calibri" panose="020F0502020204030204" pitchFamily="34" charset="0"/>
            </a:endParaRPr>
          </a:p>
          <a:p>
            <a:r>
              <a:rPr lang="en-US" sz="2000">
                <a:solidFill>
                  <a:srgbClr val="1F2937"/>
                </a:solidFill>
                <a:latin typeface="Calibri" panose="020F0502020204030204" pitchFamily="34" charset="0"/>
              </a:rPr>
              <a:t>-  Test fault-injection with bit-flipped signatures and headers.</a:t>
            </a:r>
          </a:p>
          <a:p>
            <a:endParaRPr lang="en-US" sz="2000">
              <a:solidFill>
                <a:srgbClr val="1F2937"/>
              </a:solidFill>
              <a:latin typeface="Calibri" panose="020F0502020204030204" pitchFamily="34" charset="0"/>
            </a:endParaRPr>
          </a:p>
          <a:p>
            <a:r>
              <a:rPr lang="en-US" sz="2000">
                <a:solidFill>
                  <a:srgbClr val="1F2937"/>
                </a:solidFill>
                <a:latin typeface="Calibri" panose="020F0502020204030204" pitchFamily="34" charset="0"/>
              </a:rPr>
              <a:t>-  Benchmark PQC implementations against classical RSA baselines.</a:t>
            </a:r>
            <a:endParaRPr lang="en-IN" sz="2000">
              <a:solidFill>
                <a:srgbClr val="1F2937"/>
              </a:solidFill>
              <a:latin typeface="Calibri" panose="020F0502020204030204" pitchFamily="34" charset="0"/>
            </a:endParaRPr>
          </a:p>
        </p:txBody>
      </p:sp>
      <p:sp>
        <p:nvSpPr>
          <p:cNvPr id="11" name="Rectangle: Rounded Corners 10">
            <a:extLst>
              <a:ext uri="{FF2B5EF4-FFF2-40B4-BE49-F238E27FC236}">
                <a16:creationId xmlns:a16="http://schemas.microsoft.com/office/drawing/2014/main" id="{E5C74F04-E1A8-3918-2D47-57D6BBAA7C98}"/>
              </a:ext>
            </a:extLst>
          </p:cNvPr>
          <p:cNvSpPr/>
          <p:nvPr/>
        </p:nvSpPr>
        <p:spPr>
          <a:xfrm>
            <a:off x="6731000" y="1206500"/>
            <a:ext cx="4826000" cy="4952999"/>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ACB30A09-AE08-CB5B-0074-3EA3C91683A2}"/>
              </a:ext>
            </a:extLst>
          </p:cNvPr>
          <p:cNvSpPr txBox="1"/>
          <p:nvPr/>
        </p:nvSpPr>
        <p:spPr>
          <a:xfrm>
            <a:off x="7112000" y="1358900"/>
            <a:ext cx="4254500" cy="215444"/>
          </a:xfrm>
          <a:prstGeom prst="rect">
            <a:avLst/>
          </a:prstGeom>
          <a:noFill/>
        </p:spPr>
        <p:txBody>
          <a:bodyPr vert="horz" lIns="0" tIns="0" rtlCol="0">
            <a:spAutoFit/>
          </a:bodyPr>
          <a:lstStyle/>
          <a:p>
            <a:r>
              <a:rPr lang="en-IN" sz="1100" b="1">
                <a:solidFill>
                  <a:srgbClr val="2563EB"/>
                </a:solidFill>
                <a:latin typeface="Calibri" panose="020F0502020204030204" pitchFamily="34" charset="0"/>
              </a:rPr>
              <a:t>AUTOMATED TESTBENCH &amp; PROFILING HARNESS</a:t>
            </a:r>
          </a:p>
        </p:txBody>
      </p:sp>
      <p:sp>
        <p:nvSpPr>
          <p:cNvPr id="13" name="Rectangle: Rounded Corners 12">
            <a:extLst>
              <a:ext uri="{FF2B5EF4-FFF2-40B4-BE49-F238E27FC236}">
                <a16:creationId xmlns:a16="http://schemas.microsoft.com/office/drawing/2014/main" id="{26A86FEA-C069-55FC-C3A5-8ACEA9571E51}"/>
              </a:ext>
            </a:extLst>
          </p:cNvPr>
          <p:cNvSpPr/>
          <p:nvPr/>
        </p:nvSpPr>
        <p:spPr>
          <a:xfrm>
            <a:off x="7048500" y="1676400"/>
            <a:ext cx="4381500" cy="584200"/>
          </a:xfrm>
          <a:prstGeom prst="roundRect">
            <a:avLst/>
          </a:prstGeom>
          <a:solidFill>
            <a:srgbClr val="EFF6FF"/>
          </a:solidFill>
          <a:ln w="1905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3606B47-D90C-99D4-EA25-468D3B9F5E74}"/>
              </a:ext>
            </a:extLst>
          </p:cNvPr>
          <p:cNvSpPr txBox="1"/>
          <p:nvPr/>
        </p:nvSpPr>
        <p:spPr>
          <a:xfrm>
            <a:off x="7124700" y="1727200"/>
            <a:ext cx="4229100" cy="307777"/>
          </a:xfrm>
          <a:prstGeom prst="rect">
            <a:avLst/>
          </a:prstGeom>
          <a:noFill/>
        </p:spPr>
        <p:txBody>
          <a:bodyPr vert="horz" wrap="square" lIns="0" tIns="0" rIns="0" bIns="0" rtlCol="0">
            <a:spAutoFit/>
          </a:bodyPr>
          <a:lstStyle/>
          <a:p>
            <a:pPr algn="ctr"/>
            <a:r>
              <a:rPr lang="en-IN" sz="1000" b="1">
                <a:solidFill>
                  <a:srgbClr val="2563EB"/>
                </a:solidFill>
                <a:latin typeface="Calibri" panose="020F0502020204030204" pitchFamily="34" charset="0"/>
              </a:rPr>
              <a:t>Automated Test Runner &amp; Mutator</a:t>
            </a:r>
          </a:p>
          <a:p>
            <a:pPr algn="ctr"/>
            <a:r>
              <a:rPr lang="en-IN" sz="1000" b="1">
                <a:solidFill>
                  <a:srgbClr val="2563EB"/>
                </a:solidFill>
                <a:latin typeface="Calibri" panose="020F0502020204030204" pitchFamily="34" charset="0"/>
              </a:rPr>
              <a:t>Python E2E Test Suite via Multi-Target QEMU</a:t>
            </a:r>
          </a:p>
        </p:txBody>
      </p:sp>
      <p:cxnSp>
        <p:nvCxnSpPr>
          <p:cNvPr id="15" name="Straight Connector 14">
            <a:extLst>
              <a:ext uri="{FF2B5EF4-FFF2-40B4-BE49-F238E27FC236}">
                <a16:creationId xmlns:a16="http://schemas.microsoft.com/office/drawing/2014/main" id="{6A5ECC46-5FAD-74E7-69E4-BE422506036B}"/>
              </a:ext>
            </a:extLst>
          </p:cNvPr>
          <p:cNvCxnSpPr/>
          <p:nvPr/>
        </p:nvCxnSpPr>
        <p:spPr>
          <a:xfrm>
            <a:off x="9232900" y="2260600"/>
            <a:ext cx="0" cy="2032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1734FF81-4AB3-BE4B-4E27-5B8A202FD6D1}"/>
              </a:ext>
            </a:extLst>
          </p:cNvPr>
          <p:cNvSpPr/>
          <p:nvPr/>
        </p:nvSpPr>
        <p:spPr>
          <a:xfrm>
            <a:off x="7048500" y="2463800"/>
            <a:ext cx="4381500" cy="609600"/>
          </a:xfrm>
          <a:prstGeom prst="round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4503E242-6369-28B9-3BEF-58305B36F660}"/>
              </a:ext>
            </a:extLst>
          </p:cNvPr>
          <p:cNvSpPr txBox="1"/>
          <p:nvPr/>
        </p:nvSpPr>
        <p:spPr>
          <a:xfrm>
            <a:off x="7124700" y="2514600"/>
            <a:ext cx="4229100" cy="307777"/>
          </a:xfrm>
          <a:prstGeom prst="rect">
            <a:avLst/>
          </a:prstGeom>
          <a:noFill/>
        </p:spPr>
        <p:txBody>
          <a:bodyPr vert="horz" wrap="square" lIns="0" tIns="0" rIns="0" bIns="0" rtlCol="0">
            <a:spAutoFit/>
          </a:bodyPr>
          <a:lstStyle/>
          <a:p>
            <a:pPr algn="ctr"/>
            <a:r>
              <a:rPr lang="en-IN" sz="1000" b="1">
                <a:solidFill>
                  <a:srgbClr val="0F2942"/>
                </a:solidFill>
                <a:latin typeface="Calibri" panose="020F0502020204030204" pitchFamily="34" charset="0"/>
              </a:rPr>
              <a:t>1. QEMU Multi-Arch Emulation</a:t>
            </a:r>
          </a:p>
          <a:p>
            <a:pPr algn="ctr"/>
            <a:r>
              <a:rPr lang="en-IN" sz="1000" b="1">
                <a:solidFill>
                  <a:srgbClr val="0F2942"/>
                </a:solidFill>
                <a:latin typeface="Calibri" panose="020F0502020204030204" pitchFamily="34" charset="0"/>
              </a:rPr>
              <a:t>ARM Cortex-M4  |  RISC-V 64  |  Cortex-A57</a:t>
            </a:r>
          </a:p>
        </p:txBody>
      </p:sp>
      <p:cxnSp>
        <p:nvCxnSpPr>
          <p:cNvPr id="18" name="Straight Connector 17">
            <a:extLst>
              <a:ext uri="{FF2B5EF4-FFF2-40B4-BE49-F238E27FC236}">
                <a16:creationId xmlns:a16="http://schemas.microsoft.com/office/drawing/2014/main" id="{B04516C8-106E-3C75-F201-BE26EF11EB81}"/>
              </a:ext>
            </a:extLst>
          </p:cNvPr>
          <p:cNvCxnSpPr/>
          <p:nvPr/>
        </p:nvCxnSpPr>
        <p:spPr>
          <a:xfrm>
            <a:off x="9232900" y="3073400"/>
            <a:ext cx="0" cy="2032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0C58F39F-E44E-B64F-DC6D-E75C7091E52C}"/>
              </a:ext>
            </a:extLst>
          </p:cNvPr>
          <p:cNvSpPr/>
          <p:nvPr/>
        </p:nvSpPr>
        <p:spPr>
          <a:xfrm>
            <a:off x="7048500" y="3276600"/>
            <a:ext cx="4381500" cy="609600"/>
          </a:xfrm>
          <a:prstGeom prst="round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700DA7B0-2CCA-84F6-3045-6598E3D93100}"/>
              </a:ext>
            </a:extLst>
          </p:cNvPr>
          <p:cNvSpPr txBox="1"/>
          <p:nvPr/>
        </p:nvSpPr>
        <p:spPr>
          <a:xfrm>
            <a:off x="7124700" y="3327400"/>
            <a:ext cx="4229100" cy="307777"/>
          </a:xfrm>
          <a:prstGeom prst="rect">
            <a:avLst/>
          </a:prstGeom>
          <a:noFill/>
        </p:spPr>
        <p:txBody>
          <a:bodyPr vert="horz" wrap="square" lIns="0" tIns="0" rIns="0" bIns="0" rtlCol="0">
            <a:spAutoFit/>
          </a:bodyPr>
          <a:lstStyle/>
          <a:p>
            <a:pPr algn="ctr"/>
            <a:r>
              <a:rPr lang="en-US" sz="1000" b="1">
                <a:solidFill>
                  <a:srgbClr val="0F2942"/>
                </a:solidFill>
                <a:latin typeface="Calibri" panose="020F0502020204030204" pitchFamily="34" charset="0"/>
              </a:rPr>
              <a:t>2. GDB Stack Memory Profiling</a:t>
            </a:r>
          </a:p>
          <a:p>
            <a:pPr algn="ctr"/>
            <a:r>
              <a:rPr lang="en-US" sz="1000" b="1">
                <a:solidFill>
                  <a:srgbClr val="0F2942"/>
                </a:solidFill>
                <a:latin typeface="Calibri" panose="020F0502020204030204" pitchFamily="34" charset="0"/>
              </a:rPr>
              <a:t>Enforcing Static Ceiling (&lt; 4 KB) &amp; Zero Dynamic Heap</a:t>
            </a:r>
            <a:endParaRPr lang="en-IN" sz="1000" b="1">
              <a:solidFill>
                <a:srgbClr val="0F2942"/>
              </a:solidFill>
              <a:latin typeface="Calibri" panose="020F0502020204030204" pitchFamily="34" charset="0"/>
            </a:endParaRPr>
          </a:p>
        </p:txBody>
      </p:sp>
      <p:cxnSp>
        <p:nvCxnSpPr>
          <p:cNvPr id="21" name="Straight Connector 20">
            <a:extLst>
              <a:ext uri="{FF2B5EF4-FFF2-40B4-BE49-F238E27FC236}">
                <a16:creationId xmlns:a16="http://schemas.microsoft.com/office/drawing/2014/main" id="{BD1A0D1D-0B97-E771-596E-089113648E7E}"/>
              </a:ext>
            </a:extLst>
          </p:cNvPr>
          <p:cNvCxnSpPr/>
          <p:nvPr/>
        </p:nvCxnSpPr>
        <p:spPr>
          <a:xfrm>
            <a:off x="9232900" y="3886200"/>
            <a:ext cx="0" cy="2032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30246348-390D-F884-09FC-3549BA89B65C}"/>
              </a:ext>
            </a:extLst>
          </p:cNvPr>
          <p:cNvSpPr/>
          <p:nvPr/>
        </p:nvSpPr>
        <p:spPr>
          <a:xfrm>
            <a:off x="7048500" y="4089400"/>
            <a:ext cx="4381500" cy="609600"/>
          </a:xfrm>
          <a:prstGeom prst="roundRect">
            <a:avLst/>
          </a:prstGeom>
          <a:solidFill>
            <a:srgbClr val="F8FAFC"/>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8B784822-D6DE-8A3B-473F-F455891B5D63}"/>
              </a:ext>
            </a:extLst>
          </p:cNvPr>
          <p:cNvSpPr txBox="1"/>
          <p:nvPr/>
        </p:nvSpPr>
        <p:spPr>
          <a:xfrm>
            <a:off x="7124700" y="4140200"/>
            <a:ext cx="4229100" cy="307777"/>
          </a:xfrm>
          <a:prstGeom prst="rect">
            <a:avLst/>
          </a:prstGeom>
          <a:noFill/>
        </p:spPr>
        <p:txBody>
          <a:bodyPr vert="horz" wrap="square" lIns="0" tIns="0" rIns="0" bIns="0" rtlCol="0">
            <a:spAutoFit/>
          </a:bodyPr>
          <a:lstStyle/>
          <a:p>
            <a:pPr algn="ctr"/>
            <a:r>
              <a:rPr lang="en-US" sz="1000" b="1">
                <a:solidFill>
                  <a:srgbClr val="0F2942"/>
                </a:solidFill>
                <a:latin typeface="Calibri" panose="020F0502020204030204" pitchFamily="34" charset="0"/>
              </a:rPr>
              <a:t>3. Bit-Flip Fault Injection</a:t>
            </a:r>
          </a:p>
          <a:p>
            <a:pPr algn="ctr"/>
            <a:r>
              <a:rPr lang="en-US" sz="1000" b="1">
                <a:solidFill>
                  <a:srgbClr val="0F2942"/>
                </a:solidFill>
                <a:latin typeface="Calibri" panose="020F0502020204030204" pitchFamily="34" charset="0"/>
              </a:rPr>
              <a:t>Simulated Tampering: Signatures, TLVs, Keys</a:t>
            </a:r>
            <a:endParaRPr lang="en-IN" sz="1000" b="1">
              <a:solidFill>
                <a:srgbClr val="0F2942"/>
              </a:solidFill>
              <a:latin typeface="Calibri" panose="020F0502020204030204" pitchFamily="34" charset="0"/>
            </a:endParaRPr>
          </a:p>
        </p:txBody>
      </p:sp>
      <p:cxnSp>
        <p:nvCxnSpPr>
          <p:cNvPr id="24" name="Straight Connector 23">
            <a:extLst>
              <a:ext uri="{FF2B5EF4-FFF2-40B4-BE49-F238E27FC236}">
                <a16:creationId xmlns:a16="http://schemas.microsoft.com/office/drawing/2014/main" id="{EAC2816C-86B0-8508-D55C-962FDBB167B4}"/>
              </a:ext>
            </a:extLst>
          </p:cNvPr>
          <p:cNvCxnSpPr/>
          <p:nvPr/>
        </p:nvCxnSpPr>
        <p:spPr>
          <a:xfrm>
            <a:off x="9232900" y="4699000"/>
            <a:ext cx="0" cy="20320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148E497B-F6A5-2052-762D-27B85956D18A}"/>
              </a:ext>
            </a:extLst>
          </p:cNvPr>
          <p:cNvSpPr/>
          <p:nvPr/>
        </p:nvSpPr>
        <p:spPr>
          <a:xfrm>
            <a:off x="7048500" y="4902200"/>
            <a:ext cx="4381500" cy="685800"/>
          </a:xfrm>
          <a:prstGeom prst="roundRect">
            <a:avLst/>
          </a:prstGeom>
          <a:solidFill>
            <a:srgbClr val="EFF6FF"/>
          </a:solidFill>
          <a:ln w="1905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D4739C59-6072-2EA6-ACFF-2562749A4045}"/>
              </a:ext>
            </a:extLst>
          </p:cNvPr>
          <p:cNvSpPr txBox="1"/>
          <p:nvPr/>
        </p:nvSpPr>
        <p:spPr>
          <a:xfrm>
            <a:off x="7124700" y="4953000"/>
            <a:ext cx="4229100" cy="307777"/>
          </a:xfrm>
          <a:prstGeom prst="rect">
            <a:avLst/>
          </a:prstGeom>
          <a:noFill/>
        </p:spPr>
        <p:txBody>
          <a:bodyPr vert="horz" wrap="square" lIns="0" tIns="0" rIns="0" bIns="0" rtlCol="0">
            <a:spAutoFit/>
          </a:bodyPr>
          <a:lstStyle/>
          <a:p>
            <a:pPr algn="ctr"/>
            <a:r>
              <a:rPr lang="en-US" sz="1000" b="1">
                <a:solidFill>
                  <a:srgbClr val="2563EB"/>
                </a:solidFill>
                <a:latin typeface="Calibri" panose="020F0502020204030204" pitchFamily="34" charset="0"/>
              </a:rPr>
              <a:t>100% TAMPER REJECTION &amp; BENCHMARKS</a:t>
            </a:r>
          </a:p>
          <a:p>
            <a:pPr algn="ctr"/>
            <a:r>
              <a:rPr lang="en-US" sz="1000" b="1">
                <a:solidFill>
                  <a:srgbClr val="2563EB"/>
                </a:solidFill>
                <a:latin typeface="Calibri" panose="020F0502020204030204" pitchFamily="34" charset="0"/>
              </a:rPr>
              <a:t>Signature Overhead, ROM/RAM Footprint, Boot Latency</a:t>
            </a:r>
            <a:endParaRPr lang="en-IN" sz="1000" b="1">
              <a:solidFill>
                <a:srgbClr val="2563EB"/>
              </a:solidFill>
              <a:latin typeface="Calibri" panose="020F0502020204030204" pitchFamily="34" charset="0"/>
            </a:endParaRPr>
          </a:p>
        </p:txBody>
      </p:sp>
    </p:spTree>
    <p:extLst>
      <p:ext uri="{BB962C8B-B14F-4D97-AF65-F5344CB8AC3E}">
        <p14:creationId xmlns:p14="http://schemas.microsoft.com/office/powerpoint/2010/main" val="600991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F2409EC-3CA7-61D1-C9C0-92F2B841EF1D}"/>
              </a:ext>
            </a:extLst>
          </p:cNvPr>
          <p:cNvSpPr/>
          <p:nvPr/>
        </p:nvSpPr>
        <p:spPr>
          <a:xfrm>
            <a:off x="635000" y="254000"/>
            <a:ext cx="1905000" cy="228600"/>
          </a:xfrm>
          <a:prstGeom prst="roundRect">
            <a:avLst/>
          </a:prstGeom>
          <a:solidFill>
            <a:srgbClr val="EFF6FF"/>
          </a:solidFill>
          <a:ln w="1270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B918957-CC19-5CB3-9C46-9EE8D575A27D}"/>
              </a:ext>
            </a:extLst>
          </p:cNvPr>
          <p:cNvSpPr txBox="1"/>
          <p:nvPr/>
        </p:nvSpPr>
        <p:spPr>
          <a:xfrm>
            <a:off x="635000" y="254000"/>
            <a:ext cx="1905000" cy="184666"/>
          </a:xfrm>
          <a:prstGeom prst="rect">
            <a:avLst/>
          </a:prstGeom>
          <a:noFill/>
        </p:spPr>
        <p:txBody>
          <a:bodyPr vert="horz" lIns="0" tIns="0" rtlCol="0">
            <a:spAutoFit/>
          </a:bodyPr>
          <a:lstStyle/>
          <a:p>
            <a:pPr algn="ctr"/>
            <a:r>
              <a:rPr lang="en-IN" sz="900" b="1">
                <a:solidFill>
                  <a:srgbClr val="2563EB"/>
                </a:solidFill>
                <a:latin typeface="Calibri" panose="020F0502020204030204" pitchFamily="34" charset="0"/>
              </a:rPr>
              <a:t>5. PLAN OF WORK</a:t>
            </a:r>
          </a:p>
        </p:txBody>
      </p:sp>
      <p:sp>
        <p:nvSpPr>
          <p:cNvPr id="4" name="TextBox 3">
            <a:extLst>
              <a:ext uri="{FF2B5EF4-FFF2-40B4-BE49-F238E27FC236}">
                <a16:creationId xmlns:a16="http://schemas.microsoft.com/office/drawing/2014/main" id="{187482CC-F8E5-3EE8-92AF-5E1E96F7BF64}"/>
              </a:ext>
            </a:extLst>
          </p:cNvPr>
          <p:cNvSpPr txBox="1"/>
          <p:nvPr/>
        </p:nvSpPr>
        <p:spPr>
          <a:xfrm>
            <a:off x="635000" y="533400"/>
            <a:ext cx="10922000" cy="384721"/>
          </a:xfrm>
          <a:prstGeom prst="rect">
            <a:avLst/>
          </a:prstGeom>
          <a:noFill/>
        </p:spPr>
        <p:txBody>
          <a:bodyPr vert="horz" lIns="0" tIns="0" rtlCol="0">
            <a:spAutoFit/>
          </a:bodyPr>
          <a:lstStyle/>
          <a:p>
            <a:r>
              <a:rPr lang="en-US" sz="2200" b="1">
                <a:solidFill>
                  <a:srgbClr val="0F2942"/>
                </a:solidFill>
                <a:latin typeface="Calibri" panose="020F0502020204030204" pitchFamily="34" charset="0"/>
              </a:rPr>
              <a:t>Plan of Work: Five-Phase Implementation Roadmap</a:t>
            </a:r>
            <a:endParaRPr lang="en-IN" sz="2200" b="1">
              <a:solidFill>
                <a:srgbClr val="0F2942"/>
              </a:solidFill>
              <a:latin typeface="Calibri" panose="020F0502020204030204" pitchFamily="34" charset="0"/>
            </a:endParaRPr>
          </a:p>
        </p:txBody>
      </p:sp>
      <p:cxnSp>
        <p:nvCxnSpPr>
          <p:cNvPr id="5" name="Straight Connector 4">
            <a:extLst>
              <a:ext uri="{FF2B5EF4-FFF2-40B4-BE49-F238E27FC236}">
                <a16:creationId xmlns:a16="http://schemas.microsoft.com/office/drawing/2014/main" id="{40DB3D0F-C917-B59A-F7EE-62B3AAC5A1DF}"/>
              </a:ext>
            </a:extLst>
          </p:cNvPr>
          <p:cNvCxnSpPr/>
          <p:nvPr/>
        </p:nvCxnSpPr>
        <p:spPr>
          <a:xfrm>
            <a:off x="635000" y="1016000"/>
            <a:ext cx="10922000" cy="0"/>
          </a:xfrm>
          <a:prstGeom prst="line">
            <a:avLst/>
          </a:prstGeom>
          <a:ln w="12700">
            <a:solidFill>
              <a:srgbClr val="D1D9E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208D1D2F-9367-F0BF-CB71-5463A913CD37}"/>
              </a:ext>
            </a:extLst>
          </p:cNvPr>
          <p:cNvSpPr txBox="1"/>
          <p:nvPr/>
        </p:nvSpPr>
        <p:spPr>
          <a:xfrm>
            <a:off x="635000" y="6413500"/>
            <a:ext cx="10922000" cy="184666"/>
          </a:xfrm>
          <a:prstGeom prst="rect">
            <a:avLst/>
          </a:prstGeom>
          <a:noFill/>
        </p:spPr>
        <p:txBody>
          <a:bodyPr vert="horz" lIns="0" tIns="0" rtlCol="0">
            <a:spAutoFit/>
          </a:bodyPr>
          <a:lstStyle/>
          <a:p>
            <a:r>
              <a:rPr lang="en-IN" sz="900">
                <a:solidFill>
                  <a:srgbClr val="6B7280"/>
                </a:solidFill>
                <a:latin typeface="Calibri" panose="020F0502020204030204" pitchFamily="34" charset="0"/>
              </a:rPr>
              <a:t>BITS Pilani (WILP) | ESZG628T Dissertation Outline | Kiruthik Prakash J (2024HT01586) | Qualcomm India</a:t>
            </a:r>
          </a:p>
        </p:txBody>
      </p:sp>
      <p:sp>
        <p:nvSpPr>
          <p:cNvPr id="7" name="TextBox 6">
            <a:extLst>
              <a:ext uri="{FF2B5EF4-FFF2-40B4-BE49-F238E27FC236}">
                <a16:creationId xmlns:a16="http://schemas.microsoft.com/office/drawing/2014/main" id="{96B11961-1D45-4010-F407-02EF745F6C32}"/>
              </a:ext>
            </a:extLst>
          </p:cNvPr>
          <p:cNvSpPr txBox="1"/>
          <p:nvPr/>
        </p:nvSpPr>
        <p:spPr>
          <a:xfrm>
            <a:off x="10668000" y="6413500"/>
            <a:ext cx="889000" cy="184666"/>
          </a:xfrm>
          <a:prstGeom prst="rect">
            <a:avLst/>
          </a:prstGeom>
          <a:noFill/>
        </p:spPr>
        <p:txBody>
          <a:bodyPr vert="horz" lIns="0" tIns="0" rtlCol="0">
            <a:spAutoFit/>
          </a:bodyPr>
          <a:lstStyle/>
          <a:p>
            <a:pPr algn="r"/>
            <a:r>
              <a:rPr lang="en-IN" sz="900" b="1">
                <a:solidFill>
                  <a:srgbClr val="2563EB"/>
                </a:solidFill>
                <a:latin typeface="Calibri" panose="020F0502020204030204" pitchFamily="34" charset="0"/>
              </a:rPr>
              <a:t>Slide 10 / 12</a:t>
            </a:r>
          </a:p>
        </p:txBody>
      </p:sp>
      <p:sp>
        <p:nvSpPr>
          <p:cNvPr id="8" name="Rectangle: Rounded Corners 7">
            <a:extLst>
              <a:ext uri="{FF2B5EF4-FFF2-40B4-BE49-F238E27FC236}">
                <a16:creationId xmlns:a16="http://schemas.microsoft.com/office/drawing/2014/main" id="{1D0556ED-274A-4ED3-E32A-BA6CC1225447}"/>
              </a:ext>
            </a:extLst>
          </p:cNvPr>
          <p:cNvSpPr/>
          <p:nvPr/>
        </p:nvSpPr>
        <p:spPr>
          <a:xfrm>
            <a:off x="635000" y="1168400"/>
            <a:ext cx="10922000" cy="330200"/>
          </a:xfrm>
          <a:prstGeom prst="roundRect">
            <a:avLst/>
          </a:prstGeom>
          <a:solidFill>
            <a:srgbClr val="EFF6FF"/>
          </a:solidFill>
          <a:ln w="1270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AD8F9705-59A5-3C14-685C-C635AA7E622B}"/>
              </a:ext>
            </a:extLst>
          </p:cNvPr>
          <p:cNvSpPr txBox="1"/>
          <p:nvPr/>
        </p:nvSpPr>
        <p:spPr>
          <a:xfrm>
            <a:off x="762000" y="1219200"/>
            <a:ext cx="10668000" cy="200055"/>
          </a:xfrm>
          <a:prstGeom prst="rect">
            <a:avLst/>
          </a:prstGeom>
          <a:noFill/>
        </p:spPr>
        <p:txBody>
          <a:bodyPr vert="horz" lIns="0" tIns="0" rtlCol="0">
            <a:spAutoFit/>
          </a:bodyPr>
          <a:lstStyle/>
          <a:p>
            <a:pPr algn="ctr"/>
            <a:r>
              <a:rPr lang="en-US" sz="1000" b="1">
                <a:solidFill>
                  <a:srgbClr val="2563EB"/>
                </a:solidFill>
                <a:latin typeface="Calibri" panose="020F0502020204030204" pitchFamily="34" charset="0"/>
              </a:rPr>
              <a:t>ACADEMIC TIMELINE: SECOND SEMESTER 2025-2026  (JULY 2026  --&gt;  DECEMBER 2026)</a:t>
            </a:r>
            <a:endParaRPr lang="en-IN" sz="1000" b="1">
              <a:solidFill>
                <a:srgbClr val="2563EB"/>
              </a:solidFill>
              <a:latin typeface="Calibri" panose="020F0502020204030204" pitchFamily="34" charset="0"/>
            </a:endParaRPr>
          </a:p>
        </p:txBody>
      </p:sp>
      <p:sp>
        <p:nvSpPr>
          <p:cNvPr id="10" name="Rectangle: Rounded Corners 9">
            <a:extLst>
              <a:ext uri="{FF2B5EF4-FFF2-40B4-BE49-F238E27FC236}">
                <a16:creationId xmlns:a16="http://schemas.microsoft.com/office/drawing/2014/main" id="{CB69BB5F-D155-4D2B-0761-B24CFE3B3F7D}"/>
              </a:ext>
            </a:extLst>
          </p:cNvPr>
          <p:cNvSpPr/>
          <p:nvPr/>
        </p:nvSpPr>
        <p:spPr>
          <a:xfrm>
            <a:off x="647700" y="1600200"/>
            <a:ext cx="2006600" cy="463550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4C3F1354-40F0-96A6-81C0-C81813DB6F54}"/>
              </a:ext>
            </a:extLst>
          </p:cNvPr>
          <p:cNvSpPr/>
          <p:nvPr/>
        </p:nvSpPr>
        <p:spPr>
          <a:xfrm>
            <a:off x="647700" y="1600200"/>
            <a:ext cx="2006600" cy="406400"/>
          </a:xfrm>
          <a:prstGeom prst="roundRect">
            <a:avLst/>
          </a:prstGeom>
          <a:solidFill>
            <a:srgbClr val="0F29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E1D9057F-9F2F-EA67-099E-A9C7D5290290}"/>
              </a:ext>
            </a:extLst>
          </p:cNvPr>
          <p:cNvSpPr txBox="1"/>
          <p:nvPr/>
        </p:nvSpPr>
        <p:spPr>
          <a:xfrm>
            <a:off x="647700" y="1676400"/>
            <a:ext cx="2006600" cy="207749"/>
          </a:xfrm>
          <a:prstGeom prst="rect">
            <a:avLst/>
          </a:prstGeom>
          <a:noFill/>
        </p:spPr>
        <p:txBody>
          <a:bodyPr vert="horz" lIns="0" tIns="0" rtlCol="0">
            <a:spAutoFit/>
          </a:bodyPr>
          <a:lstStyle/>
          <a:p>
            <a:pPr algn="ctr"/>
            <a:r>
              <a:rPr lang="en-IN" sz="1050" b="1">
                <a:solidFill>
                  <a:srgbClr val="FFFFFF"/>
                </a:solidFill>
                <a:latin typeface="Calibri" panose="020F0502020204030204" pitchFamily="34" charset="0"/>
              </a:rPr>
              <a:t>PHASE 1</a:t>
            </a:r>
          </a:p>
        </p:txBody>
      </p:sp>
      <p:sp>
        <p:nvSpPr>
          <p:cNvPr id="13" name="TextBox 12">
            <a:extLst>
              <a:ext uri="{FF2B5EF4-FFF2-40B4-BE49-F238E27FC236}">
                <a16:creationId xmlns:a16="http://schemas.microsoft.com/office/drawing/2014/main" id="{1F8B17ED-E6C8-8B33-7316-8C77BC146D16}"/>
              </a:ext>
            </a:extLst>
          </p:cNvPr>
          <p:cNvSpPr txBox="1"/>
          <p:nvPr/>
        </p:nvSpPr>
        <p:spPr>
          <a:xfrm>
            <a:off x="723900" y="2082800"/>
            <a:ext cx="1854200" cy="400110"/>
          </a:xfrm>
          <a:prstGeom prst="rect">
            <a:avLst/>
          </a:prstGeom>
          <a:noFill/>
        </p:spPr>
        <p:txBody>
          <a:bodyPr vert="horz" wrap="square" lIns="0" tIns="0" rtlCol="0">
            <a:spAutoFit/>
          </a:bodyPr>
          <a:lstStyle/>
          <a:p>
            <a:pPr algn="ctr"/>
            <a:r>
              <a:rPr lang="en-IN" sz="1150" b="1">
                <a:solidFill>
                  <a:srgbClr val="0F2942"/>
                </a:solidFill>
                <a:latin typeface="Calibri" panose="020F0502020204030204" pitchFamily="34" charset="0"/>
              </a:rPr>
              <a:t>Dissertation</a:t>
            </a:r>
          </a:p>
          <a:p>
            <a:pPr algn="ctr"/>
            <a:r>
              <a:rPr lang="en-IN" sz="1150" b="1">
                <a:solidFill>
                  <a:srgbClr val="0F2942"/>
                </a:solidFill>
                <a:latin typeface="Calibri" panose="020F0502020204030204" pitchFamily="34" charset="0"/>
              </a:rPr>
              <a:t>Outline</a:t>
            </a:r>
          </a:p>
        </p:txBody>
      </p:sp>
      <p:sp>
        <p:nvSpPr>
          <p:cNvPr id="14" name="Rectangle: Rounded Corners 13">
            <a:extLst>
              <a:ext uri="{FF2B5EF4-FFF2-40B4-BE49-F238E27FC236}">
                <a16:creationId xmlns:a16="http://schemas.microsoft.com/office/drawing/2014/main" id="{67A96E4D-EF63-57CE-5F31-08933EAB89A0}"/>
              </a:ext>
            </a:extLst>
          </p:cNvPr>
          <p:cNvSpPr/>
          <p:nvPr/>
        </p:nvSpPr>
        <p:spPr>
          <a:xfrm>
            <a:off x="774700" y="2565400"/>
            <a:ext cx="1752600" cy="254000"/>
          </a:xfrm>
          <a:prstGeom prst="roundRect">
            <a:avLst/>
          </a:prstGeom>
          <a:solidFill>
            <a:srgbClr val="F1F5F9"/>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8B40E82F-01CC-750C-7419-D7652DFE61F7}"/>
              </a:ext>
            </a:extLst>
          </p:cNvPr>
          <p:cNvSpPr txBox="1"/>
          <p:nvPr/>
        </p:nvSpPr>
        <p:spPr>
          <a:xfrm>
            <a:off x="774700" y="2590800"/>
            <a:ext cx="1752600" cy="184666"/>
          </a:xfrm>
          <a:prstGeom prst="rect">
            <a:avLst/>
          </a:prstGeom>
          <a:noFill/>
        </p:spPr>
        <p:txBody>
          <a:bodyPr vert="horz" lIns="0" tIns="0" rtlCol="0">
            <a:spAutoFit/>
          </a:bodyPr>
          <a:lstStyle/>
          <a:p>
            <a:pPr algn="ctr"/>
            <a:r>
              <a:rPr lang="en-IN" sz="900" b="1">
                <a:solidFill>
                  <a:srgbClr val="2563EB"/>
                </a:solidFill>
                <a:latin typeface="Calibri" panose="020F0502020204030204" pitchFamily="34" charset="0"/>
              </a:rPr>
              <a:t>25 Jul - 8 Aug 2026</a:t>
            </a:r>
          </a:p>
        </p:txBody>
      </p:sp>
      <p:cxnSp>
        <p:nvCxnSpPr>
          <p:cNvPr id="16" name="Straight Connector 15">
            <a:extLst>
              <a:ext uri="{FF2B5EF4-FFF2-40B4-BE49-F238E27FC236}">
                <a16:creationId xmlns:a16="http://schemas.microsoft.com/office/drawing/2014/main" id="{E67E1A05-C2C5-D64E-9CA8-5A8E67466758}"/>
              </a:ext>
            </a:extLst>
          </p:cNvPr>
          <p:cNvCxnSpPr/>
          <p:nvPr/>
        </p:nvCxnSpPr>
        <p:spPr>
          <a:xfrm>
            <a:off x="800100" y="2921000"/>
            <a:ext cx="170180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9E7E77E-4AED-147A-80BA-67B3E0EA7895}"/>
              </a:ext>
            </a:extLst>
          </p:cNvPr>
          <p:cNvSpPr txBox="1"/>
          <p:nvPr/>
        </p:nvSpPr>
        <p:spPr>
          <a:xfrm>
            <a:off x="774700" y="2997200"/>
            <a:ext cx="1752600" cy="1654299"/>
          </a:xfrm>
          <a:prstGeom prst="rect">
            <a:avLst/>
          </a:prstGeom>
          <a:noFill/>
        </p:spPr>
        <p:txBody>
          <a:bodyPr vert="horz" wrap="square" lIns="0" tIns="0" rtlCol="0">
            <a:spAutoFit/>
          </a:bodyPr>
          <a:lstStyle/>
          <a:p>
            <a:r>
              <a:rPr lang="en-US" sz="950">
                <a:solidFill>
                  <a:srgbClr val="1F2937"/>
                </a:solidFill>
                <a:latin typeface="Calibri" panose="020F0502020204030204" pitchFamily="34" charset="0"/>
              </a:rPr>
              <a:t>-  Literature review on NIST FIPS 204, FIPS 205, and RFC 8554.</a:t>
            </a:r>
          </a:p>
          <a:p>
            <a:endParaRPr lang="en-US" sz="950">
              <a:solidFill>
                <a:srgbClr val="1F2937"/>
              </a:solidFill>
              <a:latin typeface="Calibri" panose="020F0502020204030204" pitchFamily="34" charset="0"/>
            </a:endParaRPr>
          </a:p>
          <a:p>
            <a:r>
              <a:rPr lang="en-US" sz="950">
                <a:solidFill>
                  <a:srgbClr val="1F2937"/>
                </a:solidFill>
                <a:latin typeface="Calibri" panose="020F0502020204030204" pitchFamily="34" charset="0"/>
              </a:rPr>
              <a:t>-  Zero-malloc &amp; static-RAM constraint model (&lt; 4 KB).</a:t>
            </a:r>
          </a:p>
          <a:p>
            <a:endParaRPr lang="en-US" sz="950">
              <a:solidFill>
                <a:srgbClr val="1F2937"/>
              </a:solidFill>
              <a:latin typeface="Calibri" panose="020F0502020204030204" pitchFamily="34" charset="0"/>
            </a:endParaRPr>
          </a:p>
          <a:p>
            <a:r>
              <a:rPr lang="en-US" sz="950">
                <a:solidFill>
                  <a:srgbClr val="1F2937"/>
                </a:solidFill>
                <a:latin typeface="Calibri" panose="020F0502020204030204" pitchFamily="34" charset="0"/>
              </a:rPr>
              <a:t>-  Root of Trust hardware security specifications.</a:t>
            </a:r>
          </a:p>
          <a:p>
            <a:endParaRPr lang="en-US" sz="950">
              <a:solidFill>
                <a:srgbClr val="1F2937"/>
              </a:solidFill>
              <a:latin typeface="Calibri" panose="020F0502020204030204" pitchFamily="34" charset="0"/>
            </a:endParaRPr>
          </a:p>
          <a:p>
            <a:r>
              <a:rPr lang="en-US" sz="950">
                <a:solidFill>
                  <a:srgbClr val="1F2937"/>
                </a:solidFill>
                <a:latin typeface="Calibri" panose="020F0502020204030204" pitchFamily="34" charset="0"/>
              </a:rPr>
              <a:t>-  Formal Dissertation Outline report submission &amp; review.</a:t>
            </a:r>
            <a:endParaRPr lang="en-IN" sz="950">
              <a:solidFill>
                <a:srgbClr val="1F2937"/>
              </a:solidFill>
              <a:latin typeface="Calibri" panose="020F0502020204030204" pitchFamily="34" charset="0"/>
            </a:endParaRPr>
          </a:p>
        </p:txBody>
      </p:sp>
      <p:cxnSp>
        <p:nvCxnSpPr>
          <p:cNvPr id="18" name="Straight Connector 17">
            <a:extLst>
              <a:ext uri="{FF2B5EF4-FFF2-40B4-BE49-F238E27FC236}">
                <a16:creationId xmlns:a16="http://schemas.microsoft.com/office/drawing/2014/main" id="{1CF820D6-EFB9-79C9-C4AA-4A27464E39C4}"/>
              </a:ext>
            </a:extLst>
          </p:cNvPr>
          <p:cNvCxnSpPr/>
          <p:nvPr/>
        </p:nvCxnSpPr>
        <p:spPr>
          <a:xfrm>
            <a:off x="2667000" y="1803400"/>
            <a:ext cx="190500" cy="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572753A9-6E03-5952-D882-CF8235322E41}"/>
              </a:ext>
            </a:extLst>
          </p:cNvPr>
          <p:cNvSpPr/>
          <p:nvPr/>
        </p:nvSpPr>
        <p:spPr>
          <a:xfrm>
            <a:off x="2870200" y="1600200"/>
            <a:ext cx="2006600" cy="463550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C60A8E92-FA16-D298-0244-B1BC915EA3AB}"/>
              </a:ext>
            </a:extLst>
          </p:cNvPr>
          <p:cNvSpPr/>
          <p:nvPr/>
        </p:nvSpPr>
        <p:spPr>
          <a:xfrm>
            <a:off x="2870200" y="1600200"/>
            <a:ext cx="2006600" cy="406400"/>
          </a:xfrm>
          <a:prstGeom prst="roundRect">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E1D1A220-2F43-416E-DB33-D9AE7FBC5C72}"/>
              </a:ext>
            </a:extLst>
          </p:cNvPr>
          <p:cNvSpPr txBox="1"/>
          <p:nvPr/>
        </p:nvSpPr>
        <p:spPr>
          <a:xfrm>
            <a:off x="2870200" y="1676400"/>
            <a:ext cx="2006600" cy="207749"/>
          </a:xfrm>
          <a:prstGeom prst="rect">
            <a:avLst/>
          </a:prstGeom>
          <a:noFill/>
        </p:spPr>
        <p:txBody>
          <a:bodyPr vert="horz" lIns="0" tIns="0" rtlCol="0">
            <a:spAutoFit/>
          </a:bodyPr>
          <a:lstStyle/>
          <a:p>
            <a:pPr algn="ctr"/>
            <a:r>
              <a:rPr lang="en-IN" sz="1050" b="1">
                <a:solidFill>
                  <a:srgbClr val="FFFFFF"/>
                </a:solidFill>
                <a:latin typeface="Calibri" panose="020F0502020204030204" pitchFamily="34" charset="0"/>
              </a:rPr>
              <a:t>PHASE 2</a:t>
            </a:r>
          </a:p>
        </p:txBody>
      </p:sp>
      <p:sp>
        <p:nvSpPr>
          <p:cNvPr id="22" name="TextBox 21">
            <a:extLst>
              <a:ext uri="{FF2B5EF4-FFF2-40B4-BE49-F238E27FC236}">
                <a16:creationId xmlns:a16="http://schemas.microsoft.com/office/drawing/2014/main" id="{4CEDB119-BFB9-22B3-9240-ED4DC27B2D7C}"/>
              </a:ext>
            </a:extLst>
          </p:cNvPr>
          <p:cNvSpPr txBox="1"/>
          <p:nvPr/>
        </p:nvSpPr>
        <p:spPr>
          <a:xfrm>
            <a:off x="2946400" y="2082800"/>
            <a:ext cx="1854200" cy="400110"/>
          </a:xfrm>
          <a:prstGeom prst="rect">
            <a:avLst/>
          </a:prstGeom>
          <a:noFill/>
        </p:spPr>
        <p:txBody>
          <a:bodyPr vert="horz" wrap="square" lIns="0" tIns="0" rtlCol="0">
            <a:spAutoFit/>
          </a:bodyPr>
          <a:lstStyle/>
          <a:p>
            <a:pPr algn="ctr"/>
            <a:r>
              <a:rPr lang="en-IN" sz="1150" b="1">
                <a:solidFill>
                  <a:srgbClr val="0F2942"/>
                </a:solidFill>
                <a:latin typeface="Calibri" panose="020F0502020204030204" pitchFamily="34" charset="0"/>
              </a:rPr>
              <a:t>Design &amp;</a:t>
            </a:r>
          </a:p>
          <a:p>
            <a:pPr algn="ctr"/>
            <a:r>
              <a:rPr lang="en-IN" sz="1150" b="1">
                <a:solidFill>
                  <a:srgbClr val="0F2942"/>
                </a:solidFill>
                <a:latin typeface="Calibri" panose="020F0502020204030204" pitchFamily="34" charset="0"/>
              </a:rPr>
              <a:t>Development</a:t>
            </a:r>
          </a:p>
        </p:txBody>
      </p:sp>
      <p:sp>
        <p:nvSpPr>
          <p:cNvPr id="23" name="Rectangle: Rounded Corners 22">
            <a:extLst>
              <a:ext uri="{FF2B5EF4-FFF2-40B4-BE49-F238E27FC236}">
                <a16:creationId xmlns:a16="http://schemas.microsoft.com/office/drawing/2014/main" id="{3706B54F-F5B5-F949-5F91-9251E32127B9}"/>
              </a:ext>
            </a:extLst>
          </p:cNvPr>
          <p:cNvSpPr/>
          <p:nvPr/>
        </p:nvSpPr>
        <p:spPr>
          <a:xfrm>
            <a:off x="2997200" y="2565400"/>
            <a:ext cx="1752600" cy="254000"/>
          </a:xfrm>
          <a:prstGeom prst="roundRect">
            <a:avLst/>
          </a:prstGeom>
          <a:solidFill>
            <a:srgbClr val="F1F5F9"/>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9E87045B-828F-F503-BF04-E50FF3A3B0E9}"/>
              </a:ext>
            </a:extLst>
          </p:cNvPr>
          <p:cNvSpPr txBox="1"/>
          <p:nvPr/>
        </p:nvSpPr>
        <p:spPr>
          <a:xfrm>
            <a:off x="2997200" y="2590800"/>
            <a:ext cx="1752600" cy="184666"/>
          </a:xfrm>
          <a:prstGeom prst="rect">
            <a:avLst/>
          </a:prstGeom>
          <a:noFill/>
        </p:spPr>
        <p:txBody>
          <a:bodyPr vert="horz" lIns="0" tIns="0" rtlCol="0">
            <a:spAutoFit/>
          </a:bodyPr>
          <a:lstStyle/>
          <a:p>
            <a:pPr algn="ctr"/>
            <a:r>
              <a:rPr lang="en-US" sz="900" b="1">
                <a:solidFill>
                  <a:srgbClr val="2563EB"/>
                </a:solidFill>
                <a:latin typeface="Calibri" panose="020F0502020204030204" pitchFamily="34" charset="0"/>
              </a:rPr>
              <a:t>9 Aug - 31 Oct 2026</a:t>
            </a:r>
            <a:endParaRPr lang="en-IN" sz="900" b="1">
              <a:solidFill>
                <a:srgbClr val="2563EB"/>
              </a:solidFill>
              <a:latin typeface="Calibri" panose="020F0502020204030204" pitchFamily="34" charset="0"/>
            </a:endParaRPr>
          </a:p>
        </p:txBody>
      </p:sp>
      <p:cxnSp>
        <p:nvCxnSpPr>
          <p:cNvPr id="25" name="Straight Connector 24">
            <a:extLst>
              <a:ext uri="{FF2B5EF4-FFF2-40B4-BE49-F238E27FC236}">
                <a16:creationId xmlns:a16="http://schemas.microsoft.com/office/drawing/2014/main" id="{74DEC1CF-48D4-9C11-4C6E-5ABC1BF7EB32}"/>
              </a:ext>
            </a:extLst>
          </p:cNvPr>
          <p:cNvCxnSpPr/>
          <p:nvPr/>
        </p:nvCxnSpPr>
        <p:spPr>
          <a:xfrm>
            <a:off x="3022600" y="2921000"/>
            <a:ext cx="170180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4E118A46-F706-774F-CD79-0D994C066CFE}"/>
              </a:ext>
            </a:extLst>
          </p:cNvPr>
          <p:cNvSpPr txBox="1"/>
          <p:nvPr/>
        </p:nvSpPr>
        <p:spPr>
          <a:xfrm>
            <a:off x="2997200" y="2997200"/>
            <a:ext cx="1752600" cy="1800493"/>
          </a:xfrm>
          <a:prstGeom prst="rect">
            <a:avLst/>
          </a:prstGeom>
          <a:noFill/>
        </p:spPr>
        <p:txBody>
          <a:bodyPr vert="horz" wrap="square" lIns="0" tIns="0" rtlCol="0">
            <a:spAutoFit/>
          </a:bodyPr>
          <a:lstStyle/>
          <a:p>
            <a:r>
              <a:rPr lang="en-IN" sz="950">
                <a:solidFill>
                  <a:srgbClr val="1F2937"/>
                </a:solidFill>
                <a:latin typeface="Calibri" panose="020F0502020204030204" pitchFamily="34" charset="0"/>
              </a:rPr>
              <a:t>-  Zero-malloc C99 PQC verification library implementation.</a:t>
            </a:r>
          </a:p>
          <a:p>
            <a:endParaRPr lang="en-IN" sz="950">
              <a:solidFill>
                <a:srgbClr val="1F2937"/>
              </a:solidFill>
              <a:latin typeface="Calibri" panose="020F0502020204030204" pitchFamily="34" charset="0"/>
            </a:endParaRPr>
          </a:p>
          <a:p>
            <a:r>
              <a:rPr lang="en-IN" sz="950">
                <a:solidFill>
                  <a:srgbClr val="1F2937"/>
                </a:solidFill>
                <a:latin typeface="Calibri" panose="020F0502020204030204" pitchFamily="34" charset="0"/>
              </a:rPr>
              <a:t>-  Firmware metadata container &amp; custom TLV / OID formats.</a:t>
            </a:r>
          </a:p>
          <a:p>
            <a:endParaRPr lang="en-IN" sz="950">
              <a:solidFill>
                <a:srgbClr val="1F2937"/>
              </a:solidFill>
              <a:latin typeface="Calibri" panose="020F0502020204030204" pitchFamily="34" charset="0"/>
            </a:endParaRPr>
          </a:p>
          <a:p>
            <a:r>
              <a:rPr lang="en-IN" sz="950">
                <a:solidFill>
                  <a:srgbClr val="1F2937"/>
                </a:solidFill>
                <a:latin typeface="Calibri" panose="020F0502020204030204" pitchFamily="34" charset="0"/>
              </a:rPr>
              <a:t>-  Bootloader integration: MCUboot, U-Boot FIT, and UEFI.</a:t>
            </a:r>
          </a:p>
          <a:p>
            <a:endParaRPr lang="en-IN" sz="950">
              <a:solidFill>
                <a:srgbClr val="1F2937"/>
              </a:solidFill>
              <a:latin typeface="Calibri" panose="020F0502020204030204" pitchFamily="34" charset="0"/>
            </a:endParaRPr>
          </a:p>
          <a:p>
            <a:r>
              <a:rPr lang="en-IN" sz="950">
                <a:solidFill>
                  <a:srgbClr val="1F2937"/>
                </a:solidFill>
                <a:latin typeface="Calibri" panose="020F0502020204030204" pitchFamily="34" charset="0"/>
              </a:rPr>
              <a:t>-  Host image signing utilities &amp; test vector packaging.</a:t>
            </a:r>
          </a:p>
        </p:txBody>
      </p:sp>
      <p:cxnSp>
        <p:nvCxnSpPr>
          <p:cNvPr id="27" name="Straight Connector 26">
            <a:extLst>
              <a:ext uri="{FF2B5EF4-FFF2-40B4-BE49-F238E27FC236}">
                <a16:creationId xmlns:a16="http://schemas.microsoft.com/office/drawing/2014/main" id="{68C64ED9-812D-F2BC-9D19-E8DE5E5E70CA}"/>
              </a:ext>
            </a:extLst>
          </p:cNvPr>
          <p:cNvCxnSpPr/>
          <p:nvPr/>
        </p:nvCxnSpPr>
        <p:spPr>
          <a:xfrm>
            <a:off x="4889500" y="1803400"/>
            <a:ext cx="190500" cy="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51460208-0FAB-B431-1903-FBDB0D4278A0}"/>
              </a:ext>
            </a:extLst>
          </p:cNvPr>
          <p:cNvSpPr/>
          <p:nvPr/>
        </p:nvSpPr>
        <p:spPr>
          <a:xfrm>
            <a:off x="5092700" y="1600200"/>
            <a:ext cx="2006600" cy="463550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Rounded Corners 28">
            <a:extLst>
              <a:ext uri="{FF2B5EF4-FFF2-40B4-BE49-F238E27FC236}">
                <a16:creationId xmlns:a16="http://schemas.microsoft.com/office/drawing/2014/main" id="{2CC38F11-EDF6-6E33-8AC4-09C1F68D311C}"/>
              </a:ext>
            </a:extLst>
          </p:cNvPr>
          <p:cNvSpPr/>
          <p:nvPr/>
        </p:nvSpPr>
        <p:spPr>
          <a:xfrm>
            <a:off x="5092700" y="1600200"/>
            <a:ext cx="2006600" cy="406400"/>
          </a:xfrm>
          <a:prstGeom prst="roundRect">
            <a:avLst/>
          </a:prstGeom>
          <a:solidFill>
            <a:srgbClr val="0D94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6FE5396F-A60D-30CF-A231-FAE648881A19}"/>
              </a:ext>
            </a:extLst>
          </p:cNvPr>
          <p:cNvSpPr txBox="1"/>
          <p:nvPr/>
        </p:nvSpPr>
        <p:spPr>
          <a:xfrm>
            <a:off x="5092700" y="1676400"/>
            <a:ext cx="2006600" cy="207749"/>
          </a:xfrm>
          <a:prstGeom prst="rect">
            <a:avLst/>
          </a:prstGeom>
          <a:noFill/>
        </p:spPr>
        <p:txBody>
          <a:bodyPr vert="horz" lIns="0" tIns="0" rtlCol="0">
            <a:spAutoFit/>
          </a:bodyPr>
          <a:lstStyle/>
          <a:p>
            <a:pPr algn="ctr"/>
            <a:r>
              <a:rPr lang="en-IN" sz="1050" b="1">
                <a:solidFill>
                  <a:srgbClr val="FFFFFF"/>
                </a:solidFill>
                <a:latin typeface="Calibri" panose="020F0502020204030204" pitchFamily="34" charset="0"/>
              </a:rPr>
              <a:t>PHASE 3</a:t>
            </a:r>
          </a:p>
        </p:txBody>
      </p:sp>
      <p:sp>
        <p:nvSpPr>
          <p:cNvPr id="31" name="TextBox 30">
            <a:extLst>
              <a:ext uri="{FF2B5EF4-FFF2-40B4-BE49-F238E27FC236}">
                <a16:creationId xmlns:a16="http://schemas.microsoft.com/office/drawing/2014/main" id="{86A43939-6277-D196-C51D-392B6F33D9A6}"/>
              </a:ext>
            </a:extLst>
          </p:cNvPr>
          <p:cNvSpPr txBox="1"/>
          <p:nvPr/>
        </p:nvSpPr>
        <p:spPr>
          <a:xfrm>
            <a:off x="5168900" y="2082800"/>
            <a:ext cx="1854200" cy="400110"/>
          </a:xfrm>
          <a:prstGeom prst="rect">
            <a:avLst/>
          </a:prstGeom>
          <a:noFill/>
        </p:spPr>
        <p:txBody>
          <a:bodyPr vert="horz" wrap="square" lIns="0" tIns="0" rtlCol="0">
            <a:spAutoFit/>
          </a:bodyPr>
          <a:lstStyle/>
          <a:p>
            <a:pPr algn="ctr"/>
            <a:r>
              <a:rPr lang="en-IN" sz="1150" b="1">
                <a:solidFill>
                  <a:srgbClr val="0F2942"/>
                </a:solidFill>
                <a:latin typeface="Calibri" panose="020F0502020204030204" pitchFamily="34" charset="0"/>
              </a:rPr>
              <a:t>Software</a:t>
            </a:r>
          </a:p>
          <a:p>
            <a:pPr algn="ctr"/>
            <a:r>
              <a:rPr lang="en-IN" sz="1150" b="1">
                <a:solidFill>
                  <a:srgbClr val="0F2942"/>
                </a:solidFill>
                <a:latin typeface="Calibri" panose="020F0502020204030204" pitchFamily="34" charset="0"/>
              </a:rPr>
              <a:t>Testing</a:t>
            </a:r>
          </a:p>
        </p:txBody>
      </p:sp>
      <p:sp>
        <p:nvSpPr>
          <p:cNvPr id="32" name="Rectangle: Rounded Corners 31">
            <a:extLst>
              <a:ext uri="{FF2B5EF4-FFF2-40B4-BE49-F238E27FC236}">
                <a16:creationId xmlns:a16="http://schemas.microsoft.com/office/drawing/2014/main" id="{540C2E23-9C42-0A9C-DA0E-527B05A9FBD9}"/>
              </a:ext>
            </a:extLst>
          </p:cNvPr>
          <p:cNvSpPr/>
          <p:nvPr/>
        </p:nvSpPr>
        <p:spPr>
          <a:xfrm>
            <a:off x="5219700" y="2565400"/>
            <a:ext cx="1752600" cy="254000"/>
          </a:xfrm>
          <a:prstGeom prst="roundRect">
            <a:avLst/>
          </a:prstGeom>
          <a:solidFill>
            <a:srgbClr val="F1F5F9"/>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215AD646-10CF-7791-62D2-9AFE0C8CB132}"/>
              </a:ext>
            </a:extLst>
          </p:cNvPr>
          <p:cNvSpPr txBox="1"/>
          <p:nvPr/>
        </p:nvSpPr>
        <p:spPr>
          <a:xfrm>
            <a:off x="5219700" y="2590800"/>
            <a:ext cx="1752600" cy="184666"/>
          </a:xfrm>
          <a:prstGeom prst="rect">
            <a:avLst/>
          </a:prstGeom>
          <a:noFill/>
        </p:spPr>
        <p:txBody>
          <a:bodyPr vert="horz" lIns="0" tIns="0" rtlCol="0">
            <a:spAutoFit/>
          </a:bodyPr>
          <a:lstStyle/>
          <a:p>
            <a:pPr algn="ctr"/>
            <a:r>
              <a:rPr lang="en-IN" sz="900" b="1">
                <a:solidFill>
                  <a:srgbClr val="2563EB"/>
                </a:solidFill>
                <a:latin typeface="Calibri" panose="020F0502020204030204" pitchFamily="34" charset="0"/>
              </a:rPr>
              <a:t>1 Nov - 19 Nov 2026</a:t>
            </a:r>
          </a:p>
        </p:txBody>
      </p:sp>
      <p:cxnSp>
        <p:nvCxnSpPr>
          <p:cNvPr id="34" name="Straight Connector 33">
            <a:extLst>
              <a:ext uri="{FF2B5EF4-FFF2-40B4-BE49-F238E27FC236}">
                <a16:creationId xmlns:a16="http://schemas.microsoft.com/office/drawing/2014/main" id="{C27D4862-6AB9-9484-28D1-7B8494327541}"/>
              </a:ext>
            </a:extLst>
          </p:cNvPr>
          <p:cNvCxnSpPr/>
          <p:nvPr/>
        </p:nvCxnSpPr>
        <p:spPr>
          <a:xfrm>
            <a:off x="5245100" y="2921000"/>
            <a:ext cx="170180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FAC30CDB-5683-385A-969D-44608500D010}"/>
              </a:ext>
            </a:extLst>
          </p:cNvPr>
          <p:cNvSpPr txBox="1"/>
          <p:nvPr/>
        </p:nvSpPr>
        <p:spPr>
          <a:xfrm>
            <a:off x="5219700" y="2997200"/>
            <a:ext cx="1752600" cy="1800493"/>
          </a:xfrm>
          <a:prstGeom prst="rect">
            <a:avLst/>
          </a:prstGeom>
          <a:noFill/>
        </p:spPr>
        <p:txBody>
          <a:bodyPr vert="horz" wrap="square" lIns="0" tIns="0" rtlCol="0">
            <a:spAutoFit/>
          </a:bodyPr>
          <a:lstStyle/>
          <a:p>
            <a:r>
              <a:rPr lang="en-IN" sz="950">
                <a:solidFill>
                  <a:srgbClr val="1F2937"/>
                </a:solidFill>
                <a:latin typeface="Calibri" panose="020F0502020204030204" pitchFamily="34" charset="0"/>
              </a:rPr>
              <a:t>-  Automated Python test harness via multi-target QEMU.</a:t>
            </a:r>
          </a:p>
          <a:p>
            <a:endParaRPr lang="en-IN" sz="950">
              <a:solidFill>
                <a:srgbClr val="1F2937"/>
              </a:solidFill>
              <a:latin typeface="Calibri" panose="020F0502020204030204" pitchFamily="34" charset="0"/>
            </a:endParaRPr>
          </a:p>
          <a:p>
            <a:r>
              <a:rPr lang="en-IN" sz="950">
                <a:solidFill>
                  <a:srgbClr val="1F2937"/>
                </a:solidFill>
                <a:latin typeface="Calibri" panose="020F0502020204030204" pitchFamily="34" charset="0"/>
              </a:rPr>
              <a:t>-  ARM Cortex-M4, 64-bit RISC-V, and Cortex-A57 validation.</a:t>
            </a:r>
          </a:p>
          <a:p>
            <a:endParaRPr lang="en-IN" sz="950">
              <a:solidFill>
                <a:srgbClr val="1F2937"/>
              </a:solidFill>
              <a:latin typeface="Calibri" panose="020F0502020204030204" pitchFamily="34" charset="0"/>
            </a:endParaRPr>
          </a:p>
          <a:p>
            <a:r>
              <a:rPr lang="en-IN" sz="950">
                <a:solidFill>
                  <a:srgbClr val="1F2937"/>
                </a:solidFill>
                <a:latin typeface="Calibri" panose="020F0502020204030204" pitchFamily="34" charset="0"/>
              </a:rPr>
              <a:t>-  GDB stack profiling to mathematically enforce zero-heap.</a:t>
            </a:r>
          </a:p>
          <a:p>
            <a:endParaRPr lang="en-IN" sz="950">
              <a:solidFill>
                <a:srgbClr val="1F2937"/>
              </a:solidFill>
              <a:latin typeface="Calibri" panose="020F0502020204030204" pitchFamily="34" charset="0"/>
            </a:endParaRPr>
          </a:p>
          <a:p>
            <a:r>
              <a:rPr lang="en-IN" sz="950">
                <a:solidFill>
                  <a:srgbClr val="1F2937"/>
                </a:solidFill>
                <a:latin typeface="Calibri" panose="020F0502020204030204" pitchFamily="34" charset="0"/>
              </a:rPr>
              <a:t>-  Fault-injection testing: 100% bit-flip tamper rejection.</a:t>
            </a:r>
          </a:p>
        </p:txBody>
      </p:sp>
      <p:cxnSp>
        <p:nvCxnSpPr>
          <p:cNvPr id="36" name="Straight Connector 35">
            <a:extLst>
              <a:ext uri="{FF2B5EF4-FFF2-40B4-BE49-F238E27FC236}">
                <a16:creationId xmlns:a16="http://schemas.microsoft.com/office/drawing/2014/main" id="{116BC335-0236-1C94-066B-7BF2255973E2}"/>
              </a:ext>
            </a:extLst>
          </p:cNvPr>
          <p:cNvCxnSpPr/>
          <p:nvPr/>
        </p:nvCxnSpPr>
        <p:spPr>
          <a:xfrm>
            <a:off x="7112000" y="1803400"/>
            <a:ext cx="190500" cy="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ectangle: Rounded Corners 36">
            <a:extLst>
              <a:ext uri="{FF2B5EF4-FFF2-40B4-BE49-F238E27FC236}">
                <a16:creationId xmlns:a16="http://schemas.microsoft.com/office/drawing/2014/main" id="{F1A5B875-F80B-FA39-4824-A813FED764D4}"/>
              </a:ext>
            </a:extLst>
          </p:cNvPr>
          <p:cNvSpPr/>
          <p:nvPr/>
        </p:nvSpPr>
        <p:spPr>
          <a:xfrm>
            <a:off x="7315200" y="1600200"/>
            <a:ext cx="2006600" cy="463550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AC664A58-4EFE-4012-CD07-46598EE9BC64}"/>
              </a:ext>
            </a:extLst>
          </p:cNvPr>
          <p:cNvSpPr/>
          <p:nvPr/>
        </p:nvSpPr>
        <p:spPr>
          <a:xfrm>
            <a:off x="7315200" y="1600200"/>
            <a:ext cx="2006600" cy="406400"/>
          </a:xfrm>
          <a:prstGeom prst="round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7DD636E8-F624-247A-763E-F94798F23BF7}"/>
              </a:ext>
            </a:extLst>
          </p:cNvPr>
          <p:cNvSpPr txBox="1"/>
          <p:nvPr/>
        </p:nvSpPr>
        <p:spPr>
          <a:xfrm>
            <a:off x="7315200" y="1676400"/>
            <a:ext cx="2006600" cy="207749"/>
          </a:xfrm>
          <a:prstGeom prst="rect">
            <a:avLst/>
          </a:prstGeom>
          <a:noFill/>
        </p:spPr>
        <p:txBody>
          <a:bodyPr vert="horz" lIns="0" tIns="0" rtlCol="0">
            <a:spAutoFit/>
          </a:bodyPr>
          <a:lstStyle/>
          <a:p>
            <a:pPr algn="ctr"/>
            <a:r>
              <a:rPr lang="en-IN" sz="1050" b="1">
                <a:solidFill>
                  <a:srgbClr val="FFFFFF"/>
                </a:solidFill>
                <a:latin typeface="Calibri" panose="020F0502020204030204" pitchFamily="34" charset="0"/>
              </a:rPr>
              <a:t>PHASE 4</a:t>
            </a:r>
          </a:p>
        </p:txBody>
      </p:sp>
      <p:sp>
        <p:nvSpPr>
          <p:cNvPr id="40" name="TextBox 39">
            <a:extLst>
              <a:ext uri="{FF2B5EF4-FFF2-40B4-BE49-F238E27FC236}">
                <a16:creationId xmlns:a16="http://schemas.microsoft.com/office/drawing/2014/main" id="{F98ED095-8C63-27ED-71EC-841C17FE71E2}"/>
              </a:ext>
            </a:extLst>
          </p:cNvPr>
          <p:cNvSpPr txBox="1"/>
          <p:nvPr/>
        </p:nvSpPr>
        <p:spPr>
          <a:xfrm>
            <a:off x="7391400" y="2082800"/>
            <a:ext cx="1854200" cy="400110"/>
          </a:xfrm>
          <a:prstGeom prst="rect">
            <a:avLst/>
          </a:prstGeom>
          <a:noFill/>
        </p:spPr>
        <p:txBody>
          <a:bodyPr vert="horz" wrap="square" lIns="0" tIns="0" rtlCol="0">
            <a:spAutoFit/>
          </a:bodyPr>
          <a:lstStyle/>
          <a:p>
            <a:pPr algn="ctr"/>
            <a:r>
              <a:rPr lang="en-IN" sz="1150" b="1">
                <a:solidFill>
                  <a:srgbClr val="0F2942"/>
                </a:solidFill>
                <a:latin typeface="Calibri" panose="020F0502020204030204" pitchFamily="34" charset="0"/>
              </a:rPr>
              <a:t>Dissertation</a:t>
            </a:r>
          </a:p>
          <a:p>
            <a:pPr algn="ctr"/>
            <a:r>
              <a:rPr lang="en-IN" sz="1150" b="1">
                <a:solidFill>
                  <a:srgbClr val="0F2942"/>
                </a:solidFill>
                <a:latin typeface="Calibri" panose="020F0502020204030204" pitchFamily="34" charset="0"/>
              </a:rPr>
              <a:t>Review</a:t>
            </a:r>
          </a:p>
        </p:txBody>
      </p:sp>
      <p:sp>
        <p:nvSpPr>
          <p:cNvPr id="41" name="Rectangle: Rounded Corners 40">
            <a:extLst>
              <a:ext uri="{FF2B5EF4-FFF2-40B4-BE49-F238E27FC236}">
                <a16:creationId xmlns:a16="http://schemas.microsoft.com/office/drawing/2014/main" id="{F8D215F7-ECD2-6109-0095-B465A93F3DF2}"/>
              </a:ext>
            </a:extLst>
          </p:cNvPr>
          <p:cNvSpPr/>
          <p:nvPr/>
        </p:nvSpPr>
        <p:spPr>
          <a:xfrm>
            <a:off x="7442200" y="2565400"/>
            <a:ext cx="1752600" cy="254000"/>
          </a:xfrm>
          <a:prstGeom prst="roundRect">
            <a:avLst/>
          </a:prstGeom>
          <a:solidFill>
            <a:srgbClr val="F1F5F9"/>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10ED8705-A73D-D980-A481-728AECBB0183}"/>
              </a:ext>
            </a:extLst>
          </p:cNvPr>
          <p:cNvSpPr txBox="1"/>
          <p:nvPr/>
        </p:nvSpPr>
        <p:spPr>
          <a:xfrm>
            <a:off x="7442200" y="2590800"/>
            <a:ext cx="1752600" cy="184666"/>
          </a:xfrm>
          <a:prstGeom prst="rect">
            <a:avLst/>
          </a:prstGeom>
          <a:noFill/>
        </p:spPr>
        <p:txBody>
          <a:bodyPr vert="horz" lIns="0" tIns="0" rtlCol="0">
            <a:spAutoFit/>
          </a:bodyPr>
          <a:lstStyle/>
          <a:p>
            <a:pPr algn="ctr"/>
            <a:r>
              <a:rPr lang="en-IN" sz="900" b="1">
                <a:solidFill>
                  <a:srgbClr val="2563EB"/>
                </a:solidFill>
                <a:latin typeface="Calibri" panose="020F0502020204030204" pitchFamily="34" charset="0"/>
              </a:rPr>
              <a:t>20 Nov - 30 Nov 2026</a:t>
            </a:r>
          </a:p>
        </p:txBody>
      </p:sp>
      <p:cxnSp>
        <p:nvCxnSpPr>
          <p:cNvPr id="43" name="Straight Connector 42">
            <a:extLst>
              <a:ext uri="{FF2B5EF4-FFF2-40B4-BE49-F238E27FC236}">
                <a16:creationId xmlns:a16="http://schemas.microsoft.com/office/drawing/2014/main" id="{60FF1AED-C938-A3BB-64DC-C2D308E4E058}"/>
              </a:ext>
            </a:extLst>
          </p:cNvPr>
          <p:cNvCxnSpPr/>
          <p:nvPr/>
        </p:nvCxnSpPr>
        <p:spPr>
          <a:xfrm>
            <a:off x="7467600" y="2921000"/>
            <a:ext cx="170180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F7F34E9A-0A67-F049-34BE-31735A2747D6}"/>
              </a:ext>
            </a:extLst>
          </p:cNvPr>
          <p:cNvSpPr txBox="1"/>
          <p:nvPr/>
        </p:nvSpPr>
        <p:spPr>
          <a:xfrm>
            <a:off x="7442200" y="2997200"/>
            <a:ext cx="1752600" cy="1654299"/>
          </a:xfrm>
          <a:prstGeom prst="rect">
            <a:avLst/>
          </a:prstGeom>
          <a:noFill/>
        </p:spPr>
        <p:txBody>
          <a:bodyPr vert="horz" wrap="square" lIns="0" tIns="0" rtlCol="0">
            <a:spAutoFit/>
          </a:bodyPr>
          <a:lstStyle/>
          <a:p>
            <a:r>
              <a:rPr lang="en-IN" sz="950">
                <a:solidFill>
                  <a:srgbClr val="1F2937"/>
                </a:solidFill>
                <a:latin typeface="Calibri" panose="020F0502020204030204" pitchFamily="34" charset="0"/>
              </a:rPr>
              <a:t>-  Draft dissertation submission to Qualcomm review committee.</a:t>
            </a:r>
          </a:p>
          <a:p>
            <a:endParaRPr lang="en-IN" sz="950">
              <a:solidFill>
                <a:srgbClr val="1F2937"/>
              </a:solidFill>
              <a:latin typeface="Calibri" panose="020F0502020204030204" pitchFamily="34" charset="0"/>
            </a:endParaRPr>
          </a:p>
          <a:p>
            <a:r>
              <a:rPr lang="en-IN" sz="950">
                <a:solidFill>
                  <a:srgbClr val="1F2937"/>
                </a:solidFill>
                <a:latin typeface="Calibri" panose="020F0502020204030204" pitchFamily="34" charset="0"/>
              </a:rPr>
              <a:t>-  Formal evaluation by Deepak Kumar &amp; Divyasree Chilukoti.</a:t>
            </a:r>
          </a:p>
          <a:p>
            <a:endParaRPr lang="en-IN" sz="950">
              <a:solidFill>
                <a:srgbClr val="1F2937"/>
              </a:solidFill>
              <a:latin typeface="Calibri" panose="020F0502020204030204" pitchFamily="34" charset="0"/>
            </a:endParaRPr>
          </a:p>
          <a:p>
            <a:r>
              <a:rPr lang="en-IN" sz="950">
                <a:solidFill>
                  <a:srgbClr val="1F2937"/>
                </a:solidFill>
                <a:latin typeface="Calibri" panose="020F0502020204030204" pitchFamily="34" charset="0"/>
              </a:rPr>
              <a:t>-  Benchmark analysis vs. classical RSA and ECDSA baselines.</a:t>
            </a:r>
          </a:p>
          <a:p>
            <a:endParaRPr lang="en-IN" sz="950">
              <a:solidFill>
                <a:srgbClr val="1F2937"/>
              </a:solidFill>
              <a:latin typeface="Calibri" panose="020F0502020204030204" pitchFamily="34" charset="0"/>
            </a:endParaRPr>
          </a:p>
          <a:p>
            <a:r>
              <a:rPr lang="en-IN" sz="950">
                <a:solidFill>
                  <a:srgbClr val="1F2937"/>
                </a:solidFill>
                <a:latin typeface="Calibri" panose="020F0502020204030204" pitchFamily="34" charset="0"/>
              </a:rPr>
              <a:t>-  Review feedback incorporation and pre-defense audit.</a:t>
            </a:r>
          </a:p>
        </p:txBody>
      </p:sp>
      <p:cxnSp>
        <p:nvCxnSpPr>
          <p:cNvPr id="45" name="Straight Connector 44">
            <a:extLst>
              <a:ext uri="{FF2B5EF4-FFF2-40B4-BE49-F238E27FC236}">
                <a16:creationId xmlns:a16="http://schemas.microsoft.com/office/drawing/2014/main" id="{1522B714-3513-CEB8-53CA-317C370F975A}"/>
              </a:ext>
            </a:extLst>
          </p:cNvPr>
          <p:cNvCxnSpPr/>
          <p:nvPr/>
        </p:nvCxnSpPr>
        <p:spPr>
          <a:xfrm>
            <a:off x="9334500" y="1803400"/>
            <a:ext cx="190500" cy="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ectangle: Rounded Corners 45">
            <a:extLst>
              <a:ext uri="{FF2B5EF4-FFF2-40B4-BE49-F238E27FC236}">
                <a16:creationId xmlns:a16="http://schemas.microsoft.com/office/drawing/2014/main" id="{03F8EF9C-0844-3717-5FF2-1F34A7DF535D}"/>
              </a:ext>
            </a:extLst>
          </p:cNvPr>
          <p:cNvSpPr/>
          <p:nvPr/>
        </p:nvSpPr>
        <p:spPr>
          <a:xfrm>
            <a:off x="9537700" y="1600200"/>
            <a:ext cx="2006600" cy="463550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Rectangle: Rounded Corners 46">
            <a:extLst>
              <a:ext uri="{FF2B5EF4-FFF2-40B4-BE49-F238E27FC236}">
                <a16:creationId xmlns:a16="http://schemas.microsoft.com/office/drawing/2014/main" id="{53B0DBAB-01D2-734B-8B6F-B1500349381F}"/>
              </a:ext>
            </a:extLst>
          </p:cNvPr>
          <p:cNvSpPr/>
          <p:nvPr/>
        </p:nvSpPr>
        <p:spPr>
          <a:xfrm>
            <a:off x="9537700" y="1600200"/>
            <a:ext cx="2006600" cy="406400"/>
          </a:xfrm>
          <a:prstGeom prst="roundRect">
            <a:avLst/>
          </a:prstGeom>
          <a:solidFill>
            <a:srgbClr val="16A3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TextBox 47">
            <a:extLst>
              <a:ext uri="{FF2B5EF4-FFF2-40B4-BE49-F238E27FC236}">
                <a16:creationId xmlns:a16="http://schemas.microsoft.com/office/drawing/2014/main" id="{C33B8C40-77AF-FD16-B88A-BD3BCED76EE7}"/>
              </a:ext>
            </a:extLst>
          </p:cNvPr>
          <p:cNvSpPr txBox="1"/>
          <p:nvPr/>
        </p:nvSpPr>
        <p:spPr>
          <a:xfrm>
            <a:off x="9537700" y="1676400"/>
            <a:ext cx="2006600" cy="207749"/>
          </a:xfrm>
          <a:prstGeom prst="rect">
            <a:avLst/>
          </a:prstGeom>
          <a:noFill/>
        </p:spPr>
        <p:txBody>
          <a:bodyPr vert="horz" lIns="0" tIns="0" rtlCol="0">
            <a:spAutoFit/>
          </a:bodyPr>
          <a:lstStyle/>
          <a:p>
            <a:pPr algn="ctr"/>
            <a:r>
              <a:rPr lang="en-IN" sz="1050" b="1">
                <a:solidFill>
                  <a:srgbClr val="FFFFFF"/>
                </a:solidFill>
                <a:latin typeface="Calibri" panose="020F0502020204030204" pitchFamily="34" charset="0"/>
              </a:rPr>
              <a:t>PHASE 5</a:t>
            </a:r>
          </a:p>
        </p:txBody>
      </p:sp>
      <p:sp>
        <p:nvSpPr>
          <p:cNvPr id="49" name="TextBox 48">
            <a:extLst>
              <a:ext uri="{FF2B5EF4-FFF2-40B4-BE49-F238E27FC236}">
                <a16:creationId xmlns:a16="http://schemas.microsoft.com/office/drawing/2014/main" id="{03E2A9D7-708F-D249-1EB6-FE678F6AFD1F}"/>
              </a:ext>
            </a:extLst>
          </p:cNvPr>
          <p:cNvSpPr txBox="1"/>
          <p:nvPr/>
        </p:nvSpPr>
        <p:spPr>
          <a:xfrm>
            <a:off x="9613900" y="2082800"/>
            <a:ext cx="1854200" cy="400110"/>
          </a:xfrm>
          <a:prstGeom prst="rect">
            <a:avLst/>
          </a:prstGeom>
          <a:noFill/>
        </p:spPr>
        <p:txBody>
          <a:bodyPr vert="horz" wrap="square" lIns="0" tIns="0" rtlCol="0">
            <a:spAutoFit/>
          </a:bodyPr>
          <a:lstStyle/>
          <a:p>
            <a:pPr algn="ctr"/>
            <a:r>
              <a:rPr lang="en-IN" sz="1150" b="1">
                <a:solidFill>
                  <a:srgbClr val="0F2942"/>
                </a:solidFill>
                <a:latin typeface="Calibri" panose="020F0502020204030204" pitchFamily="34" charset="0"/>
              </a:rPr>
              <a:t>Final</a:t>
            </a:r>
          </a:p>
          <a:p>
            <a:pPr algn="ctr"/>
            <a:r>
              <a:rPr lang="en-IN" sz="1150" b="1">
                <a:solidFill>
                  <a:srgbClr val="0F2942"/>
                </a:solidFill>
                <a:latin typeface="Calibri" panose="020F0502020204030204" pitchFamily="34" charset="0"/>
              </a:rPr>
              <a:t>Submission</a:t>
            </a:r>
          </a:p>
        </p:txBody>
      </p:sp>
      <p:sp>
        <p:nvSpPr>
          <p:cNvPr id="50" name="Rectangle: Rounded Corners 49">
            <a:extLst>
              <a:ext uri="{FF2B5EF4-FFF2-40B4-BE49-F238E27FC236}">
                <a16:creationId xmlns:a16="http://schemas.microsoft.com/office/drawing/2014/main" id="{9C858BED-4C1C-269A-AABC-E7704D3C388B}"/>
              </a:ext>
            </a:extLst>
          </p:cNvPr>
          <p:cNvSpPr/>
          <p:nvPr/>
        </p:nvSpPr>
        <p:spPr>
          <a:xfrm>
            <a:off x="9664700" y="2565400"/>
            <a:ext cx="1752600" cy="254000"/>
          </a:xfrm>
          <a:prstGeom prst="roundRect">
            <a:avLst/>
          </a:prstGeom>
          <a:solidFill>
            <a:srgbClr val="F1F5F9"/>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a:extLst>
              <a:ext uri="{FF2B5EF4-FFF2-40B4-BE49-F238E27FC236}">
                <a16:creationId xmlns:a16="http://schemas.microsoft.com/office/drawing/2014/main" id="{62286EFB-C944-3633-C8BA-64EFCDF617DF}"/>
              </a:ext>
            </a:extLst>
          </p:cNvPr>
          <p:cNvSpPr txBox="1"/>
          <p:nvPr/>
        </p:nvSpPr>
        <p:spPr>
          <a:xfrm>
            <a:off x="9664700" y="2590800"/>
            <a:ext cx="1752600" cy="184666"/>
          </a:xfrm>
          <a:prstGeom prst="rect">
            <a:avLst/>
          </a:prstGeom>
          <a:noFill/>
        </p:spPr>
        <p:txBody>
          <a:bodyPr vert="horz" lIns="0" tIns="0" rtlCol="0">
            <a:spAutoFit/>
          </a:bodyPr>
          <a:lstStyle/>
          <a:p>
            <a:pPr algn="ctr"/>
            <a:r>
              <a:rPr lang="fr-FR" sz="900" b="1">
                <a:solidFill>
                  <a:srgbClr val="2563EB"/>
                </a:solidFill>
                <a:latin typeface="Calibri" panose="020F0502020204030204" pitchFamily="34" charset="0"/>
              </a:rPr>
              <a:t>1 Dec - 8 Dec 2026</a:t>
            </a:r>
            <a:endParaRPr lang="en-IN" sz="900" b="1">
              <a:solidFill>
                <a:srgbClr val="2563EB"/>
              </a:solidFill>
              <a:latin typeface="Calibri" panose="020F0502020204030204" pitchFamily="34" charset="0"/>
            </a:endParaRPr>
          </a:p>
        </p:txBody>
      </p:sp>
      <p:cxnSp>
        <p:nvCxnSpPr>
          <p:cNvPr id="52" name="Straight Connector 51">
            <a:extLst>
              <a:ext uri="{FF2B5EF4-FFF2-40B4-BE49-F238E27FC236}">
                <a16:creationId xmlns:a16="http://schemas.microsoft.com/office/drawing/2014/main" id="{2076C061-8AE9-FEF6-EE53-93E9DB2E0DCB}"/>
              </a:ext>
            </a:extLst>
          </p:cNvPr>
          <p:cNvCxnSpPr/>
          <p:nvPr/>
        </p:nvCxnSpPr>
        <p:spPr>
          <a:xfrm>
            <a:off x="9690100" y="2921000"/>
            <a:ext cx="170180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636A7CCB-C756-F338-B47A-140534AEE38E}"/>
              </a:ext>
            </a:extLst>
          </p:cNvPr>
          <p:cNvSpPr txBox="1"/>
          <p:nvPr/>
        </p:nvSpPr>
        <p:spPr>
          <a:xfrm>
            <a:off x="9664700" y="2997200"/>
            <a:ext cx="1752600" cy="1654299"/>
          </a:xfrm>
          <a:prstGeom prst="rect">
            <a:avLst/>
          </a:prstGeom>
          <a:noFill/>
        </p:spPr>
        <p:txBody>
          <a:bodyPr vert="horz" wrap="square" lIns="0" tIns="0" rtlCol="0">
            <a:spAutoFit/>
          </a:bodyPr>
          <a:lstStyle/>
          <a:p>
            <a:r>
              <a:rPr lang="en-US" sz="950">
                <a:solidFill>
                  <a:srgbClr val="1F2937"/>
                </a:solidFill>
                <a:latin typeface="Calibri" panose="020F0502020204030204" pitchFamily="34" charset="0"/>
              </a:rPr>
              <a:t>-  Final dissertation report binding and documentation.</a:t>
            </a:r>
          </a:p>
          <a:p>
            <a:endParaRPr lang="en-US" sz="950">
              <a:solidFill>
                <a:srgbClr val="1F2937"/>
              </a:solidFill>
              <a:latin typeface="Calibri" panose="020F0502020204030204" pitchFamily="34" charset="0"/>
            </a:endParaRPr>
          </a:p>
          <a:p>
            <a:r>
              <a:rPr lang="en-US" sz="950">
                <a:solidFill>
                  <a:srgbClr val="1F2937"/>
                </a:solidFill>
                <a:latin typeface="Calibri" panose="020F0502020204030204" pitchFamily="34" charset="0"/>
              </a:rPr>
              <a:t>-  Formal submission to BITS Pilani WILP Division.</a:t>
            </a:r>
          </a:p>
          <a:p>
            <a:endParaRPr lang="en-US" sz="950">
              <a:solidFill>
                <a:srgbClr val="1F2937"/>
              </a:solidFill>
              <a:latin typeface="Calibri" panose="020F0502020204030204" pitchFamily="34" charset="0"/>
            </a:endParaRPr>
          </a:p>
          <a:p>
            <a:r>
              <a:rPr lang="en-US" sz="950">
                <a:solidFill>
                  <a:srgbClr val="1F2937"/>
                </a:solidFill>
                <a:latin typeface="Calibri" panose="020F0502020204030204" pitchFamily="34" charset="0"/>
              </a:rPr>
              <a:t>-  Final oral dissertation examination and defense.</a:t>
            </a:r>
          </a:p>
          <a:p>
            <a:endParaRPr lang="en-US" sz="950">
              <a:solidFill>
                <a:srgbClr val="1F2937"/>
              </a:solidFill>
              <a:latin typeface="Calibri" panose="020F0502020204030204" pitchFamily="34" charset="0"/>
            </a:endParaRPr>
          </a:p>
          <a:p>
            <a:r>
              <a:rPr lang="en-US" sz="950">
                <a:solidFill>
                  <a:srgbClr val="1F2937"/>
                </a:solidFill>
                <a:latin typeface="Calibri" panose="020F0502020204030204" pitchFamily="34" charset="0"/>
              </a:rPr>
              <a:t>-  Research artifact publication and code archival.</a:t>
            </a:r>
            <a:endParaRPr lang="en-IN" sz="950">
              <a:solidFill>
                <a:srgbClr val="1F2937"/>
              </a:solidFill>
              <a:latin typeface="Calibri" panose="020F0502020204030204" pitchFamily="34" charset="0"/>
            </a:endParaRPr>
          </a:p>
        </p:txBody>
      </p:sp>
    </p:spTree>
    <p:extLst>
      <p:ext uri="{BB962C8B-B14F-4D97-AF65-F5344CB8AC3E}">
        <p14:creationId xmlns:p14="http://schemas.microsoft.com/office/powerpoint/2010/main" val="290054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C5D0DC8-0CDC-E548-AD1D-CC14AD7249E6}"/>
              </a:ext>
            </a:extLst>
          </p:cNvPr>
          <p:cNvSpPr/>
          <p:nvPr/>
        </p:nvSpPr>
        <p:spPr>
          <a:xfrm>
            <a:off x="635000" y="254000"/>
            <a:ext cx="1905000" cy="228600"/>
          </a:xfrm>
          <a:prstGeom prst="roundRect">
            <a:avLst/>
          </a:prstGeom>
          <a:solidFill>
            <a:srgbClr val="EFF6FF"/>
          </a:solidFill>
          <a:ln w="1270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FC9F1E8-1C37-2ABB-5E1F-936BC51B04E3}"/>
              </a:ext>
            </a:extLst>
          </p:cNvPr>
          <p:cNvSpPr txBox="1"/>
          <p:nvPr/>
        </p:nvSpPr>
        <p:spPr>
          <a:xfrm>
            <a:off x="635000" y="254000"/>
            <a:ext cx="1905000" cy="184666"/>
          </a:xfrm>
          <a:prstGeom prst="rect">
            <a:avLst/>
          </a:prstGeom>
          <a:noFill/>
        </p:spPr>
        <p:txBody>
          <a:bodyPr vert="horz" lIns="0" tIns="0" rtlCol="0">
            <a:spAutoFit/>
          </a:bodyPr>
          <a:lstStyle/>
          <a:p>
            <a:pPr algn="ctr"/>
            <a:r>
              <a:rPr lang="en-IN" sz="900" b="1">
                <a:solidFill>
                  <a:srgbClr val="2563EB"/>
                </a:solidFill>
                <a:latin typeface="Calibri" panose="020F0502020204030204" pitchFamily="34" charset="0"/>
              </a:rPr>
              <a:t>6. LITERATURE REFERENCES</a:t>
            </a:r>
          </a:p>
        </p:txBody>
      </p:sp>
      <p:sp>
        <p:nvSpPr>
          <p:cNvPr id="4" name="TextBox 3">
            <a:extLst>
              <a:ext uri="{FF2B5EF4-FFF2-40B4-BE49-F238E27FC236}">
                <a16:creationId xmlns:a16="http://schemas.microsoft.com/office/drawing/2014/main" id="{48C6A9BC-9284-8342-4791-14D977A5D1E5}"/>
              </a:ext>
            </a:extLst>
          </p:cNvPr>
          <p:cNvSpPr txBox="1"/>
          <p:nvPr/>
        </p:nvSpPr>
        <p:spPr>
          <a:xfrm>
            <a:off x="635000" y="533400"/>
            <a:ext cx="10922000" cy="384721"/>
          </a:xfrm>
          <a:prstGeom prst="rect">
            <a:avLst/>
          </a:prstGeom>
          <a:noFill/>
        </p:spPr>
        <p:txBody>
          <a:bodyPr vert="horz" lIns="0" tIns="0" rtlCol="0">
            <a:spAutoFit/>
          </a:bodyPr>
          <a:lstStyle/>
          <a:p>
            <a:r>
              <a:rPr lang="en-US" sz="2200" b="1">
                <a:solidFill>
                  <a:srgbClr val="0F2942"/>
                </a:solidFill>
                <a:latin typeface="Calibri" panose="020F0502020204030204" pitchFamily="34" charset="0"/>
              </a:rPr>
              <a:t>Literature References: Authoritative Research Foundations</a:t>
            </a:r>
            <a:endParaRPr lang="en-IN" sz="2200" b="1">
              <a:solidFill>
                <a:srgbClr val="0F2942"/>
              </a:solidFill>
              <a:latin typeface="Calibri" panose="020F0502020204030204" pitchFamily="34" charset="0"/>
            </a:endParaRPr>
          </a:p>
        </p:txBody>
      </p:sp>
      <p:cxnSp>
        <p:nvCxnSpPr>
          <p:cNvPr id="5" name="Straight Connector 4">
            <a:extLst>
              <a:ext uri="{FF2B5EF4-FFF2-40B4-BE49-F238E27FC236}">
                <a16:creationId xmlns:a16="http://schemas.microsoft.com/office/drawing/2014/main" id="{BB36EB42-3FE2-1A06-F4FC-3CF55FAB585C}"/>
              </a:ext>
            </a:extLst>
          </p:cNvPr>
          <p:cNvCxnSpPr/>
          <p:nvPr/>
        </p:nvCxnSpPr>
        <p:spPr>
          <a:xfrm>
            <a:off x="635000" y="1016000"/>
            <a:ext cx="10922000" cy="0"/>
          </a:xfrm>
          <a:prstGeom prst="line">
            <a:avLst/>
          </a:prstGeom>
          <a:ln w="12700">
            <a:solidFill>
              <a:srgbClr val="D1D9E0"/>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97A1082-11E0-C074-5B57-8574A3B23672}"/>
              </a:ext>
            </a:extLst>
          </p:cNvPr>
          <p:cNvSpPr txBox="1"/>
          <p:nvPr/>
        </p:nvSpPr>
        <p:spPr>
          <a:xfrm>
            <a:off x="635000" y="6413500"/>
            <a:ext cx="10922000" cy="184666"/>
          </a:xfrm>
          <a:prstGeom prst="rect">
            <a:avLst/>
          </a:prstGeom>
          <a:noFill/>
        </p:spPr>
        <p:txBody>
          <a:bodyPr vert="horz" lIns="0" tIns="0" rtlCol="0">
            <a:spAutoFit/>
          </a:bodyPr>
          <a:lstStyle/>
          <a:p>
            <a:r>
              <a:rPr lang="en-IN" sz="900">
                <a:solidFill>
                  <a:srgbClr val="6B7280"/>
                </a:solidFill>
                <a:latin typeface="Calibri" panose="020F0502020204030204" pitchFamily="34" charset="0"/>
              </a:rPr>
              <a:t>BITS Pilani (WILP) | ESZG628T Dissertation Outline | Kiruthik Prakash J (2024HT01586) | Qualcomm India</a:t>
            </a:r>
          </a:p>
        </p:txBody>
      </p:sp>
      <p:sp>
        <p:nvSpPr>
          <p:cNvPr id="7" name="TextBox 6">
            <a:extLst>
              <a:ext uri="{FF2B5EF4-FFF2-40B4-BE49-F238E27FC236}">
                <a16:creationId xmlns:a16="http://schemas.microsoft.com/office/drawing/2014/main" id="{AE51C04A-8CF6-8EA9-1087-F3A9F1561293}"/>
              </a:ext>
            </a:extLst>
          </p:cNvPr>
          <p:cNvSpPr txBox="1"/>
          <p:nvPr/>
        </p:nvSpPr>
        <p:spPr>
          <a:xfrm>
            <a:off x="10668000" y="6413500"/>
            <a:ext cx="889000" cy="184666"/>
          </a:xfrm>
          <a:prstGeom prst="rect">
            <a:avLst/>
          </a:prstGeom>
          <a:noFill/>
        </p:spPr>
        <p:txBody>
          <a:bodyPr vert="horz" lIns="0" tIns="0" rtlCol="0">
            <a:spAutoFit/>
          </a:bodyPr>
          <a:lstStyle/>
          <a:p>
            <a:pPr algn="r"/>
            <a:r>
              <a:rPr lang="en-IN" sz="900" b="1">
                <a:solidFill>
                  <a:srgbClr val="2563EB"/>
                </a:solidFill>
                <a:latin typeface="Calibri" panose="020F0502020204030204" pitchFamily="34" charset="0"/>
              </a:rPr>
              <a:t>Slide 11 / 12</a:t>
            </a:r>
          </a:p>
        </p:txBody>
      </p:sp>
      <p:sp>
        <p:nvSpPr>
          <p:cNvPr id="8" name="Rectangle 7">
            <a:extLst>
              <a:ext uri="{FF2B5EF4-FFF2-40B4-BE49-F238E27FC236}">
                <a16:creationId xmlns:a16="http://schemas.microsoft.com/office/drawing/2014/main" id="{0CC4C491-E4F7-D1C8-3CEA-75B396CE49A3}"/>
              </a:ext>
            </a:extLst>
          </p:cNvPr>
          <p:cNvSpPr/>
          <p:nvPr/>
        </p:nvSpPr>
        <p:spPr>
          <a:xfrm>
            <a:off x="635000" y="1168400"/>
            <a:ext cx="5334000" cy="5143500"/>
          </a:xfrm>
          <a:prstGeom prst="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A304962C-A3A2-33CD-F568-6573B0362B62}"/>
              </a:ext>
            </a:extLst>
          </p:cNvPr>
          <p:cNvSpPr/>
          <p:nvPr/>
        </p:nvSpPr>
        <p:spPr>
          <a:xfrm>
            <a:off x="635000" y="1168400"/>
            <a:ext cx="5334000" cy="381000"/>
          </a:xfrm>
          <a:prstGeom prst="rect">
            <a:avLst/>
          </a:prstGeom>
          <a:solidFill>
            <a:srgbClr val="0F29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0BA8F973-EF27-4240-8B17-842C4F238171}"/>
              </a:ext>
            </a:extLst>
          </p:cNvPr>
          <p:cNvSpPr txBox="1"/>
          <p:nvPr/>
        </p:nvSpPr>
        <p:spPr>
          <a:xfrm>
            <a:off x="825500" y="1231900"/>
            <a:ext cx="4953000" cy="200055"/>
          </a:xfrm>
          <a:prstGeom prst="rect">
            <a:avLst/>
          </a:prstGeom>
          <a:noFill/>
        </p:spPr>
        <p:txBody>
          <a:bodyPr vert="horz" lIns="0" tIns="0" rtlCol="0">
            <a:spAutoFit/>
          </a:bodyPr>
          <a:lstStyle/>
          <a:p>
            <a:r>
              <a:rPr lang="en-IN" sz="1000" b="1">
                <a:solidFill>
                  <a:srgbClr val="93C5FD"/>
                </a:solidFill>
                <a:latin typeface="Calibri" panose="020F0502020204030204" pitchFamily="34" charset="0"/>
              </a:rPr>
              <a:t>PQC STANDARDS &amp; THEORETICAL FOUNDATIONS</a:t>
            </a:r>
          </a:p>
        </p:txBody>
      </p:sp>
      <p:sp>
        <p:nvSpPr>
          <p:cNvPr id="11" name="Rectangle: Rounded Corners 10">
            <a:extLst>
              <a:ext uri="{FF2B5EF4-FFF2-40B4-BE49-F238E27FC236}">
                <a16:creationId xmlns:a16="http://schemas.microsoft.com/office/drawing/2014/main" id="{1BE5C514-3B92-1CBE-3660-B6E331D8FB35}"/>
              </a:ext>
            </a:extLst>
          </p:cNvPr>
          <p:cNvSpPr/>
          <p:nvPr/>
        </p:nvSpPr>
        <p:spPr>
          <a:xfrm>
            <a:off x="762000" y="1625600"/>
            <a:ext cx="5080000" cy="7874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83442388-F319-9D11-AF9C-9DE03FC3070A}"/>
              </a:ext>
            </a:extLst>
          </p:cNvPr>
          <p:cNvSpPr txBox="1"/>
          <p:nvPr/>
        </p:nvSpPr>
        <p:spPr>
          <a:xfrm>
            <a:off x="863600" y="1651000"/>
            <a:ext cx="4876800" cy="553998"/>
          </a:xfrm>
          <a:prstGeom prst="rect">
            <a:avLst/>
          </a:prstGeom>
          <a:noFill/>
        </p:spPr>
        <p:txBody>
          <a:bodyPr vert="horz" wrap="square" lIns="0" tIns="0" rIns="0" bIns="0" rtlCol="0">
            <a:spAutoFit/>
          </a:bodyPr>
          <a:lstStyle/>
          <a:p>
            <a:r>
              <a:rPr lang="en-US" sz="900" b="1">
                <a:solidFill>
                  <a:srgbClr val="2563EB"/>
                </a:solidFill>
                <a:latin typeface="Calibri" panose="020F0502020204030204" pitchFamily="34" charset="0"/>
              </a:rPr>
              <a:t>[1] NIST FIPS 204 (August 2024)</a:t>
            </a:r>
          </a:p>
          <a:p>
            <a:r>
              <a:rPr lang="en-US" sz="900">
                <a:solidFill>
                  <a:srgbClr val="1F2937"/>
                </a:solidFill>
                <a:latin typeface="Calibri" panose="020F0502020204030204" pitchFamily="34" charset="0"/>
              </a:rPr>
              <a:t>National Institute of Standards and Technology (NIST), "Module-Lattice-Based Digital Signature Standard (ML-DSA)", Federal Information Processing Standards Publication (FIPS) 204, U.S. Department of Commerce. https://doi.org/10.6028/NIST.FIPS.204</a:t>
            </a:r>
            <a:endParaRPr lang="en-IN" sz="900">
              <a:solidFill>
                <a:srgbClr val="1F2937"/>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09996A96-06B9-F1AD-35F9-50A5F3657980}"/>
              </a:ext>
            </a:extLst>
          </p:cNvPr>
          <p:cNvSpPr/>
          <p:nvPr/>
        </p:nvSpPr>
        <p:spPr>
          <a:xfrm>
            <a:off x="762000" y="2489200"/>
            <a:ext cx="5080000" cy="7874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4347E2C9-3AE9-6A91-D803-16DA8E636A05}"/>
              </a:ext>
            </a:extLst>
          </p:cNvPr>
          <p:cNvSpPr txBox="1"/>
          <p:nvPr/>
        </p:nvSpPr>
        <p:spPr>
          <a:xfrm>
            <a:off x="863600" y="2514600"/>
            <a:ext cx="4876800" cy="553998"/>
          </a:xfrm>
          <a:prstGeom prst="rect">
            <a:avLst/>
          </a:prstGeom>
          <a:noFill/>
        </p:spPr>
        <p:txBody>
          <a:bodyPr vert="horz" wrap="square" lIns="0" tIns="0" rIns="0" bIns="0" rtlCol="0">
            <a:spAutoFit/>
          </a:bodyPr>
          <a:lstStyle/>
          <a:p>
            <a:r>
              <a:rPr lang="en-US" sz="900" b="1">
                <a:solidFill>
                  <a:srgbClr val="2563EB"/>
                </a:solidFill>
                <a:latin typeface="Calibri" panose="020F0502020204030204" pitchFamily="34" charset="0"/>
              </a:rPr>
              <a:t>[2] NIST FIPS 205 (August 2024)</a:t>
            </a:r>
          </a:p>
          <a:p>
            <a:r>
              <a:rPr lang="en-US" sz="900">
                <a:solidFill>
                  <a:srgbClr val="1F2937"/>
                </a:solidFill>
                <a:latin typeface="Calibri" panose="020F0502020204030204" pitchFamily="34" charset="0"/>
              </a:rPr>
              <a:t>National Institute of Standards and Technology (NIST), "Stateless Hash-Based Digital Signature Standard (SLH-DSA / SPHINCS+)", Federal Information Processing Standards Publication (FIPS) 205, U.S. Department of Commerce. https://doi.org/10.6028/NIST.FIPS.205</a:t>
            </a:r>
            <a:endParaRPr lang="en-IN" sz="900">
              <a:solidFill>
                <a:srgbClr val="1F2937"/>
              </a:solidFill>
              <a:latin typeface="Calibri" panose="020F0502020204030204" pitchFamily="34" charset="0"/>
            </a:endParaRPr>
          </a:p>
        </p:txBody>
      </p:sp>
      <p:sp>
        <p:nvSpPr>
          <p:cNvPr id="15" name="Rectangle: Rounded Corners 14">
            <a:extLst>
              <a:ext uri="{FF2B5EF4-FFF2-40B4-BE49-F238E27FC236}">
                <a16:creationId xmlns:a16="http://schemas.microsoft.com/office/drawing/2014/main" id="{56EFBC73-B359-10D2-7C47-82E0C2943008}"/>
              </a:ext>
            </a:extLst>
          </p:cNvPr>
          <p:cNvSpPr/>
          <p:nvPr/>
        </p:nvSpPr>
        <p:spPr>
          <a:xfrm>
            <a:off x="762000" y="3352800"/>
            <a:ext cx="5080000" cy="7874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43DE3EC8-544B-4833-6D9E-4CEC29F2AB1C}"/>
              </a:ext>
            </a:extLst>
          </p:cNvPr>
          <p:cNvSpPr txBox="1"/>
          <p:nvPr/>
        </p:nvSpPr>
        <p:spPr>
          <a:xfrm>
            <a:off x="863600" y="3378200"/>
            <a:ext cx="4876800" cy="415498"/>
          </a:xfrm>
          <a:prstGeom prst="rect">
            <a:avLst/>
          </a:prstGeom>
          <a:noFill/>
        </p:spPr>
        <p:txBody>
          <a:bodyPr vert="horz" wrap="square" lIns="0" tIns="0" rIns="0" bIns="0" rtlCol="0">
            <a:spAutoFit/>
          </a:bodyPr>
          <a:lstStyle/>
          <a:p>
            <a:r>
              <a:rPr lang="en-IN" sz="900" b="1">
                <a:solidFill>
                  <a:srgbClr val="2563EB"/>
                </a:solidFill>
                <a:latin typeface="Calibri" panose="020F0502020204030204" pitchFamily="34" charset="0"/>
              </a:rPr>
              <a:t>[3] IETF RFC 8554 (April 2019)</a:t>
            </a:r>
          </a:p>
          <a:p>
            <a:r>
              <a:rPr lang="en-IN" sz="900">
                <a:solidFill>
                  <a:srgbClr val="1F2937"/>
                </a:solidFill>
                <a:latin typeface="Calibri" panose="020F0502020204030204" pitchFamily="34" charset="0"/>
              </a:rPr>
              <a:t>D. McGrew, M. Curcio, and S. Fluhrer, "Leighton-Micali Hash-Based Signatures (LMS)", Internet Engineering Task Force (IETF) Request for Comments (RFC) 8554. https://doi.org/10.17487/RFC8554</a:t>
            </a:r>
          </a:p>
        </p:txBody>
      </p:sp>
      <p:sp>
        <p:nvSpPr>
          <p:cNvPr id="17" name="Rectangle: Rounded Corners 16">
            <a:extLst>
              <a:ext uri="{FF2B5EF4-FFF2-40B4-BE49-F238E27FC236}">
                <a16:creationId xmlns:a16="http://schemas.microsoft.com/office/drawing/2014/main" id="{69579673-9549-496E-92FB-7406ECD32875}"/>
              </a:ext>
            </a:extLst>
          </p:cNvPr>
          <p:cNvSpPr/>
          <p:nvPr/>
        </p:nvSpPr>
        <p:spPr>
          <a:xfrm>
            <a:off x="762000" y="4216400"/>
            <a:ext cx="5080000" cy="7874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066F051A-3E10-9E57-CFEC-6904B4094186}"/>
              </a:ext>
            </a:extLst>
          </p:cNvPr>
          <p:cNvSpPr txBox="1"/>
          <p:nvPr/>
        </p:nvSpPr>
        <p:spPr>
          <a:xfrm>
            <a:off x="863600" y="4241800"/>
            <a:ext cx="4876800" cy="415498"/>
          </a:xfrm>
          <a:prstGeom prst="rect">
            <a:avLst/>
          </a:prstGeom>
          <a:noFill/>
        </p:spPr>
        <p:txBody>
          <a:bodyPr vert="horz" wrap="square" lIns="0" tIns="0" rIns="0" bIns="0" rtlCol="0">
            <a:spAutoFit/>
          </a:bodyPr>
          <a:lstStyle/>
          <a:p>
            <a:r>
              <a:rPr lang="en-IN" sz="900" b="1">
                <a:solidFill>
                  <a:srgbClr val="2563EB"/>
                </a:solidFill>
                <a:latin typeface="Calibri" panose="020F0502020204030204" pitchFamily="34" charset="0"/>
              </a:rPr>
              <a:t>[4] IETF RFC 8708 (February 2020)</a:t>
            </a:r>
          </a:p>
          <a:p>
            <a:r>
              <a:rPr lang="en-IN" sz="900">
                <a:solidFill>
                  <a:srgbClr val="1F2937"/>
                </a:solidFill>
                <a:latin typeface="Calibri" panose="020F0502020204030204" pitchFamily="34" charset="0"/>
              </a:rPr>
              <a:t>R. Housley, "Use of the Leighton-Micali Signature (LMS) Algorithm in CMS", Internet Engineering Task Force (IETF) Request for Comments (RFC) 8708. https://doi.org/10.17487/RFC8708</a:t>
            </a:r>
          </a:p>
        </p:txBody>
      </p:sp>
      <p:sp>
        <p:nvSpPr>
          <p:cNvPr id="19" name="Rectangle: Rounded Corners 18">
            <a:extLst>
              <a:ext uri="{FF2B5EF4-FFF2-40B4-BE49-F238E27FC236}">
                <a16:creationId xmlns:a16="http://schemas.microsoft.com/office/drawing/2014/main" id="{05522FF8-C8E8-2C8C-19E3-023405FE3D9F}"/>
              </a:ext>
            </a:extLst>
          </p:cNvPr>
          <p:cNvSpPr/>
          <p:nvPr/>
        </p:nvSpPr>
        <p:spPr>
          <a:xfrm>
            <a:off x="762000" y="5080000"/>
            <a:ext cx="5080000" cy="7874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30D0F095-48CA-0DD8-FDE8-B80F0C3CB652}"/>
              </a:ext>
            </a:extLst>
          </p:cNvPr>
          <p:cNvSpPr txBox="1"/>
          <p:nvPr/>
        </p:nvSpPr>
        <p:spPr>
          <a:xfrm>
            <a:off x="863600" y="5105400"/>
            <a:ext cx="4876800" cy="553998"/>
          </a:xfrm>
          <a:prstGeom prst="rect">
            <a:avLst/>
          </a:prstGeom>
          <a:noFill/>
        </p:spPr>
        <p:txBody>
          <a:bodyPr vert="horz" wrap="square" lIns="0" tIns="0" rIns="0" bIns="0" rtlCol="0">
            <a:spAutoFit/>
          </a:bodyPr>
          <a:lstStyle/>
          <a:p>
            <a:r>
              <a:rPr lang="en-IN" sz="900" b="1">
                <a:solidFill>
                  <a:srgbClr val="2563EB"/>
                </a:solidFill>
                <a:latin typeface="Calibri" panose="020F0502020204030204" pitchFamily="34" charset="0"/>
              </a:rPr>
              <a:t>[5] IEEE FOCS 1994 (Foundational)</a:t>
            </a:r>
          </a:p>
          <a:p>
            <a:r>
              <a:rPr lang="en-IN" sz="900">
                <a:solidFill>
                  <a:srgbClr val="1F2937"/>
                </a:solidFill>
                <a:latin typeface="Calibri" panose="020F0502020204030204" pitchFamily="34" charset="0"/>
              </a:rPr>
              <a:t>Peter W. Shor, "Algorithms for Quantum Computation: Discrete Logarithms and Factoring", Proc. 35th Annual IEEE Symposium on Foundations of Computer Science, pp. 124-134. https://doi.org/10.1109/SFCS.1994.365700</a:t>
            </a:r>
          </a:p>
        </p:txBody>
      </p:sp>
      <p:sp>
        <p:nvSpPr>
          <p:cNvPr id="21" name="Rectangle 20">
            <a:extLst>
              <a:ext uri="{FF2B5EF4-FFF2-40B4-BE49-F238E27FC236}">
                <a16:creationId xmlns:a16="http://schemas.microsoft.com/office/drawing/2014/main" id="{3C782149-6C43-AB34-2A5B-A23A174C6CD7}"/>
              </a:ext>
            </a:extLst>
          </p:cNvPr>
          <p:cNvSpPr/>
          <p:nvPr/>
        </p:nvSpPr>
        <p:spPr>
          <a:xfrm>
            <a:off x="6223000" y="1168400"/>
            <a:ext cx="5334000" cy="5143500"/>
          </a:xfrm>
          <a:prstGeom prst="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619EB77D-E02A-4C27-5C32-1546E987AE5B}"/>
              </a:ext>
            </a:extLst>
          </p:cNvPr>
          <p:cNvSpPr/>
          <p:nvPr/>
        </p:nvSpPr>
        <p:spPr>
          <a:xfrm>
            <a:off x="6223000" y="1168400"/>
            <a:ext cx="5334000" cy="381000"/>
          </a:xfrm>
          <a:prstGeom prst="rect">
            <a:avLst/>
          </a:prstGeom>
          <a:solidFill>
            <a:srgbClr val="0F29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259F0814-FE48-AAE4-19BE-EFAE0251A489}"/>
              </a:ext>
            </a:extLst>
          </p:cNvPr>
          <p:cNvSpPr txBox="1"/>
          <p:nvPr/>
        </p:nvSpPr>
        <p:spPr>
          <a:xfrm>
            <a:off x="6413500" y="1231900"/>
            <a:ext cx="4953000" cy="200055"/>
          </a:xfrm>
          <a:prstGeom prst="rect">
            <a:avLst/>
          </a:prstGeom>
          <a:noFill/>
        </p:spPr>
        <p:txBody>
          <a:bodyPr vert="horz" lIns="0" tIns="0" rtlCol="0">
            <a:spAutoFit/>
          </a:bodyPr>
          <a:lstStyle/>
          <a:p>
            <a:r>
              <a:rPr lang="en-IN" sz="1000" b="1">
                <a:solidFill>
                  <a:srgbClr val="93C5FD"/>
                </a:solidFill>
                <a:latin typeface="Calibri" panose="020F0502020204030204" pitchFamily="34" charset="0"/>
              </a:rPr>
              <a:t>POST-QUANTUM SCHEMES &amp; BOOTLOADER SPECS</a:t>
            </a:r>
          </a:p>
        </p:txBody>
      </p:sp>
      <p:sp>
        <p:nvSpPr>
          <p:cNvPr id="24" name="Rectangle: Rounded Corners 23">
            <a:extLst>
              <a:ext uri="{FF2B5EF4-FFF2-40B4-BE49-F238E27FC236}">
                <a16:creationId xmlns:a16="http://schemas.microsoft.com/office/drawing/2014/main" id="{42010FBE-E83A-07F4-DF06-8109B86A0707}"/>
              </a:ext>
            </a:extLst>
          </p:cNvPr>
          <p:cNvSpPr/>
          <p:nvPr/>
        </p:nvSpPr>
        <p:spPr>
          <a:xfrm>
            <a:off x="6350000" y="1625600"/>
            <a:ext cx="5080000" cy="9906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45058DAB-05AD-85DF-9D28-FBDE04D14331}"/>
              </a:ext>
            </a:extLst>
          </p:cNvPr>
          <p:cNvSpPr txBox="1"/>
          <p:nvPr/>
        </p:nvSpPr>
        <p:spPr>
          <a:xfrm>
            <a:off x="6451600" y="1663700"/>
            <a:ext cx="4876800" cy="553998"/>
          </a:xfrm>
          <a:prstGeom prst="rect">
            <a:avLst/>
          </a:prstGeom>
          <a:noFill/>
        </p:spPr>
        <p:txBody>
          <a:bodyPr vert="horz" wrap="square" lIns="0" tIns="0" rIns="0" bIns="0" rtlCol="0">
            <a:spAutoFit/>
          </a:bodyPr>
          <a:lstStyle/>
          <a:p>
            <a:r>
              <a:rPr lang="en-IN" sz="900" b="1">
                <a:solidFill>
                  <a:srgbClr val="2563EB"/>
                </a:solidFill>
                <a:latin typeface="Calibri" panose="020F0502020204030204" pitchFamily="34" charset="0"/>
              </a:rPr>
              <a:t>[6] NIST PQC Submission (2019)</a:t>
            </a:r>
          </a:p>
          <a:p>
            <a:r>
              <a:rPr lang="en-IN" sz="900">
                <a:solidFill>
                  <a:srgbClr val="1F2937"/>
                </a:solidFill>
                <a:latin typeface="Calibri" panose="020F0502020204030204" pitchFamily="34" charset="0"/>
              </a:rPr>
              <a:t>D. J. Bernstein, A. Huelsing, S. Koelbl, R. Niederhagen, A. Rijneveld, P. Schwabe, "SPHINCS+: Stateless Hash-Based Signatures Specification (ed. 2.1)", NIST Post-Quantum Cryptography Standardization Process. https://sphincs.org</a:t>
            </a:r>
          </a:p>
        </p:txBody>
      </p:sp>
      <p:sp>
        <p:nvSpPr>
          <p:cNvPr id="26" name="Rectangle: Rounded Corners 25">
            <a:extLst>
              <a:ext uri="{FF2B5EF4-FFF2-40B4-BE49-F238E27FC236}">
                <a16:creationId xmlns:a16="http://schemas.microsoft.com/office/drawing/2014/main" id="{AC214124-B5F7-9CB9-0683-A1AC28CB156F}"/>
              </a:ext>
            </a:extLst>
          </p:cNvPr>
          <p:cNvSpPr/>
          <p:nvPr/>
        </p:nvSpPr>
        <p:spPr>
          <a:xfrm>
            <a:off x="6350000" y="2705100"/>
            <a:ext cx="5080000" cy="9906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ADC308A7-1D2A-A669-57AC-65B79A90AC9E}"/>
              </a:ext>
            </a:extLst>
          </p:cNvPr>
          <p:cNvSpPr txBox="1"/>
          <p:nvPr/>
        </p:nvSpPr>
        <p:spPr>
          <a:xfrm>
            <a:off x="6451600" y="2743200"/>
            <a:ext cx="4876800" cy="553998"/>
          </a:xfrm>
          <a:prstGeom prst="rect">
            <a:avLst/>
          </a:prstGeom>
          <a:noFill/>
        </p:spPr>
        <p:txBody>
          <a:bodyPr vert="horz" wrap="square" lIns="0" tIns="0" rIns="0" bIns="0" rtlCol="0">
            <a:spAutoFit/>
          </a:bodyPr>
          <a:lstStyle/>
          <a:p>
            <a:r>
              <a:rPr lang="en-IN" sz="900" b="1">
                <a:solidFill>
                  <a:srgbClr val="2563EB"/>
                </a:solidFill>
                <a:latin typeface="Calibri" panose="020F0502020204030204" pitchFamily="34" charset="0"/>
              </a:rPr>
              <a:t>[7] UEFI Specification 2.10 (2024)</a:t>
            </a:r>
          </a:p>
          <a:p>
            <a:r>
              <a:rPr lang="en-IN" sz="900">
                <a:solidFill>
                  <a:srgbClr val="1F2937"/>
                </a:solidFill>
                <a:latin typeface="Calibri" panose="020F0502020204030204" pitchFamily="34" charset="0"/>
              </a:rPr>
              <a:t>Unified Extensible Firmware Interface (UEFI) Forum, "Unified Extensible Firmware Interface Specification, Version 2.10", Section 32: Secure Boot, Authentication Variables &amp; PE/COFF Signature Verification. https://uefi.org</a:t>
            </a:r>
          </a:p>
        </p:txBody>
      </p:sp>
      <p:sp>
        <p:nvSpPr>
          <p:cNvPr id="28" name="Rectangle: Rounded Corners 27">
            <a:extLst>
              <a:ext uri="{FF2B5EF4-FFF2-40B4-BE49-F238E27FC236}">
                <a16:creationId xmlns:a16="http://schemas.microsoft.com/office/drawing/2014/main" id="{8BD5173A-3E7D-D1A2-1F82-BE3E0FA2D7BB}"/>
              </a:ext>
            </a:extLst>
          </p:cNvPr>
          <p:cNvSpPr/>
          <p:nvPr/>
        </p:nvSpPr>
        <p:spPr>
          <a:xfrm>
            <a:off x="6350000" y="3784600"/>
            <a:ext cx="5080000" cy="9906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FB06D8DB-53C0-E5F9-B8E5-51435EDACB82}"/>
              </a:ext>
            </a:extLst>
          </p:cNvPr>
          <p:cNvSpPr txBox="1"/>
          <p:nvPr/>
        </p:nvSpPr>
        <p:spPr>
          <a:xfrm>
            <a:off x="6451600" y="3822700"/>
            <a:ext cx="4876800" cy="553998"/>
          </a:xfrm>
          <a:prstGeom prst="rect">
            <a:avLst/>
          </a:prstGeom>
          <a:noFill/>
        </p:spPr>
        <p:txBody>
          <a:bodyPr vert="horz" wrap="square" lIns="0" tIns="0" rIns="0" bIns="0" rtlCol="0">
            <a:spAutoFit/>
          </a:bodyPr>
          <a:lstStyle/>
          <a:p>
            <a:r>
              <a:rPr lang="en-IN" sz="900" b="1">
                <a:solidFill>
                  <a:srgbClr val="2563EB"/>
                </a:solidFill>
                <a:latin typeface="Calibri" panose="020F0502020204030204" pitchFamily="34" charset="0"/>
              </a:rPr>
              <a:t>[8] MCUboot Specification (2024)</a:t>
            </a:r>
          </a:p>
          <a:p>
            <a:r>
              <a:rPr lang="en-IN" sz="900">
                <a:solidFill>
                  <a:srgbClr val="1F2937"/>
                </a:solidFill>
                <a:latin typeface="Calibri" panose="020F0502020204030204" pitchFamily="34" charset="0"/>
              </a:rPr>
              <a:t>MCUboot Project Contributors, "MCUboot: Secure Bootloader for 32-bit Microcontrollers", Open Source Firmware Specification, Trailer TLV Format &amp; Image Signing Architecture. https://github.com/mcu-tools/mcuboot</a:t>
            </a:r>
          </a:p>
        </p:txBody>
      </p:sp>
      <p:sp>
        <p:nvSpPr>
          <p:cNvPr id="30" name="Rectangle: Rounded Corners 29">
            <a:extLst>
              <a:ext uri="{FF2B5EF4-FFF2-40B4-BE49-F238E27FC236}">
                <a16:creationId xmlns:a16="http://schemas.microsoft.com/office/drawing/2014/main" id="{35090460-300B-798E-BF74-FF015A958464}"/>
              </a:ext>
            </a:extLst>
          </p:cNvPr>
          <p:cNvSpPr/>
          <p:nvPr/>
        </p:nvSpPr>
        <p:spPr>
          <a:xfrm>
            <a:off x="6350000" y="4864100"/>
            <a:ext cx="5080000" cy="990600"/>
          </a:xfrm>
          <a:prstGeom prst="round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DA8F6A25-40D0-7F77-1186-6C58774866FA}"/>
              </a:ext>
            </a:extLst>
          </p:cNvPr>
          <p:cNvSpPr txBox="1"/>
          <p:nvPr/>
        </p:nvSpPr>
        <p:spPr>
          <a:xfrm>
            <a:off x="6451600" y="4902200"/>
            <a:ext cx="4876800" cy="553998"/>
          </a:xfrm>
          <a:prstGeom prst="rect">
            <a:avLst/>
          </a:prstGeom>
          <a:noFill/>
        </p:spPr>
        <p:txBody>
          <a:bodyPr vert="horz" wrap="square" lIns="0" tIns="0" rIns="0" bIns="0" rtlCol="0">
            <a:spAutoFit/>
          </a:bodyPr>
          <a:lstStyle/>
          <a:p>
            <a:r>
              <a:rPr lang="en-IN" sz="900" b="1">
                <a:solidFill>
                  <a:srgbClr val="2563EB"/>
                </a:solidFill>
                <a:latin typeface="Calibri" panose="020F0502020204030204" pitchFamily="34" charset="0"/>
              </a:rPr>
              <a:t>[9] Das U-Boot Architecture (2024)</a:t>
            </a:r>
          </a:p>
          <a:p>
            <a:r>
              <a:rPr lang="en-IN" sz="900">
                <a:solidFill>
                  <a:srgbClr val="1F2937"/>
                </a:solidFill>
                <a:latin typeface="Calibri" panose="020F0502020204030204" pitchFamily="34" charset="0"/>
              </a:rPr>
              <a:t>DENX Software Engineering, "The Universal Boot Loader: Flattened Image Tree (FIT) Architecture", FIT Container Image Cryptographic Verification Architecture &amp; Device Tree Signature Nodes. https://source.denx.de/u-boot/u-boot</a:t>
            </a:r>
          </a:p>
        </p:txBody>
      </p:sp>
    </p:spTree>
    <p:extLst>
      <p:ext uri="{BB962C8B-B14F-4D97-AF65-F5344CB8AC3E}">
        <p14:creationId xmlns:p14="http://schemas.microsoft.com/office/powerpoint/2010/main" val="1738484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5C5215E-6E13-E4FF-28A2-BAD46F196CE8}"/>
              </a:ext>
            </a:extLst>
          </p:cNvPr>
          <p:cNvSpPr/>
          <p:nvPr/>
        </p:nvSpPr>
        <p:spPr>
          <a:xfrm>
            <a:off x="3556000" y="508000"/>
            <a:ext cx="5080000" cy="304800"/>
          </a:xfrm>
          <a:prstGeom prst="roundRect">
            <a:avLst/>
          </a:prstGeom>
          <a:solidFill>
            <a:srgbClr val="EFF6FF"/>
          </a:solidFill>
          <a:ln w="12700">
            <a:solidFill>
              <a:srgbClr val="93C5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51F182A-8985-B3B6-8C95-F6505F9F9DAE}"/>
              </a:ext>
            </a:extLst>
          </p:cNvPr>
          <p:cNvSpPr txBox="1"/>
          <p:nvPr/>
        </p:nvSpPr>
        <p:spPr>
          <a:xfrm>
            <a:off x="3556000" y="533400"/>
            <a:ext cx="5080000" cy="200055"/>
          </a:xfrm>
          <a:prstGeom prst="rect">
            <a:avLst/>
          </a:prstGeom>
          <a:noFill/>
        </p:spPr>
        <p:txBody>
          <a:bodyPr vert="horz" lIns="0" tIns="0" rtlCol="0">
            <a:spAutoFit/>
          </a:bodyPr>
          <a:lstStyle/>
          <a:p>
            <a:pPr algn="ctr"/>
            <a:r>
              <a:rPr lang="en-IN" sz="1000" b="1">
                <a:solidFill>
                  <a:srgbClr val="2563EB"/>
                </a:solidFill>
                <a:latin typeface="Calibri" panose="020F0502020204030204" pitchFamily="34" charset="0"/>
              </a:rPr>
              <a:t>ESZG628T: DISSERTATION OUTLINE DEFENSE</a:t>
            </a:r>
          </a:p>
        </p:txBody>
      </p:sp>
      <p:sp>
        <p:nvSpPr>
          <p:cNvPr id="4" name="TextBox 3">
            <a:extLst>
              <a:ext uri="{FF2B5EF4-FFF2-40B4-BE49-F238E27FC236}">
                <a16:creationId xmlns:a16="http://schemas.microsoft.com/office/drawing/2014/main" id="{B33C71D8-FB87-EBBC-E651-3AE860EF0C91}"/>
              </a:ext>
            </a:extLst>
          </p:cNvPr>
          <p:cNvSpPr txBox="1"/>
          <p:nvPr/>
        </p:nvSpPr>
        <p:spPr>
          <a:xfrm>
            <a:off x="1270000" y="952500"/>
            <a:ext cx="9652000" cy="630942"/>
          </a:xfrm>
          <a:prstGeom prst="rect">
            <a:avLst/>
          </a:prstGeom>
          <a:noFill/>
        </p:spPr>
        <p:txBody>
          <a:bodyPr vert="horz" lIns="0" tIns="0" rtlCol="0">
            <a:spAutoFit/>
          </a:bodyPr>
          <a:lstStyle/>
          <a:p>
            <a:pPr algn="ctr"/>
            <a:r>
              <a:rPr lang="en-IN" sz="3800" b="1">
                <a:solidFill>
                  <a:srgbClr val="0F2942"/>
                </a:solidFill>
                <a:latin typeface="Calibri" panose="020F0502020204030204" pitchFamily="34" charset="0"/>
              </a:rPr>
              <a:t>Thank You</a:t>
            </a:r>
          </a:p>
        </p:txBody>
      </p:sp>
      <p:sp>
        <p:nvSpPr>
          <p:cNvPr id="5" name="TextBox 4">
            <a:extLst>
              <a:ext uri="{FF2B5EF4-FFF2-40B4-BE49-F238E27FC236}">
                <a16:creationId xmlns:a16="http://schemas.microsoft.com/office/drawing/2014/main" id="{5A751351-D5B3-F673-0CE3-9EBC013E76ED}"/>
              </a:ext>
            </a:extLst>
          </p:cNvPr>
          <p:cNvSpPr txBox="1"/>
          <p:nvPr/>
        </p:nvSpPr>
        <p:spPr>
          <a:xfrm>
            <a:off x="1270000" y="1651000"/>
            <a:ext cx="9652000" cy="353943"/>
          </a:xfrm>
          <a:prstGeom prst="rect">
            <a:avLst/>
          </a:prstGeom>
          <a:noFill/>
        </p:spPr>
        <p:txBody>
          <a:bodyPr vert="horz" lIns="0" tIns="0" rtlCol="0">
            <a:spAutoFit/>
          </a:bodyPr>
          <a:lstStyle/>
          <a:p>
            <a:pPr algn="ctr"/>
            <a:r>
              <a:rPr lang="en-IN" sz="2000" b="1">
                <a:solidFill>
                  <a:srgbClr val="2563EB"/>
                </a:solidFill>
                <a:latin typeface="Calibri" panose="020F0502020204030204" pitchFamily="34" charset="0"/>
              </a:rPr>
              <a:t>Questions &amp; Technical Discussion</a:t>
            </a:r>
          </a:p>
        </p:txBody>
      </p:sp>
      <p:sp>
        <p:nvSpPr>
          <p:cNvPr id="6" name="Rectangle: Rounded Corners 5">
            <a:extLst>
              <a:ext uri="{FF2B5EF4-FFF2-40B4-BE49-F238E27FC236}">
                <a16:creationId xmlns:a16="http://schemas.microsoft.com/office/drawing/2014/main" id="{CFD70EE0-E80B-3F11-98E8-DC9064E51EF5}"/>
              </a:ext>
            </a:extLst>
          </p:cNvPr>
          <p:cNvSpPr/>
          <p:nvPr/>
        </p:nvSpPr>
        <p:spPr>
          <a:xfrm>
            <a:off x="889000" y="2222500"/>
            <a:ext cx="10414000" cy="3238500"/>
          </a:xfrm>
          <a:prstGeom prst="roundRect">
            <a:avLst/>
          </a:prstGeom>
          <a:solidFill>
            <a:srgbClr val="FFFFFF"/>
          </a:solidFill>
          <a:ln w="15240">
            <a:solidFill>
              <a:srgbClr val="D1D9E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4219B7EB-EFDC-B5FB-DE8B-F3C78F6BC95D}"/>
              </a:ext>
            </a:extLst>
          </p:cNvPr>
          <p:cNvSpPr txBox="1"/>
          <p:nvPr/>
        </p:nvSpPr>
        <p:spPr>
          <a:xfrm>
            <a:off x="1143000" y="2387600"/>
            <a:ext cx="9906000" cy="246221"/>
          </a:xfrm>
          <a:prstGeom prst="rect">
            <a:avLst/>
          </a:prstGeom>
          <a:noFill/>
        </p:spPr>
        <p:txBody>
          <a:bodyPr vert="horz" wrap="square" lIns="0" tIns="0" rtlCol="0">
            <a:spAutoFit/>
          </a:bodyPr>
          <a:lstStyle/>
          <a:p>
            <a:pPr algn="ctr"/>
            <a:r>
              <a:rPr lang="en-US" sz="1300" b="1">
                <a:solidFill>
                  <a:srgbClr val="0F2942"/>
                </a:solidFill>
                <a:latin typeface="Calibri" panose="020F0502020204030204" pitchFamily="34" charset="0"/>
              </a:rPr>
              <a:t>POST-QUANTUM FIRMWARE AUTHENTICATION: DESIGN AND IMPLEMENTATION OF A QUANTUM-RESISTANT SECURE BOOT MECHANISM</a:t>
            </a:r>
            <a:endParaRPr lang="en-IN" sz="1300" b="1">
              <a:solidFill>
                <a:srgbClr val="0F2942"/>
              </a:solidFill>
              <a:latin typeface="Calibri" panose="020F0502020204030204" pitchFamily="34" charset="0"/>
            </a:endParaRPr>
          </a:p>
        </p:txBody>
      </p:sp>
      <p:cxnSp>
        <p:nvCxnSpPr>
          <p:cNvPr id="8" name="Straight Connector 7">
            <a:extLst>
              <a:ext uri="{FF2B5EF4-FFF2-40B4-BE49-F238E27FC236}">
                <a16:creationId xmlns:a16="http://schemas.microsoft.com/office/drawing/2014/main" id="{57D1E229-C43F-58EA-9A1C-DE5C68D34E28}"/>
              </a:ext>
            </a:extLst>
          </p:cNvPr>
          <p:cNvCxnSpPr/>
          <p:nvPr/>
        </p:nvCxnSpPr>
        <p:spPr>
          <a:xfrm>
            <a:off x="1270000" y="2997200"/>
            <a:ext cx="965200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097FCD5-CD5B-019C-8BE7-500C7EB8CE1C}"/>
              </a:ext>
            </a:extLst>
          </p:cNvPr>
          <p:cNvSpPr txBox="1"/>
          <p:nvPr/>
        </p:nvSpPr>
        <p:spPr>
          <a:xfrm>
            <a:off x="1206500" y="3124200"/>
            <a:ext cx="2984500" cy="1038746"/>
          </a:xfrm>
          <a:prstGeom prst="rect">
            <a:avLst/>
          </a:prstGeom>
          <a:noFill/>
        </p:spPr>
        <p:txBody>
          <a:bodyPr vert="horz" wrap="square" lIns="0" tIns="0" rtlCol="0">
            <a:spAutoFit/>
          </a:bodyPr>
          <a:lstStyle/>
          <a:p>
            <a:r>
              <a:rPr lang="en-IN" sz="1050" b="1">
                <a:solidFill>
                  <a:srgbClr val="2563EB"/>
                </a:solidFill>
                <a:latin typeface="Calibri" panose="020F0502020204030204" pitchFamily="34" charset="0"/>
              </a:rPr>
              <a:t>CANDIDATE</a:t>
            </a:r>
          </a:p>
          <a:p>
            <a:r>
              <a:rPr lang="en-IN" sz="1200" b="1">
                <a:solidFill>
                  <a:srgbClr val="0F2942"/>
                </a:solidFill>
                <a:latin typeface="Calibri" panose="020F0502020204030204" pitchFamily="34" charset="0"/>
              </a:rPr>
              <a:t>Kiruthik Prakash J</a:t>
            </a:r>
          </a:p>
          <a:p>
            <a:r>
              <a:rPr lang="en-IN" sz="1050">
                <a:solidFill>
                  <a:srgbClr val="1F2937"/>
                </a:solidFill>
                <a:latin typeface="Calibri" panose="020F0502020204030204" pitchFamily="34" charset="0"/>
              </a:rPr>
              <a:t>BITS ID: 2024HT01586</a:t>
            </a:r>
          </a:p>
          <a:p>
            <a:r>
              <a:rPr lang="en-IN" sz="1050">
                <a:solidFill>
                  <a:srgbClr val="1F2937"/>
                </a:solidFill>
                <a:latin typeface="Calibri" panose="020F0502020204030204" pitchFamily="34" charset="0"/>
              </a:rPr>
              <a:t>M.Tech in Embedded Systems</a:t>
            </a:r>
          </a:p>
          <a:p>
            <a:r>
              <a:rPr lang="en-IN" sz="1050">
                <a:solidFill>
                  <a:srgbClr val="1F2937"/>
                </a:solidFill>
                <a:latin typeface="Calibri" panose="020F0502020204030204" pitchFamily="34" charset="0"/>
              </a:rPr>
              <a:t>Qualcomm India Private Limited</a:t>
            </a:r>
          </a:p>
          <a:p>
            <a:r>
              <a:rPr lang="en-IN" sz="1050">
                <a:solidFill>
                  <a:srgbClr val="1F2937"/>
                </a:solidFill>
                <a:latin typeface="Calibri" panose="020F0502020204030204" pitchFamily="34" charset="0"/>
              </a:rPr>
              <a:t>2024h01586@wilp.bits-pilani.ac.in</a:t>
            </a:r>
          </a:p>
        </p:txBody>
      </p:sp>
      <p:sp>
        <p:nvSpPr>
          <p:cNvPr id="10" name="TextBox 9">
            <a:extLst>
              <a:ext uri="{FF2B5EF4-FFF2-40B4-BE49-F238E27FC236}">
                <a16:creationId xmlns:a16="http://schemas.microsoft.com/office/drawing/2014/main" id="{51E741A7-F939-A15C-7FF0-F774F8D4E978}"/>
              </a:ext>
            </a:extLst>
          </p:cNvPr>
          <p:cNvSpPr txBox="1"/>
          <p:nvPr/>
        </p:nvSpPr>
        <p:spPr>
          <a:xfrm>
            <a:off x="4597400" y="3124200"/>
            <a:ext cx="2984500" cy="1038746"/>
          </a:xfrm>
          <a:prstGeom prst="rect">
            <a:avLst/>
          </a:prstGeom>
          <a:noFill/>
        </p:spPr>
        <p:txBody>
          <a:bodyPr vert="horz" wrap="square" lIns="0" tIns="0" rtlCol="0">
            <a:spAutoFit/>
          </a:bodyPr>
          <a:lstStyle/>
          <a:p>
            <a:r>
              <a:rPr lang="en-IN" sz="1050" b="1">
                <a:solidFill>
                  <a:srgbClr val="2563EB"/>
                </a:solidFill>
                <a:latin typeface="Calibri" panose="020F0502020204030204" pitchFamily="34" charset="0"/>
              </a:rPr>
              <a:t>SUPERVISOR</a:t>
            </a:r>
          </a:p>
          <a:p>
            <a:r>
              <a:rPr lang="en-IN" sz="1200" b="1">
                <a:solidFill>
                  <a:srgbClr val="0F2942"/>
                </a:solidFill>
                <a:latin typeface="Calibri" panose="020F0502020204030204" pitchFamily="34" charset="0"/>
              </a:rPr>
              <a:t>Deepak Kumar</a:t>
            </a:r>
          </a:p>
          <a:p>
            <a:r>
              <a:rPr lang="en-IN" sz="1050">
                <a:solidFill>
                  <a:srgbClr val="1F2937"/>
                </a:solidFill>
                <a:latin typeface="Calibri" panose="020F0502020204030204" pitchFamily="34" charset="0"/>
              </a:rPr>
              <a:t>Senior Lead Software Engineer</a:t>
            </a:r>
          </a:p>
          <a:p>
            <a:r>
              <a:rPr lang="en-IN" sz="1050">
                <a:solidFill>
                  <a:srgbClr val="1F2937"/>
                </a:solidFill>
                <a:latin typeface="Calibri" panose="020F0502020204030204" pitchFamily="34" charset="0"/>
              </a:rPr>
              <a:t>Qualcomm India Private Limited</a:t>
            </a:r>
          </a:p>
          <a:p>
            <a:r>
              <a:rPr lang="en-IN" sz="1050">
                <a:solidFill>
                  <a:srgbClr val="1F2937"/>
                </a:solidFill>
                <a:latin typeface="Calibri" panose="020F0502020204030204" pitchFamily="34" charset="0"/>
              </a:rPr>
              <a:t>Hyderabad, Telangana</a:t>
            </a:r>
          </a:p>
          <a:p>
            <a:r>
              <a:rPr lang="en-IN" sz="1050">
                <a:solidFill>
                  <a:srgbClr val="1F2937"/>
                </a:solidFill>
                <a:latin typeface="Calibri" panose="020F0502020204030204" pitchFamily="34" charset="0"/>
              </a:rPr>
              <a:t>kudee@qti.qualcomm.com</a:t>
            </a:r>
          </a:p>
        </p:txBody>
      </p:sp>
      <p:sp>
        <p:nvSpPr>
          <p:cNvPr id="11" name="TextBox 10">
            <a:extLst>
              <a:ext uri="{FF2B5EF4-FFF2-40B4-BE49-F238E27FC236}">
                <a16:creationId xmlns:a16="http://schemas.microsoft.com/office/drawing/2014/main" id="{6C9F132D-5996-F891-F618-BA83B42AEEB8}"/>
              </a:ext>
            </a:extLst>
          </p:cNvPr>
          <p:cNvSpPr txBox="1"/>
          <p:nvPr/>
        </p:nvSpPr>
        <p:spPr>
          <a:xfrm>
            <a:off x="8001000" y="3124200"/>
            <a:ext cx="2984500" cy="1038746"/>
          </a:xfrm>
          <a:prstGeom prst="rect">
            <a:avLst/>
          </a:prstGeom>
          <a:noFill/>
        </p:spPr>
        <p:txBody>
          <a:bodyPr vert="horz" wrap="square" lIns="0" tIns="0" rtlCol="0">
            <a:spAutoFit/>
          </a:bodyPr>
          <a:lstStyle/>
          <a:p>
            <a:r>
              <a:rPr lang="en-US" sz="1050" b="1">
                <a:solidFill>
                  <a:srgbClr val="2563EB"/>
                </a:solidFill>
                <a:latin typeface="Calibri" panose="020F0502020204030204" pitchFamily="34" charset="0"/>
              </a:rPr>
              <a:t>ADDITIONAL EXAMINER</a:t>
            </a:r>
          </a:p>
          <a:p>
            <a:r>
              <a:rPr lang="en-US" sz="1200" b="1">
                <a:solidFill>
                  <a:srgbClr val="0F2942"/>
                </a:solidFill>
                <a:latin typeface="Calibri" panose="020F0502020204030204" pitchFamily="34" charset="0"/>
              </a:rPr>
              <a:t>Divyasree Chilukoti</a:t>
            </a:r>
          </a:p>
          <a:p>
            <a:r>
              <a:rPr lang="en-US" sz="1050">
                <a:solidFill>
                  <a:srgbClr val="1F2937"/>
                </a:solidFill>
                <a:latin typeface="Calibri" panose="020F0502020204030204" pitchFamily="34" charset="0"/>
              </a:rPr>
              <a:t>Senior Engineer</a:t>
            </a:r>
          </a:p>
          <a:p>
            <a:r>
              <a:rPr lang="en-US" sz="1050">
                <a:solidFill>
                  <a:srgbClr val="1F2937"/>
                </a:solidFill>
                <a:latin typeface="Calibri" panose="020F0502020204030204" pitchFamily="34" charset="0"/>
              </a:rPr>
              <a:t>Qualcomm India Private Limited</a:t>
            </a:r>
          </a:p>
          <a:p>
            <a:r>
              <a:rPr lang="en-US" sz="1050">
                <a:solidFill>
                  <a:srgbClr val="1F2937"/>
                </a:solidFill>
                <a:latin typeface="Calibri" panose="020F0502020204030204" pitchFamily="34" charset="0"/>
              </a:rPr>
              <a:t>Hyderabad, Telangana</a:t>
            </a:r>
          </a:p>
          <a:p>
            <a:r>
              <a:rPr lang="en-US" sz="1050">
                <a:solidFill>
                  <a:srgbClr val="1F2937"/>
                </a:solidFill>
                <a:latin typeface="Calibri" panose="020F0502020204030204" pitchFamily="34" charset="0"/>
              </a:rPr>
              <a:t>dchiluko@qti.qualcomm.com</a:t>
            </a:r>
            <a:endParaRPr lang="en-IN" sz="1050">
              <a:solidFill>
                <a:srgbClr val="1F2937"/>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B54621A1-8074-6B75-0D56-7033FE2E96F0}"/>
              </a:ext>
            </a:extLst>
          </p:cNvPr>
          <p:cNvSpPr/>
          <p:nvPr/>
        </p:nvSpPr>
        <p:spPr>
          <a:xfrm>
            <a:off x="889000" y="5651500"/>
            <a:ext cx="10414000" cy="609600"/>
          </a:xfrm>
          <a:prstGeom prst="roundRect">
            <a:avLst/>
          </a:prstGeom>
          <a:solidFill>
            <a:srgbClr val="F8FAFC"/>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E4693707-5DE8-D258-F9A9-898900BC2D01}"/>
              </a:ext>
            </a:extLst>
          </p:cNvPr>
          <p:cNvSpPr txBox="1"/>
          <p:nvPr/>
        </p:nvSpPr>
        <p:spPr>
          <a:xfrm>
            <a:off x="1016000" y="5715000"/>
            <a:ext cx="10160000" cy="369332"/>
          </a:xfrm>
          <a:prstGeom prst="rect">
            <a:avLst/>
          </a:prstGeom>
          <a:noFill/>
        </p:spPr>
        <p:txBody>
          <a:bodyPr vert="horz" lIns="0" tIns="0" rtlCol="0">
            <a:spAutoFit/>
          </a:bodyPr>
          <a:lstStyle/>
          <a:p>
            <a:pPr algn="ctr"/>
            <a:r>
              <a:rPr lang="en-IN" sz="1050" b="1">
                <a:solidFill>
                  <a:srgbClr val="334155"/>
                </a:solidFill>
                <a:latin typeface="Calibri" panose="020F0502020204030204" pitchFamily="34" charset="0"/>
              </a:rPr>
              <a:t>Birla Institute of Technology &amp; Science, Pilani  -  Work Integrated Learning Programmes (WILP) Division</a:t>
            </a:r>
          </a:p>
          <a:p>
            <a:pPr algn="ctr"/>
            <a:r>
              <a:rPr lang="en-IN" sz="1050" b="1">
                <a:solidFill>
                  <a:srgbClr val="334155"/>
                </a:solidFill>
                <a:latin typeface="Calibri" panose="020F0502020204030204" pitchFamily="34" charset="0"/>
              </a:rPr>
              <a:t>Second Semester 2025-2026  |  Pilani, Rajasthan - 333031  |  Open for Questions, Evaluation &amp; Discussion</a:t>
            </a:r>
          </a:p>
        </p:txBody>
      </p:sp>
      <p:sp>
        <p:nvSpPr>
          <p:cNvPr id="14" name="TextBox 13">
            <a:extLst>
              <a:ext uri="{FF2B5EF4-FFF2-40B4-BE49-F238E27FC236}">
                <a16:creationId xmlns:a16="http://schemas.microsoft.com/office/drawing/2014/main" id="{3A308EF1-E6EE-14D8-DDFF-4FA7C9694D60}"/>
              </a:ext>
            </a:extLst>
          </p:cNvPr>
          <p:cNvSpPr txBox="1"/>
          <p:nvPr/>
        </p:nvSpPr>
        <p:spPr>
          <a:xfrm>
            <a:off x="635000" y="6413500"/>
            <a:ext cx="10922000" cy="184666"/>
          </a:xfrm>
          <a:prstGeom prst="rect">
            <a:avLst/>
          </a:prstGeom>
          <a:noFill/>
        </p:spPr>
        <p:txBody>
          <a:bodyPr vert="horz" lIns="0" tIns="0" rtlCol="0">
            <a:spAutoFit/>
          </a:bodyPr>
          <a:lstStyle/>
          <a:p>
            <a:r>
              <a:rPr lang="en-IN" sz="900">
                <a:solidFill>
                  <a:srgbClr val="6B7280"/>
                </a:solidFill>
                <a:latin typeface="Calibri" panose="020F0502020204030204" pitchFamily="34" charset="0"/>
              </a:rPr>
              <a:t>BITS Pilani (WILP) | ESZG628T Dissertation Outline Defense | Kiruthik Prakash J (2024HT01586) | Qualcomm India</a:t>
            </a:r>
          </a:p>
        </p:txBody>
      </p:sp>
      <p:sp>
        <p:nvSpPr>
          <p:cNvPr id="15" name="TextBox 14">
            <a:extLst>
              <a:ext uri="{FF2B5EF4-FFF2-40B4-BE49-F238E27FC236}">
                <a16:creationId xmlns:a16="http://schemas.microsoft.com/office/drawing/2014/main" id="{3C7985D6-8266-31C4-1C3C-051375D656E5}"/>
              </a:ext>
            </a:extLst>
          </p:cNvPr>
          <p:cNvSpPr txBox="1"/>
          <p:nvPr/>
        </p:nvSpPr>
        <p:spPr>
          <a:xfrm>
            <a:off x="10668000" y="6413500"/>
            <a:ext cx="889000" cy="184666"/>
          </a:xfrm>
          <a:prstGeom prst="rect">
            <a:avLst/>
          </a:prstGeom>
          <a:noFill/>
        </p:spPr>
        <p:txBody>
          <a:bodyPr vert="horz" lIns="0" tIns="0" rtlCol="0">
            <a:spAutoFit/>
          </a:bodyPr>
          <a:lstStyle/>
          <a:p>
            <a:pPr algn="r"/>
            <a:r>
              <a:rPr lang="en-IN" sz="900" b="1">
                <a:solidFill>
                  <a:srgbClr val="2563EB"/>
                </a:solidFill>
                <a:latin typeface="Calibri" panose="020F0502020204030204" pitchFamily="34" charset="0"/>
              </a:rPr>
              <a:t>Slide 12 / 12</a:t>
            </a:r>
          </a:p>
        </p:txBody>
      </p:sp>
    </p:spTree>
    <p:extLst>
      <p:ext uri="{BB962C8B-B14F-4D97-AF65-F5344CB8AC3E}">
        <p14:creationId xmlns:p14="http://schemas.microsoft.com/office/powerpoint/2010/main" val="41411262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856</TotalTime>
  <Words>3582</Words>
  <Application>Microsoft Office PowerPoint</Application>
  <PresentationFormat>Widescreen</PresentationFormat>
  <Paragraphs>400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jpsasi73@gmail.com</dc:creator>
  <cp:lastModifiedBy>jpsasi73@gmail.com</cp:lastModifiedBy>
  <cp:revision>2</cp:revision>
  <dcterms:created xsi:type="dcterms:W3CDTF">2026-09-08T13:11:50Z</dcterms:created>
  <dcterms:modified xsi:type="dcterms:W3CDTF">2026-09-09T03:33:11Z</dcterms:modified>
</cp:coreProperties>
</file>